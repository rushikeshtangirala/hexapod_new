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914400" y="2148840"/>
            <a:ext cx="10332720" cy="1737360"/>
          </a:xfrm>
          <a:prstGeom prst="rect">
            <a:avLst/>
          </a:prstGeom>
          <a:noFill/>
        </p:spPr>
        <p:txBody>
          <a:bodyPr wrap="square" lIns="0" rIns="0" tIns="0" bIns="0" anchor="t">
            <a:spAutoFit/>
          </a:bodyPr>
          <a:lstStyle/>
          <a:p>
            <a:pPr algn="l">
              <a:spcAft>
                <a:spcPts val="400"/>
              </a:spcAft>
            </a:pPr>
            <a:r>
              <a:rPr sz="3300" b="1" i="0">
                <a:solidFill>
                  <a:srgbClr val="FFFFFF"/>
                </a:solidFill>
                <a:latin typeface="Cambria"/>
              </a:rPr>
              <a:t>Design and Simulation of an</a:t>
            </a:r>
          </a:p>
          <a:p>
            <a:pPr>
              <a:spcAft>
                <a:spcPts val="1600"/>
              </a:spcAft>
            </a:pPr>
            <a:r>
              <a:rPr sz="3300" b="1" i="0">
                <a:solidFill>
                  <a:srgbClr val="FFFFFF"/>
                </a:solidFill>
                <a:latin typeface="Cambria"/>
              </a:rPr>
              <a:t>18-DOF Walking Hexapod Robot</a:t>
            </a:r>
          </a:p>
          <a:p>
            <a:pPr>
              <a:spcAft>
                <a:spcPts val="0"/>
              </a:spcAft>
            </a:pPr>
            <a:r>
              <a:rPr sz="1700" b="0" i="0">
                <a:solidFill>
                  <a:srgbClr val="C9C9C9"/>
                </a:solidFill>
                <a:latin typeface="Calibri"/>
              </a:rPr>
              <a:t>First Review</a:t>
            </a:r>
          </a:p>
        </p:txBody>
      </p:sp>
      <p:sp>
        <p:nvSpPr>
          <p:cNvPr id="3" name="TextBox 2"/>
          <p:cNvSpPr txBox="1"/>
          <p:nvPr/>
        </p:nvSpPr>
        <p:spPr>
          <a:xfrm>
            <a:off x="914400" y="4892040"/>
            <a:ext cx="10332720" cy="1280160"/>
          </a:xfrm>
          <a:prstGeom prst="rect">
            <a:avLst/>
          </a:prstGeom>
          <a:noFill/>
        </p:spPr>
        <p:txBody>
          <a:bodyPr wrap="square" lIns="0" rIns="0" tIns="0" bIns="0" anchor="t">
            <a:spAutoFit/>
          </a:bodyPr>
          <a:lstStyle/>
          <a:p>
            <a:pPr algn="l">
              <a:spcAft>
                <a:spcPts val="400"/>
              </a:spcAft>
            </a:pPr>
            <a:r>
              <a:rPr sz="1300" b="0" i="0">
                <a:solidFill>
                  <a:srgbClr val="DDDDDD"/>
                </a:solidFill>
                <a:latin typeface="Calibri"/>
              </a:rPr>
              <a:t>[Student names and roll numbers]</a:t>
            </a:r>
          </a:p>
          <a:p>
            <a:pPr>
              <a:spcAft>
                <a:spcPts val="400"/>
              </a:spcAft>
            </a:pPr>
            <a:r>
              <a:rPr sz="1300" b="0" i="0">
                <a:solidFill>
                  <a:srgbClr val="DDDDDD"/>
                </a:solidFill>
                <a:latin typeface="Calibri"/>
              </a:rPr>
              <a:t>Guide: [Guide name]</a:t>
            </a:r>
          </a:p>
          <a:p>
            <a:pPr>
              <a:spcAft>
                <a:spcPts val="0"/>
              </a:spcAft>
            </a:pPr>
            <a:r>
              <a:rPr sz="1300" b="0" i="0">
                <a:solidFill>
                  <a:srgbClr val="AAAAAA"/>
                </a:solidFill>
                <a:latin typeface="Calibri"/>
              </a:rPr>
              <a:t>Department of Mechanical Engineering, [Institution]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Why a hexapod</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Six legs make stability a geometry problem, not a control problem</a:t>
            </a:r>
          </a:p>
        </p:txBody>
      </p:sp>
      <p:sp>
        <p:nvSpPr>
          <p:cNvPr id="4" name="TextBox 3"/>
          <p:cNvSpPr txBox="1"/>
          <p:nvPr/>
        </p:nvSpPr>
        <p:spPr>
          <a:xfrm>
            <a:off x="685800" y="1965960"/>
            <a:ext cx="6035040" cy="4206240"/>
          </a:xfrm>
          <a:prstGeom prst="rect">
            <a:avLst/>
          </a:prstGeom>
          <a:noFill/>
        </p:spPr>
        <p:txBody>
          <a:bodyPr wrap="square" lIns="0" rIns="0" tIns="0" bIns="0" anchor="t">
            <a:spAutoFit/>
          </a:bodyPr>
          <a:lstStyle/>
          <a:p>
            <a:pPr algn="l">
              <a:spcAft>
                <a:spcPts val="1100"/>
              </a:spcAft>
            </a:pPr>
            <a:r>
              <a:rPr sz="1500" b="0" i="0">
                <a:solidFill>
                  <a:srgbClr val="2B2B2B"/>
                </a:solidFill>
                <a:latin typeface="Calibri"/>
              </a:rPr>
              <a:t>•  Wheels need continuous ground. Legs only need discrete places to put a foot.</a:t>
            </a:r>
          </a:p>
          <a:p>
            <a:pPr>
              <a:spcAft>
                <a:spcPts val="1100"/>
              </a:spcAft>
            </a:pPr>
            <a:r>
              <a:rPr sz="1500" b="0" i="0">
                <a:solidFill>
                  <a:srgbClr val="2B2B2B"/>
                </a:solidFill>
                <a:latin typeface="Calibri"/>
              </a:rPr>
              <a:t>•  A robot is statically stable when its centre of mass projects inside the polygon of feet on the ground.</a:t>
            </a:r>
          </a:p>
          <a:p>
            <a:pPr>
              <a:spcAft>
                <a:spcPts val="1100"/>
              </a:spcAft>
            </a:pPr>
            <a:r>
              <a:rPr sz="1500" b="0" i="0">
                <a:solidFill>
                  <a:srgbClr val="2B2B2B"/>
                </a:solidFill>
                <a:latin typeface="Calibri"/>
              </a:rPr>
              <a:t>•  Three points form a polygon, so a six legged robot can lift three legs and stay stable.</a:t>
            </a:r>
          </a:p>
          <a:p>
            <a:pPr>
              <a:spcAft>
                <a:spcPts val="1100"/>
              </a:spcAft>
            </a:pPr>
            <a:r>
              <a:rPr sz="1500" b="0" i="0">
                <a:solidFill>
                  <a:srgbClr val="2B2B2B"/>
                </a:solidFill>
                <a:latin typeface="Calibri"/>
              </a:rPr>
              <a:t>•  That means stability can be checked geometrically instead of controlled continuously.</a:t>
            </a:r>
          </a:p>
          <a:p>
            <a:pPr>
              <a:spcAft>
                <a:spcPts val="1100"/>
              </a:spcAft>
            </a:pPr>
            <a:r>
              <a:rPr sz="1500" b="0" i="0">
                <a:solidFill>
                  <a:srgbClr val="2B2B2B"/>
                </a:solidFill>
                <a:latin typeface="Calibri"/>
              </a:rPr>
              <a:t>•  A biped has no such margin and must balance every instant.</a:t>
            </a:r>
          </a:p>
        </p:txBody>
      </p:sp>
      <p:sp>
        <p:nvSpPr>
          <p:cNvPr id="5" name="Rounded Rectangle 4"/>
          <p:cNvSpPr/>
          <p:nvPr/>
        </p:nvSpPr>
        <p:spPr>
          <a:xfrm>
            <a:off x="7223760" y="1965960"/>
            <a:ext cx="4251960" cy="32004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2331720"/>
            <a:ext cx="3520440" cy="2560320"/>
          </a:xfrm>
          <a:prstGeom prst="rect">
            <a:avLst/>
          </a:prstGeom>
          <a:noFill/>
        </p:spPr>
        <p:txBody>
          <a:bodyPr wrap="square" lIns="0" rIns="0" tIns="0" bIns="0" anchor="t">
            <a:spAutoFit/>
          </a:bodyPr>
          <a:lstStyle/>
          <a:p>
            <a:pPr algn="l">
              <a:spcAft>
                <a:spcPts val="1200"/>
              </a:spcAft>
            </a:pPr>
            <a:r>
              <a:rPr sz="1500" b="1" i="0">
                <a:solidFill>
                  <a:srgbClr val="C45A11"/>
                </a:solidFill>
                <a:latin typeface="Cambria"/>
              </a:rPr>
              <a:t>Consequence for this project</a:t>
            </a:r>
          </a:p>
          <a:p>
            <a:pPr>
              <a:spcAft>
                <a:spcPts val="1000"/>
              </a:spcAft>
            </a:pPr>
            <a:r>
              <a:rPr sz="1400" b="0" i="0">
                <a:solidFill>
                  <a:srgbClr val="2B2B2B"/>
                </a:solidFill>
                <a:latin typeface="Calibri"/>
              </a:rPr>
              <a:t>Static stability is an assertion we can write down and test offline, before any simulator is involved.</a:t>
            </a:r>
          </a:p>
          <a:p>
            <a:pPr>
              <a:spcAft>
                <a:spcPts val="0"/>
              </a:spcAft>
            </a:pPr>
            <a:r>
              <a:rPr sz="1400" b="0" i="0">
                <a:solidFill>
                  <a:srgbClr val="2B2B2B"/>
                </a:solidFill>
                <a:latin typeface="Calibri"/>
              </a:rPr>
              <a:t>That is the basis of the whole verification approach in this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Objectives for this phase</a:t>
            </a:r>
          </a:p>
        </p:txBody>
      </p:sp>
      <p:sp>
        <p:nvSpPr>
          <p:cNvPr id="3" name="Rounded Rectangle 2"/>
          <p:cNvSpPr/>
          <p:nvPr/>
        </p:nvSpPr>
        <p:spPr>
          <a:xfrm>
            <a:off x="685800" y="201168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 y="228600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1</a:t>
            </a:r>
          </a:p>
        </p:txBody>
      </p:sp>
      <p:sp>
        <p:nvSpPr>
          <p:cNvPr id="5" name="TextBox 4"/>
          <p:cNvSpPr txBox="1"/>
          <p:nvPr/>
        </p:nvSpPr>
        <p:spPr>
          <a:xfrm>
            <a:off x="1554480" y="221284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Accurate model</a:t>
            </a:r>
          </a:p>
          <a:p>
            <a:pPr>
              <a:spcAft>
                <a:spcPts val="0"/>
              </a:spcAft>
            </a:pPr>
            <a:r>
              <a:rPr sz="1200" b="0" i="0">
                <a:solidFill>
                  <a:srgbClr val="6E6E6E"/>
                </a:solidFill>
                <a:latin typeface="Calibri"/>
              </a:rPr>
              <a:t>CAD to ROS 2 with measured masses and real inertia tensors, not placeholders</a:t>
            </a:r>
          </a:p>
        </p:txBody>
      </p:sp>
      <p:sp>
        <p:nvSpPr>
          <p:cNvPr id="6" name="Rounded Rectangle 5"/>
          <p:cNvSpPr/>
          <p:nvPr/>
        </p:nvSpPr>
        <p:spPr>
          <a:xfrm>
            <a:off x="685800" y="342900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370332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2</a:t>
            </a:r>
          </a:p>
        </p:txBody>
      </p:sp>
      <p:sp>
        <p:nvSpPr>
          <p:cNvPr id="8" name="TextBox 7"/>
          <p:cNvSpPr txBox="1"/>
          <p:nvPr/>
        </p:nvSpPr>
        <p:spPr>
          <a:xfrm>
            <a:off x="1554480" y="363016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Inverse kinematics</a:t>
            </a:r>
          </a:p>
          <a:p>
            <a:pPr>
              <a:spcAft>
                <a:spcPts val="0"/>
              </a:spcAft>
            </a:pPr>
            <a:r>
              <a:rPr sz="1200" b="0" i="0">
                <a:solidFill>
                  <a:srgbClr val="6E6E6E"/>
                </a:solidFill>
                <a:latin typeface="Calibri"/>
              </a:rPr>
              <a:t>Closed form solution for a 3-DOF leg, verified numerically</a:t>
            </a:r>
          </a:p>
        </p:txBody>
      </p:sp>
      <p:sp>
        <p:nvSpPr>
          <p:cNvPr id="9" name="Rounded Rectangle 8"/>
          <p:cNvSpPr/>
          <p:nvPr/>
        </p:nvSpPr>
        <p:spPr>
          <a:xfrm>
            <a:off x="685800" y="484632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12064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3</a:t>
            </a:r>
          </a:p>
        </p:txBody>
      </p:sp>
      <p:sp>
        <p:nvSpPr>
          <p:cNvPr id="11" name="TextBox 10"/>
          <p:cNvSpPr txBox="1"/>
          <p:nvPr/>
        </p:nvSpPr>
        <p:spPr>
          <a:xfrm>
            <a:off x="1554480" y="504748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Walking gait</a:t>
            </a:r>
          </a:p>
          <a:p>
            <a:pPr>
              <a:spcAft>
                <a:spcPts val="0"/>
              </a:spcAft>
            </a:pPr>
            <a:r>
              <a:rPr sz="1200" b="0" i="0">
                <a:solidFill>
                  <a:srgbClr val="6E6E6E"/>
                </a:solidFill>
                <a:latin typeface="Calibri"/>
              </a:rPr>
              <a:t>Tripod gait from a commanded velocity, verified for stability and non-slip</a:t>
            </a:r>
          </a:p>
        </p:txBody>
      </p:sp>
      <p:sp>
        <p:nvSpPr>
          <p:cNvPr id="12" name="Rounded Rectangle 11"/>
          <p:cNvSpPr/>
          <p:nvPr/>
        </p:nvSpPr>
        <p:spPr>
          <a:xfrm>
            <a:off x="6446520" y="201168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2552" y="228600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4</a:t>
            </a:r>
          </a:p>
        </p:txBody>
      </p:sp>
      <p:sp>
        <p:nvSpPr>
          <p:cNvPr id="14" name="TextBox 13"/>
          <p:cNvSpPr txBox="1"/>
          <p:nvPr/>
        </p:nvSpPr>
        <p:spPr>
          <a:xfrm>
            <a:off x="7315200" y="221284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Control integration</a:t>
            </a:r>
          </a:p>
          <a:p>
            <a:pPr>
              <a:spcAft>
                <a:spcPts val="0"/>
              </a:spcAft>
            </a:pPr>
            <a:r>
              <a:rPr sz="1200" b="0" i="0">
                <a:solidFill>
                  <a:srgbClr val="6E6E6E"/>
                </a:solidFill>
                <a:latin typeface="Calibri"/>
              </a:rPr>
              <a:t>ros2_control, so the same interface works in simulation and on hardware</a:t>
            </a:r>
          </a:p>
        </p:txBody>
      </p:sp>
      <p:sp>
        <p:nvSpPr>
          <p:cNvPr id="15" name="Rounded Rectangle 14"/>
          <p:cNvSpPr/>
          <p:nvPr/>
        </p:nvSpPr>
        <p:spPr>
          <a:xfrm>
            <a:off x="6446520" y="342900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370332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5</a:t>
            </a:r>
          </a:p>
        </p:txBody>
      </p:sp>
      <p:sp>
        <p:nvSpPr>
          <p:cNvPr id="17" name="TextBox 16"/>
          <p:cNvSpPr txBox="1"/>
          <p:nvPr/>
        </p:nvSpPr>
        <p:spPr>
          <a:xfrm>
            <a:off x="7315200" y="363016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Demonstration</a:t>
            </a:r>
          </a:p>
          <a:p>
            <a:pPr>
              <a:spcAft>
                <a:spcPts val="0"/>
              </a:spcAft>
            </a:pPr>
            <a:r>
              <a:rPr sz="1200" b="0" i="0">
                <a:solidFill>
                  <a:srgbClr val="6E6E6E"/>
                </a:solidFill>
                <a:latin typeface="Calibri"/>
              </a:rPr>
              <a:t>Robot walking in simulation under operator control</a:t>
            </a:r>
          </a:p>
        </p:txBody>
      </p:sp>
      <p:sp>
        <p:nvSpPr>
          <p:cNvPr id="18" name="Rounded Rectangle 17"/>
          <p:cNvSpPr/>
          <p:nvPr/>
        </p:nvSpPr>
        <p:spPr>
          <a:xfrm>
            <a:off x="6446520" y="4846320"/>
            <a:ext cx="5349240" cy="11887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5120640"/>
            <a:ext cx="457200" cy="640080"/>
          </a:xfrm>
          <a:prstGeom prst="rect">
            <a:avLst/>
          </a:prstGeom>
          <a:noFill/>
        </p:spPr>
        <p:txBody>
          <a:bodyPr wrap="square" lIns="0" rIns="0" tIns="0" bIns="0" anchor="t">
            <a:spAutoFit/>
          </a:bodyPr>
          <a:lstStyle/>
          <a:p>
            <a:pPr algn="l">
              <a:spcAft>
                <a:spcPts val="0"/>
              </a:spcAft>
            </a:pPr>
            <a:r>
              <a:rPr sz="2600" b="1" i="0">
                <a:solidFill>
                  <a:srgbClr val="C45A11"/>
                </a:solidFill>
                <a:latin typeface="Cambria"/>
              </a:rPr>
              <a:t>6</a:t>
            </a:r>
          </a:p>
        </p:txBody>
      </p:sp>
      <p:sp>
        <p:nvSpPr>
          <p:cNvPr id="20" name="TextBox 19"/>
          <p:cNvSpPr txBox="1"/>
          <p:nvPr/>
        </p:nvSpPr>
        <p:spPr>
          <a:xfrm>
            <a:off x="7315200" y="5047488"/>
            <a:ext cx="4297680" cy="914400"/>
          </a:xfrm>
          <a:prstGeom prst="rect">
            <a:avLst/>
          </a:prstGeom>
          <a:noFill/>
        </p:spPr>
        <p:txBody>
          <a:bodyPr wrap="square" lIns="0" rIns="0" tIns="0" bIns="0" anchor="t">
            <a:spAutoFit/>
          </a:bodyPr>
          <a:lstStyle/>
          <a:p>
            <a:pPr algn="l">
              <a:spcAft>
                <a:spcPts val="300"/>
              </a:spcAft>
            </a:pPr>
            <a:r>
              <a:rPr sz="1500" b="1" i="0">
                <a:solidFill>
                  <a:srgbClr val="2B2B2B"/>
                </a:solidFill>
                <a:latin typeface="Calibri"/>
              </a:rPr>
              <a:t>Hardware ready</a:t>
            </a:r>
          </a:p>
          <a:p>
            <a:pPr>
              <a:spcAft>
                <a:spcPts val="0"/>
              </a:spcAft>
            </a:pPr>
            <a:r>
              <a:rPr sz="1200" b="0" i="0">
                <a:solidFill>
                  <a:srgbClr val="6E6E6E"/>
                </a:solidFill>
                <a:latin typeface="Calibri"/>
              </a:rPr>
              <a:t>Architecture where moving to servos is a configuration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The robot</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Six legs, three joints each, built from our own CAD</a:t>
            </a:r>
          </a:p>
        </p:txBody>
      </p:sp>
      <p:graphicFrame>
        <p:nvGraphicFramePr>
          <p:cNvPr id="4" name="Table 3"/>
          <p:cNvGraphicFramePr>
            <a:graphicFrameLocks noGrp="1"/>
          </p:cNvGraphicFramePr>
          <p:nvPr/>
        </p:nvGraphicFramePr>
        <p:xfrm>
          <a:off x="685800" y="2011680"/>
          <a:ext cx="6400800" cy="1920240"/>
        </p:xfrm>
        <a:graphic>
          <a:graphicData uri="http://schemas.openxmlformats.org/drawingml/2006/table">
            <a:tbl>
              <a:tblPr firstRow="1" bandRow="1">
                <a:tableStyleId>{5C22544A-7EE6-4342-B048-85BDC9FD1C3A}</a:tableStyleId>
              </a:tblPr>
              <a:tblGrid>
                <a:gridCol w="2377440"/>
                <a:gridCol w="2194560"/>
                <a:gridCol w="1828800"/>
              </a:tblGrid>
              <a:tr h="384048">
                <a:tc>
                  <a:txBody>
                    <a:bodyPr/>
                    <a:lstStyle/>
                    <a:p>
                      <a:r>
                        <a:rPr sz="1250" b="1">
                          <a:solidFill>
                            <a:srgbClr val="FFFFFF"/>
                          </a:solidFill>
                          <a:latin typeface="Calibri"/>
                        </a:rPr>
                        <a:t>Component</a:t>
                      </a:r>
                    </a:p>
                  </a:txBody>
                  <a:tcPr marL="91440" marR="91440" anchor="ctr">
                    <a:solidFill>
                      <a:srgbClr val="33383D"/>
                    </a:solidFill>
                  </a:tcPr>
                </a:tc>
                <a:tc>
                  <a:txBody>
                    <a:bodyPr/>
                    <a:lstStyle/>
                    <a:p>
                      <a:r>
                        <a:rPr sz="1250" b="1">
                          <a:solidFill>
                            <a:srgbClr val="FFFFFF"/>
                          </a:solidFill>
                          <a:latin typeface="Calibri"/>
                        </a:rPr>
                        <a:t>Length (mm)</a:t>
                      </a:r>
                    </a:p>
                  </a:txBody>
                  <a:tcPr marL="91440" marR="91440" anchor="ctr">
                    <a:solidFill>
                      <a:srgbClr val="33383D"/>
                    </a:solidFill>
                  </a:tcPr>
                </a:tc>
                <a:tc>
                  <a:txBody>
                    <a:bodyPr/>
                    <a:lstStyle/>
                    <a:p>
                      <a:r>
                        <a:rPr sz="1250" b="1">
                          <a:solidFill>
                            <a:srgbClr val="FFFFFF"/>
                          </a:solidFill>
                          <a:latin typeface="Calibri"/>
                        </a:rPr>
                        <a:t>Mass (kg)</a:t>
                      </a:r>
                    </a:p>
                  </a:txBody>
                  <a:tcPr marL="91440" marR="91440" anchor="ctr">
                    <a:solidFill>
                      <a:srgbClr val="33383D"/>
                    </a:solidFill>
                  </a:tcPr>
                </a:tc>
              </a:tr>
              <a:tr h="384048">
                <a:tc>
                  <a:txBody>
                    <a:bodyPr/>
                    <a:lstStyle/>
                    <a:p>
                      <a:r>
                        <a:rPr sz="1250" b="1">
                          <a:solidFill>
                            <a:srgbClr val="2B2B2B"/>
                          </a:solidFill>
                          <a:latin typeface="Calibri"/>
                        </a:rPr>
                        <a:t>Body</a:t>
                      </a:r>
                    </a:p>
                  </a:txBody>
                  <a:tcPr marL="91440" marR="91440" anchor="ctr">
                    <a:solidFill>
                      <a:srgbClr val="FFFFFF"/>
                    </a:solidFill>
                  </a:tcPr>
                </a:tc>
                <a:tc>
                  <a:txBody>
                    <a:bodyPr/>
                    <a:lstStyle/>
                    <a:p>
                      <a:r>
                        <a:rPr sz="1250" b="0">
                          <a:solidFill>
                            <a:srgbClr val="2B2B2B"/>
                          </a:solidFill>
                          <a:latin typeface="Calibri"/>
                        </a:rPr>
                        <a:t>312.7 x 283.3</a:t>
                      </a:r>
                    </a:p>
                  </a:txBody>
                  <a:tcPr marL="91440" marR="91440" anchor="ctr">
                    <a:solidFill>
                      <a:srgbClr val="FFFFFF"/>
                    </a:solidFill>
                  </a:tcPr>
                </a:tc>
                <a:tc>
                  <a:txBody>
                    <a:bodyPr/>
                    <a:lstStyle/>
                    <a:p>
                      <a:r>
                        <a:rPr sz="1250" b="0">
                          <a:solidFill>
                            <a:srgbClr val="2B2B2B"/>
                          </a:solidFill>
                          <a:latin typeface="Calibri"/>
                        </a:rPr>
                        <a:t>1.310</a:t>
                      </a:r>
                    </a:p>
                  </a:txBody>
                  <a:tcPr marL="91440" marR="91440" anchor="ctr">
                    <a:solidFill>
                      <a:srgbClr val="FFFFFF"/>
                    </a:solidFill>
                  </a:tcPr>
                </a:tc>
              </a:tr>
              <a:tr h="384048">
                <a:tc>
                  <a:txBody>
                    <a:bodyPr/>
                    <a:lstStyle/>
                    <a:p>
                      <a:r>
                        <a:rPr sz="1250" b="1">
                          <a:solidFill>
                            <a:srgbClr val="2B2B2B"/>
                          </a:solidFill>
                          <a:latin typeface="Calibri"/>
                        </a:rPr>
                        <a:t>Coxa</a:t>
                      </a:r>
                    </a:p>
                  </a:txBody>
                  <a:tcPr marL="91440" marR="91440" anchor="ctr">
                    <a:solidFill>
                      <a:srgbClr val="F2F2F2"/>
                    </a:solidFill>
                  </a:tcPr>
                </a:tc>
                <a:tc>
                  <a:txBody>
                    <a:bodyPr/>
                    <a:lstStyle/>
                    <a:p>
                      <a:r>
                        <a:rPr sz="1250" b="0">
                          <a:solidFill>
                            <a:srgbClr val="2B2B2B"/>
                          </a:solidFill>
                          <a:latin typeface="Calibri"/>
                        </a:rPr>
                        <a:t>150.0</a:t>
                      </a:r>
                    </a:p>
                  </a:txBody>
                  <a:tcPr marL="91440" marR="91440" anchor="ctr">
                    <a:solidFill>
                      <a:srgbClr val="F2F2F2"/>
                    </a:solidFill>
                  </a:tcPr>
                </a:tc>
                <a:tc>
                  <a:txBody>
                    <a:bodyPr/>
                    <a:lstStyle/>
                    <a:p>
                      <a:r>
                        <a:rPr sz="1250" b="0">
                          <a:solidFill>
                            <a:srgbClr val="2B2B2B"/>
                          </a:solidFill>
                          <a:latin typeface="Calibri"/>
                        </a:rPr>
                        <a:t>0.201</a:t>
                      </a:r>
                    </a:p>
                  </a:txBody>
                  <a:tcPr marL="91440" marR="91440" anchor="ctr">
                    <a:solidFill>
                      <a:srgbClr val="F2F2F2"/>
                    </a:solidFill>
                  </a:tcPr>
                </a:tc>
              </a:tr>
              <a:tr h="384048">
                <a:tc>
                  <a:txBody>
                    <a:bodyPr/>
                    <a:lstStyle/>
                    <a:p>
                      <a:r>
                        <a:rPr sz="1250" b="1">
                          <a:solidFill>
                            <a:srgbClr val="2B2B2B"/>
                          </a:solidFill>
                          <a:latin typeface="Calibri"/>
                        </a:rPr>
                        <a:t>Femur</a:t>
                      </a:r>
                    </a:p>
                  </a:txBody>
                  <a:tcPr marL="91440" marR="91440" anchor="ctr">
                    <a:solidFill>
                      <a:srgbClr val="FFFFFF"/>
                    </a:solidFill>
                  </a:tcPr>
                </a:tc>
                <a:tc>
                  <a:txBody>
                    <a:bodyPr/>
                    <a:lstStyle/>
                    <a:p>
                      <a:r>
                        <a:rPr sz="1250" b="0">
                          <a:solidFill>
                            <a:srgbClr val="2B2B2B"/>
                          </a:solidFill>
                          <a:latin typeface="Calibri"/>
                        </a:rPr>
                        <a:t>116.6</a:t>
                      </a:r>
                    </a:p>
                  </a:txBody>
                  <a:tcPr marL="91440" marR="91440" anchor="ctr">
                    <a:solidFill>
                      <a:srgbClr val="FFFFFF"/>
                    </a:solidFill>
                  </a:tcPr>
                </a:tc>
                <a:tc>
                  <a:txBody>
                    <a:bodyPr/>
                    <a:lstStyle/>
                    <a:p>
                      <a:r>
                        <a:rPr sz="1250" b="0">
                          <a:solidFill>
                            <a:srgbClr val="2B2B2B"/>
                          </a:solidFill>
                          <a:latin typeface="Calibri"/>
                        </a:rPr>
                        <a:t>0.101</a:t>
                      </a:r>
                    </a:p>
                  </a:txBody>
                  <a:tcPr marL="91440" marR="91440" anchor="ctr">
                    <a:solidFill>
                      <a:srgbClr val="FFFFFF"/>
                    </a:solidFill>
                  </a:tcPr>
                </a:tc>
              </a:tr>
              <a:tr h="384048">
                <a:tc>
                  <a:txBody>
                    <a:bodyPr/>
                    <a:lstStyle/>
                    <a:p>
                      <a:r>
                        <a:rPr sz="1250" b="1">
                          <a:solidFill>
                            <a:srgbClr val="2B2B2B"/>
                          </a:solidFill>
                          <a:latin typeface="Calibri"/>
                        </a:rPr>
                        <a:t>Tibia</a:t>
                      </a:r>
                    </a:p>
                  </a:txBody>
                  <a:tcPr marL="91440" marR="91440" anchor="ctr">
                    <a:solidFill>
                      <a:srgbClr val="F2F2F2"/>
                    </a:solidFill>
                  </a:tcPr>
                </a:tc>
                <a:tc>
                  <a:txBody>
                    <a:bodyPr/>
                    <a:lstStyle/>
                    <a:p>
                      <a:r>
                        <a:rPr sz="1250" b="0">
                          <a:solidFill>
                            <a:srgbClr val="2B2B2B"/>
                          </a:solidFill>
                          <a:latin typeface="Calibri"/>
                        </a:rPr>
                        <a:t>150.0</a:t>
                      </a:r>
                    </a:p>
                  </a:txBody>
                  <a:tcPr marL="91440" marR="91440" anchor="ctr">
                    <a:solidFill>
                      <a:srgbClr val="F2F2F2"/>
                    </a:solidFill>
                  </a:tcPr>
                </a:tc>
                <a:tc>
                  <a:txBody>
                    <a:bodyPr/>
                    <a:lstStyle/>
                    <a:p>
                      <a:r>
                        <a:rPr sz="1250" b="0">
                          <a:solidFill>
                            <a:srgbClr val="2B2B2B"/>
                          </a:solidFill>
                          <a:latin typeface="Calibri"/>
                        </a:rPr>
                        <a:t>0.035</a:t>
                      </a:r>
                    </a:p>
                  </a:txBody>
                  <a:tcPr marL="91440" marR="91440" anchor="ctr">
                    <a:solidFill>
                      <a:srgbClr val="F2F2F2"/>
                    </a:solidFill>
                  </a:tcPr>
                </a:tc>
              </a:tr>
            </a:tbl>
          </a:graphicData>
        </a:graphic>
      </p:graphicFrame>
      <p:sp>
        <p:nvSpPr>
          <p:cNvPr id="5" name="TextBox 4"/>
          <p:cNvSpPr txBox="1"/>
          <p:nvPr/>
        </p:nvSpPr>
        <p:spPr>
          <a:xfrm>
            <a:off x="685800" y="4434840"/>
            <a:ext cx="6400800" cy="1463040"/>
          </a:xfrm>
          <a:prstGeom prst="rect">
            <a:avLst/>
          </a:prstGeom>
          <a:noFill/>
        </p:spPr>
        <p:txBody>
          <a:bodyPr wrap="square" lIns="0" rIns="0" tIns="0" bIns="0" anchor="t">
            <a:spAutoFit/>
          </a:bodyPr>
          <a:lstStyle/>
          <a:p>
            <a:pPr algn="l">
              <a:spcAft>
                <a:spcPts val="800"/>
              </a:spcAft>
            </a:pPr>
            <a:r>
              <a:rPr sz="1350" b="0" i="0">
                <a:solidFill>
                  <a:srgbClr val="2B2B2B"/>
                </a:solidFill>
                <a:latin typeface="Calibri"/>
              </a:rPr>
              <a:t>Masses come from measured mesh volumes at PLA density. Each servo's mass belongs to the link it is bolted to, not the link it drives.</a:t>
            </a:r>
          </a:p>
          <a:p>
            <a:pPr>
              <a:spcAft>
                <a:spcPts val="0"/>
              </a:spcAft>
            </a:pPr>
            <a:r>
              <a:rPr sz="1350" b="0" i="0">
                <a:solidFill>
                  <a:srgbClr val="6E6E6E"/>
                </a:solidFill>
                <a:latin typeface="Calibri"/>
              </a:rPr>
              <a:t>Mass ratios across a joint matter more than absolute values. One link fifty times wrong relative to its neighbour is what makes a simulated robot fly apart.</a:t>
            </a:r>
          </a:p>
        </p:txBody>
      </p:sp>
      <p:sp>
        <p:nvSpPr>
          <p:cNvPr id="6" name="TextBox 5"/>
          <p:cNvSpPr txBox="1"/>
          <p:nvPr/>
        </p:nvSpPr>
        <p:spPr>
          <a:xfrm>
            <a:off x="7589520" y="2148840"/>
            <a:ext cx="182880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18</a:t>
            </a:r>
          </a:p>
        </p:txBody>
      </p:sp>
      <p:sp>
        <p:nvSpPr>
          <p:cNvPr id="7" name="TextBox 6"/>
          <p:cNvSpPr txBox="1"/>
          <p:nvPr/>
        </p:nvSpPr>
        <p:spPr>
          <a:xfrm>
            <a:off x="7589520" y="2862072"/>
            <a:ext cx="182880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actuated joints</a:t>
            </a:r>
          </a:p>
        </p:txBody>
      </p:sp>
      <p:sp>
        <p:nvSpPr>
          <p:cNvPr id="8" name="TextBox 7"/>
          <p:cNvSpPr txBox="1"/>
          <p:nvPr/>
        </p:nvSpPr>
        <p:spPr>
          <a:xfrm>
            <a:off x="9601200" y="2148840"/>
            <a:ext cx="182880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25</a:t>
            </a:r>
          </a:p>
        </p:txBody>
      </p:sp>
      <p:sp>
        <p:nvSpPr>
          <p:cNvPr id="9" name="TextBox 8"/>
          <p:cNvSpPr txBox="1"/>
          <p:nvPr/>
        </p:nvSpPr>
        <p:spPr>
          <a:xfrm>
            <a:off x="9601200" y="2862072"/>
            <a:ext cx="182880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links</a:t>
            </a:r>
          </a:p>
        </p:txBody>
      </p:sp>
      <p:sp>
        <p:nvSpPr>
          <p:cNvPr id="10" name="TextBox 9"/>
          <p:cNvSpPr txBox="1"/>
          <p:nvPr/>
        </p:nvSpPr>
        <p:spPr>
          <a:xfrm>
            <a:off x="7589520" y="3703320"/>
            <a:ext cx="182880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3.39</a:t>
            </a:r>
          </a:p>
        </p:txBody>
      </p:sp>
      <p:sp>
        <p:nvSpPr>
          <p:cNvPr id="11" name="TextBox 10"/>
          <p:cNvSpPr txBox="1"/>
          <p:nvPr/>
        </p:nvSpPr>
        <p:spPr>
          <a:xfrm>
            <a:off x="7589520" y="4416552"/>
            <a:ext cx="182880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kg total</a:t>
            </a:r>
          </a:p>
        </p:txBody>
      </p:sp>
      <p:sp>
        <p:nvSpPr>
          <p:cNvPr id="12" name="TextBox 11"/>
          <p:cNvSpPr txBox="1"/>
          <p:nvPr/>
        </p:nvSpPr>
        <p:spPr>
          <a:xfrm>
            <a:off x="9601200" y="3703320"/>
            <a:ext cx="182880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6</a:t>
            </a:r>
          </a:p>
        </p:txBody>
      </p:sp>
      <p:sp>
        <p:nvSpPr>
          <p:cNvPr id="13" name="TextBox 12"/>
          <p:cNvSpPr txBox="1"/>
          <p:nvPr/>
        </p:nvSpPr>
        <p:spPr>
          <a:xfrm>
            <a:off x="9601200" y="4416552"/>
            <a:ext cx="182880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legs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Software architecture</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Five packages. Each boundary stops one kind of change spreading</a:t>
            </a:r>
          </a:p>
        </p:txBody>
      </p:sp>
      <p:graphicFrame>
        <p:nvGraphicFramePr>
          <p:cNvPr id="4" name="Table 3"/>
          <p:cNvGraphicFramePr>
            <a:graphicFrameLocks noGrp="1"/>
          </p:cNvGraphicFramePr>
          <p:nvPr/>
        </p:nvGraphicFramePr>
        <p:xfrm>
          <a:off x="685800" y="2011680"/>
          <a:ext cx="10789920" cy="2852928"/>
        </p:xfrm>
        <a:graphic>
          <a:graphicData uri="http://schemas.openxmlformats.org/drawingml/2006/table">
            <a:tbl>
              <a:tblPr firstRow="1" bandRow="1">
                <a:tableStyleId>{5C22544A-7EE6-4342-B048-85BDC9FD1C3A}</a:tableStyleId>
              </a:tblPr>
              <a:tblGrid>
                <a:gridCol w="2743200"/>
                <a:gridCol w="8046720"/>
              </a:tblGrid>
              <a:tr h="475488">
                <a:tc>
                  <a:txBody>
                    <a:bodyPr/>
                    <a:lstStyle/>
                    <a:p>
                      <a:r>
                        <a:rPr sz="1250" b="1">
                          <a:solidFill>
                            <a:srgbClr val="FFFFFF"/>
                          </a:solidFill>
                          <a:latin typeface="Calibri"/>
                        </a:rPr>
                        <a:t>Package</a:t>
                      </a:r>
                    </a:p>
                  </a:txBody>
                  <a:tcPr marL="91440" marR="91440" anchor="ctr">
                    <a:solidFill>
                      <a:srgbClr val="33383D"/>
                    </a:solidFill>
                  </a:tcPr>
                </a:tc>
                <a:tc>
                  <a:txBody>
                    <a:bodyPr/>
                    <a:lstStyle/>
                    <a:p>
                      <a:r>
                        <a:rPr sz="1250" b="1">
                          <a:solidFill>
                            <a:srgbClr val="FFFFFF"/>
                          </a:solidFill>
                          <a:latin typeface="Calibri"/>
                        </a:rPr>
                        <a:t>Why it is separate</a:t>
                      </a:r>
                    </a:p>
                  </a:txBody>
                  <a:tcPr marL="91440" marR="91440" anchor="ctr">
                    <a:solidFill>
                      <a:srgbClr val="33383D"/>
                    </a:solidFill>
                  </a:tcPr>
                </a:tc>
              </a:tr>
              <a:tr h="475488">
                <a:tc>
                  <a:txBody>
                    <a:bodyPr/>
                    <a:lstStyle/>
                    <a:p>
                      <a:r>
                        <a:rPr sz="1250" b="1">
                          <a:solidFill>
                            <a:srgbClr val="2B2B2B"/>
                          </a:solidFill>
                          <a:latin typeface="Calibri"/>
                        </a:rPr>
                        <a:t>hexapod_description</a:t>
                      </a:r>
                    </a:p>
                  </a:txBody>
                  <a:tcPr marL="91440" marR="91440" anchor="ctr">
                    <a:solidFill>
                      <a:srgbClr val="FFFFFF"/>
                    </a:solidFill>
                  </a:tcPr>
                </a:tc>
                <a:tc>
                  <a:txBody>
                    <a:bodyPr/>
                    <a:lstStyle/>
                    <a:p>
                      <a:r>
                        <a:rPr sz="1250" b="0">
                          <a:solidFill>
                            <a:srgbClr val="2B2B2B"/>
                          </a:solidFill>
                          <a:latin typeface="Calibri"/>
                        </a:rPr>
                        <a:t>Model, meshes. Data only. Must be usable without a simulator dependency</a:t>
                      </a:r>
                    </a:p>
                  </a:txBody>
                  <a:tcPr marL="91440" marR="91440" anchor="ctr">
                    <a:solidFill>
                      <a:srgbClr val="FFFFFF"/>
                    </a:solidFill>
                  </a:tcPr>
                </a:tc>
              </a:tr>
              <a:tr h="475488">
                <a:tc>
                  <a:txBody>
                    <a:bodyPr/>
                    <a:lstStyle/>
                    <a:p>
                      <a:r>
                        <a:rPr sz="1250" b="1">
                          <a:solidFill>
                            <a:srgbClr val="2B2B2B"/>
                          </a:solidFill>
                          <a:latin typeface="Calibri"/>
                        </a:rPr>
                        <a:t>hexapod_gazebo</a:t>
                      </a:r>
                    </a:p>
                  </a:txBody>
                  <a:tcPr marL="91440" marR="91440" anchor="ctr">
                    <a:solidFill>
                      <a:srgbClr val="F2F2F2"/>
                    </a:solidFill>
                  </a:tcPr>
                </a:tc>
                <a:tc>
                  <a:txBody>
                    <a:bodyPr/>
                    <a:lstStyle/>
                    <a:p>
                      <a:r>
                        <a:rPr sz="1250" b="0">
                          <a:solidFill>
                            <a:srgbClr val="2B2B2B"/>
                          </a:solidFill>
                          <a:latin typeface="Calibri"/>
                        </a:rPr>
                        <a:t>World and physics. Delete it and the stack still runs on hardware</a:t>
                      </a:r>
                    </a:p>
                  </a:txBody>
                  <a:tcPr marL="91440" marR="91440" anchor="ctr">
                    <a:solidFill>
                      <a:srgbClr val="F2F2F2"/>
                    </a:solidFill>
                  </a:tcPr>
                </a:tc>
              </a:tr>
              <a:tr h="475488">
                <a:tc>
                  <a:txBody>
                    <a:bodyPr/>
                    <a:lstStyle/>
                    <a:p>
                      <a:r>
                        <a:rPr sz="1250" b="1">
                          <a:solidFill>
                            <a:srgbClr val="2B2B2B"/>
                          </a:solidFill>
                          <a:latin typeface="Calibri"/>
                        </a:rPr>
                        <a:t>hexapod_control</a:t>
                      </a:r>
                    </a:p>
                  </a:txBody>
                  <a:tcPr marL="91440" marR="91440" anchor="ctr">
                    <a:solidFill>
                      <a:srgbClr val="FFFFFF"/>
                    </a:solidFill>
                  </a:tcPr>
                </a:tc>
                <a:tc>
                  <a:txBody>
                    <a:bodyPr/>
                    <a:lstStyle/>
                    <a:p>
                      <a:r>
                        <a:rPr sz="1250" b="0">
                          <a:solidFill>
                            <a:srgbClr val="2B2B2B"/>
                          </a:solidFill>
                          <a:latin typeface="Calibri"/>
                        </a:rPr>
                        <a:t>Controller config, swapped wholesale between sim and hardware</a:t>
                      </a:r>
                    </a:p>
                  </a:txBody>
                  <a:tcPr marL="91440" marR="91440" anchor="ctr">
                    <a:solidFill>
                      <a:srgbClr val="FFFFFF"/>
                    </a:solidFill>
                  </a:tcPr>
                </a:tc>
              </a:tr>
              <a:tr h="475488">
                <a:tc>
                  <a:txBody>
                    <a:bodyPr/>
                    <a:lstStyle/>
                    <a:p>
                      <a:r>
                        <a:rPr sz="1250" b="1">
                          <a:solidFill>
                            <a:srgbClr val="2B2B2B"/>
                          </a:solidFill>
                          <a:latin typeface="Calibri"/>
                        </a:rPr>
                        <a:t>hexapod_gait</a:t>
                      </a:r>
                    </a:p>
                  </a:txBody>
                  <a:tcPr marL="91440" marR="91440" anchor="ctr">
                    <a:solidFill>
                      <a:srgbClr val="F2F2F2"/>
                    </a:solidFill>
                  </a:tcPr>
                </a:tc>
                <a:tc>
                  <a:txBody>
                    <a:bodyPr/>
                    <a:lstStyle/>
                    <a:p>
                      <a:r>
                        <a:rPr sz="1250" b="0">
                          <a:solidFill>
                            <a:srgbClr val="2B2B2B"/>
                          </a:solidFill>
                          <a:latin typeface="Calibri"/>
                        </a:rPr>
                        <a:t>Kinematics and gait. The mathematics, deliberately separable from ROS</a:t>
                      </a:r>
                    </a:p>
                  </a:txBody>
                  <a:tcPr marL="91440" marR="91440" anchor="ctr">
                    <a:solidFill>
                      <a:srgbClr val="F2F2F2"/>
                    </a:solidFill>
                  </a:tcPr>
                </a:tc>
              </a:tr>
              <a:tr h="475488">
                <a:tc>
                  <a:txBody>
                    <a:bodyPr/>
                    <a:lstStyle/>
                    <a:p>
                      <a:r>
                        <a:rPr sz="1250" b="1">
                          <a:solidFill>
                            <a:srgbClr val="2B2B2B"/>
                          </a:solidFill>
                          <a:latin typeface="Calibri"/>
                        </a:rPr>
                        <a:t>hexapod_bringup</a:t>
                      </a:r>
                    </a:p>
                  </a:txBody>
                  <a:tcPr marL="91440" marR="91440" anchor="ctr">
                    <a:solidFill>
                      <a:srgbClr val="FFFFFF"/>
                    </a:solidFill>
                  </a:tcPr>
                </a:tc>
                <a:tc>
                  <a:txBody>
                    <a:bodyPr/>
                    <a:lstStyle/>
                    <a:p>
                      <a:r>
                        <a:rPr sz="1250" b="0">
                          <a:solidFill>
                            <a:srgbClr val="2B2B2B"/>
                          </a:solidFill>
                          <a:latin typeface="Calibri"/>
                        </a:rPr>
                        <a:t>Launch files. Nothing depends on it, so it can change freely</a:t>
                      </a:r>
                    </a:p>
                  </a:txBody>
                  <a:tcPr marL="91440" marR="91440" anchor="ctr">
                    <a:solidFill>
                      <a:srgbClr val="FFFFFF"/>
                    </a:solidFill>
                  </a:tcPr>
                </a:tc>
              </a:tr>
            </a:tbl>
          </a:graphicData>
        </a:graphic>
      </p:graphicFrame>
      <p:sp>
        <p:nvSpPr>
          <p:cNvPr id="5" name="TextBox 4"/>
          <p:cNvSpPr txBox="1"/>
          <p:nvPr/>
        </p:nvSpPr>
        <p:spPr>
          <a:xfrm>
            <a:off x="685800" y="5120640"/>
            <a:ext cx="10789920" cy="822960"/>
          </a:xfrm>
          <a:prstGeom prst="rect">
            <a:avLst/>
          </a:prstGeom>
          <a:noFill/>
        </p:spPr>
        <p:txBody>
          <a:bodyPr wrap="square" lIns="0" rIns="0" tIns="0" bIns="0" anchor="t">
            <a:spAutoFit/>
          </a:bodyPr>
          <a:lstStyle/>
          <a:p>
            <a:pPr algn="l">
              <a:spcAft>
                <a:spcPts val="0"/>
              </a:spcAft>
            </a:pPr>
            <a:r>
              <a:rPr sz="1400" b="0" i="0">
                <a:solidFill>
                  <a:srgbClr val="2B2B2B"/>
                </a:solidFill>
                <a:latin typeface="Calibri"/>
              </a:rPr>
              <a:t>hexapod_description depends on nothing at all. That single property is what makes hardware integration next phase a configuration change rather than a rewrite.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One input, everything else derived</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No motion is scripted and nothing is a recorded animation</a:t>
            </a:r>
          </a:p>
        </p:txBody>
      </p:sp>
      <p:sp>
        <p:nvSpPr>
          <p:cNvPr id="4" name="Rounded Rectangle 3"/>
          <p:cNvSpPr/>
          <p:nvPr/>
        </p:nvSpPr>
        <p:spPr>
          <a:xfrm>
            <a:off x="685800" y="2377440"/>
            <a:ext cx="1965960" cy="16002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2606040"/>
            <a:ext cx="1645920" cy="1188720"/>
          </a:xfrm>
          <a:prstGeom prst="rect">
            <a:avLst/>
          </a:prstGeom>
          <a:noFill/>
        </p:spPr>
        <p:txBody>
          <a:bodyPr wrap="square" lIns="0" rIns="0" tIns="0" bIns="0" anchor="t">
            <a:spAutoFit/>
          </a:bodyPr>
          <a:lstStyle/>
          <a:p>
            <a:pPr algn="l">
              <a:spcAft>
                <a:spcPts val="500"/>
              </a:spcAft>
            </a:pPr>
            <a:r>
              <a:rPr sz="1350" b="1" i="0">
                <a:solidFill>
                  <a:srgbClr val="2B2B2B"/>
                </a:solidFill>
                <a:latin typeface="Calibri"/>
              </a:rPr>
              <a:t>Velocity command</a:t>
            </a:r>
          </a:p>
          <a:p>
            <a:pPr>
              <a:spcAft>
                <a:spcPts val="0"/>
              </a:spcAft>
            </a:pPr>
            <a:r>
              <a:rPr sz="1100" b="0" i="0">
                <a:solidFill>
                  <a:srgbClr val="6E6E6E"/>
                </a:solidFill>
                <a:latin typeface="Calibri"/>
              </a:rPr>
              <a:t>the only input</a:t>
            </a:r>
          </a:p>
        </p:txBody>
      </p:sp>
      <p:sp>
        <p:nvSpPr>
          <p:cNvPr id="6" name="TextBox 5"/>
          <p:cNvSpPr txBox="1"/>
          <p:nvPr/>
        </p:nvSpPr>
        <p:spPr>
          <a:xfrm>
            <a:off x="2679192" y="2999232"/>
            <a:ext cx="320040" cy="365760"/>
          </a:xfrm>
          <a:prstGeom prst="rect">
            <a:avLst/>
          </a:prstGeom>
          <a:noFill/>
        </p:spPr>
        <p:txBody>
          <a:bodyPr wrap="square" lIns="0" rIns="0" tIns="0" bIns="0" anchor="t">
            <a:spAutoFit/>
          </a:bodyPr>
          <a:lstStyle/>
          <a:p>
            <a:pPr algn="ctr">
              <a:spcAft>
                <a:spcPts val="0"/>
              </a:spcAft>
            </a:pPr>
            <a:r>
              <a:rPr sz="2600" b="1" i="0">
                <a:solidFill>
                  <a:srgbClr val="C45A11"/>
                </a:solidFill>
                <a:latin typeface="Calibri"/>
              </a:rPr>
              <a:t>›</a:t>
            </a:r>
          </a:p>
        </p:txBody>
      </p:sp>
      <p:sp>
        <p:nvSpPr>
          <p:cNvPr id="7" name="Rounded Rectangle 6"/>
          <p:cNvSpPr/>
          <p:nvPr/>
        </p:nvSpPr>
        <p:spPr>
          <a:xfrm>
            <a:off x="2898648" y="2377440"/>
            <a:ext cx="1965960" cy="16002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2606040"/>
            <a:ext cx="1645920" cy="1188720"/>
          </a:xfrm>
          <a:prstGeom prst="rect">
            <a:avLst/>
          </a:prstGeom>
          <a:noFill/>
        </p:spPr>
        <p:txBody>
          <a:bodyPr wrap="square" lIns="0" rIns="0" tIns="0" bIns="0" anchor="t">
            <a:spAutoFit/>
          </a:bodyPr>
          <a:lstStyle/>
          <a:p>
            <a:pPr algn="l">
              <a:spcAft>
                <a:spcPts val="500"/>
              </a:spcAft>
            </a:pPr>
            <a:r>
              <a:rPr sz="1350" b="1" i="0">
                <a:solidFill>
                  <a:srgbClr val="2B2B2B"/>
                </a:solidFill>
                <a:latin typeface="Calibri"/>
              </a:rPr>
              <a:t>Gait generator</a:t>
            </a:r>
          </a:p>
          <a:p>
            <a:pPr>
              <a:spcAft>
                <a:spcPts val="0"/>
              </a:spcAft>
            </a:pPr>
            <a:r>
              <a:rPr sz="1100" b="0" i="0">
                <a:solidFill>
                  <a:srgbClr val="6E6E6E"/>
                </a:solidFill>
                <a:latin typeface="Calibri"/>
              </a:rPr>
              <a:t>50 Hz, foot position for each leg</a:t>
            </a:r>
          </a:p>
        </p:txBody>
      </p:sp>
      <p:sp>
        <p:nvSpPr>
          <p:cNvPr id="9" name="TextBox 8"/>
          <p:cNvSpPr txBox="1"/>
          <p:nvPr/>
        </p:nvSpPr>
        <p:spPr>
          <a:xfrm>
            <a:off x="4892040" y="2999232"/>
            <a:ext cx="320040" cy="365760"/>
          </a:xfrm>
          <a:prstGeom prst="rect">
            <a:avLst/>
          </a:prstGeom>
          <a:noFill/>
        </p:spPr>
        <p:txBody>
          <a:bodyPr wrap="square" lIns="0" rIns="0" tIns="0" bIns="0" anchor="t">
            <a:spAutoFit/>
          </a:bodyPr>
          <a:lstStyle/>
          <a:p>
            <a:pPr algn="ctr">
              <a:spcAft>
                <a:spcPts val="0"/>
              </a:spcAft>
            </a:pPr>
            <a:r>
              <a:rPr sz="2600" b="1" i="0">
                <a:solidFill>
                  <a:srgbClr val="C45A11"/>
                </a:solidFill>
                <a:latin typeface="Calibri"/>
              </a:rPr>
              <a:t>›</a:t>
            </a:r>
          </a:p>
        </p:txBody>
      </p:sp>
      <p:sp>
        <p:nvSpPr>
          <p:cNvPr id="10" name="Rounded Rectangle 9"/>
          <p:cNvSpPr/>
          <p:nvPr/>
        </p:nvSpPr>
        <p:spPr>
          <a:xfrm>
            <a:off x="5111496" y="2377440"/>
            <a:ext cx="1965960" cy="16002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6088" y="2606040"/>
            <a:ext cx="1645920" cy="1188720"/>
          </a:xfrm>
          <a:prstGeom prst="rect">
            <a:avLst/>
          </a:prstGeom>
          <a:noFill/>
        </p:spPr>
        <p:txBody>
          <a:bodyPr wrap="square" lIns="0" rIns="0" tIns="0" bIns="0" anchor="t">
            <a:spAutoFit/>
          </a:bodyPr>
          <a:lstStyle/>
          <a:p>
            <a:pPr algn="l">
              <a:spcAft>
                <a:spcPts val="500"/>
              </a:spcAft>
            </a:pPr>
            <a:r>
              <a:rPr sz="1350" b="1" i="0">
                <a:solidFill>
                  <a:srgbClr val="2B2B2B"/>
                </a:solidFill>
                <a:latin typeface="Calibri"/>
              </a:rPr>
              <a:t>Inverse kinematics</a:t>
            </a:r>
          </a:p>
          <a:p>
            <a:pPr>
              <a:spcAft>
                <a:spcPts val="0"/>
              </a:spcAft>
            </a:pPr>
            <a:r>
              <a:rPr sz="1100" b="0" i="0">
                <a:solidFill>
                  <a:srgbClr val="6E6E6E"/>
                </a:solidFill>
                <a:latin typeface="Calibri"/>
              </a:rPr>
              <a:t>six foot positions to 18 joint angles</a:t>
            </a:r>
          </a:p>
        </p:txBody>
      </p:sp>
      <p:sp>
        <p:nvSpPr>
          <p:cNvPr id="12" name="TextBox 11"/>
          <p:cNvSpPr txBox="1"/>
          <p:nvPr/>
        </p:nvSpPr>
        <p:spPr>
          <a:xfrm>
            <a:off x="7104888" y="2999232"/>
            <a:ext cx="320040" cy="365760"/>
          </a:xfrm>
          <a:prstGeom prst="rect">
            <a:avLst/>
          </a:prstGeom>
          <a:noFill/>
        </p:spPr>
        <p:txBody>
          <a:bodyPr wrap="square" lIns="0" rIns="0" tIns="0" bIns="0" anchor="t">
            <a:spAutoFit/>
          </a:bodyPr>
          <a:lstStyle/>
          <a:p>
            <a:pPr algn="ctr">
              <a:spcAft>
                <a:spcPts val="0"/>
              </a:spcAft>
            </a:pPr>
            <a:r>
              <a:rPr sz="2600" b="1" i="0">
                <a:solidFill>
                  <a:srgbClr val="C45A11"/>
                </a:solidFill>
                <a:latin typeface="Calibri"/>
              </a:rPr>
              <a:t>›</a:t>
            </a:r>
          </a:p>
        </p:txBody>
      </p:sp>
      <p:sp>
        <p:nvSpPr>
          <p:cNvPr id="13" name="Rounded Rectangle 12"/>
          <p:cNvSpPr/>
          <p:nvPr/>
        </p:nvSpPr>
        <p:spPr>
          <a:xfrm>
            <a:off x="7324344" y="2377440"/>
            <a:ext cx="1965960" cy="16002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88936" y="2606040"/>
            <a:ext cx="1645920" cy="1188720"/>
          </a:xfrm>
          <a:prstGeom prst="rect">
            <a:avLst/>
          </a:prstGeom>
          <a:noFill/>
        </p:spPr>
        <p:txBody>
          <a:bodyPr wrap="square" lIns="0" rIns="0" tIns="0" bIns="0" anchor="t">
            <a:spAutoFit/>
          </a:bodyPr>
          <a:lstStyle/>
          <a:p>
            <a:pPr algn="l">
              <a:spcAft>
                <a:spcPts val="500"/>
              </a:spcAft>
            </a:pPr>
            <a:r>
              <a:rPr sz="1350" b="1" i="0">
                <a:solidFill>
                  <a:srgbClr val="2B2B2B"/>
                </a:solidFill>
                <a:latin typeface="Calibri"/>
              </a:rPr>
              <a:t>Controller manager</a:t>
            </a:r>
          </a:p>
          <a:p>
            <a:pPr>
              <a:spcAft>
                <a:spcPts val="0"/>
              </a:spcAft>
            </a:pPr>
            <a:r>
              <a:rPr sz="1100" b="0" i="0">
                <a:solidFill>
                  <a:srgbClr val="6E6E6E"/>
                </a:solidFill>
                <a:latin typeface="Calibri"/>
              </a:rPr>
              <a:t>200 Hz, inside the Gazebo process</a:t>
            </a:r>
          </a:p>
        </p:txBody>
      </p:sp>
      <p:sp>
        <p:nvSpPr>
          <p:cNvPr id="15" name="TextBox 14"/>
          <p:cNvSpPr txBox="1"/>
          <p:nvPr/>
        </p:nvSpPr>
        <p:spPr>
          <a:xfrm>
            <a:off x="9317736" y="2999232"/>
            <a:ext cx="320040" cy="365760"/>
          </a:xfrm>
          <a:prstGeom prst="rect">
            <a:avLst/>
          </a:prstGeom>
          <a:noFill/>
        </p:spPr>
        <p:txBody>
          <a:bodyPr wrap="square" lIns="0" rIns="0" tIns="0" bIns="0" anchor="t">
            <a:spAutoFit/>
          </a:bodyPr>
          <a:lstStyle/>
          <a:p>
            <a:pPr algn="ctr">
              <a:spcAft>
                <a:spcPts val="0"/>
              </a:spcAft>
            </a:pPr>
            <a:r>
              <a:rPr sz="2600" b="1" i="0">
                <a:solidFill>
                  <a:srgbClr val="C45A11"/>
                </a:solidFill>
                <a:latin typeface="Calibri"/>
              </a:rPr>
              <a:t>›</a:t>
            </a:r>
          </a:p>
        </p:txBody>
      </p:sp>
      <p:sp>
        <p:nvSpPr>
          <p:cNvPr id="16" name="Rounded Rectangle 15"/>
          <p:cNvSpPr/>
          <p:nvPr/>
        </p:nvSpPr>
        <p:spPr>
          <a:xfrm>
            <a:off x="9537192" y="2377440"/>
            <a:ext cx="1965960" cy="16002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01784" y="2606040"/>
            <a:ext cx="1645920" cy="1188720"/>
          </a:xfrm>
          <a:prstGeom prst="rect">
            <a:avLst/>
          </a:prstGeom>
          <a:noFill/>
        </p:spPr>
        <p:txBody>
          <a:bodyPr wrap="square" lIns="0" rIns="0" tIns="0" bIns="0" anchor="t">
            <a:spAutoFit/>
          </a:bodyPr>
          <a:lstStyle/>
          <a:p>
            <a:pPr algn="l">
              <a:spcAft>
                <a:spcPts val="500"/>
              </a:spcAft>
            </a:pPr>
            <a:r>
              <a:rPr sz="1350" b="1" i="0">
                <a:solidFill>
                  <a:srgbClr val="2B2B2B"/>
                </a:solidFill>
                <a:latin typeface="Calibri"/>
              </a:rPr>
              <a:t>Physics</a:t>
            </a:r>
          </a:p>
          <a:p>
            <a:pPr>
              <a:spcAft>
                <a:spcPts val="0"/>
              </a:spcAft>
            </a:pPr>
            <a:r>
              <a:rPr sz="1100" b="0" i="0">
                <a:solidFill>
                  <a:srgbClr val="6E6E6E"/>
                </a:solidFill>
                <a:latin typeface="Calibri"/>
              </a:rPr>
              <a:t>1000 Hz</a:t>
            </a:r>
          </a:p>
        </p:txBody>
      </p:sp>
      <p:sp>
        <p:nvSpPr>
          <p:cNvPr id="18" name="TextBox 17"/>
          <p:cNvSpPr txBox="1"/>
          <p:nvPr/>
        </p:nvSpPr>
        <p:spPr>
          <a:xfrm>
            <a:off x="685800" y="4480560"/>
            <a:ext cx="10789920" cy="1188720"/>
          </a:xfrm>
          <a:prstGeom prst="rect">
            <a:avLst/>
          </a:prstGeom>
          <a:noFill/>
        </p:spPr>
        <p:txBody>
          <a:bodyPr wrap="square" lIns="0" rIns="0" tIns="0" bIns="0" anchor="t">
            <a:spAutoFit/>
          </a:bodyPr>
          <a:lstStyle/>
          <a:p>
            <a:pPr algn="l">
              <a:spcAft>
                <a:spcPts val="0"/>
              </a:spcAft>
            </a:pPr>
            <a:r>
              <a:rPr sz="1400" b="0" i="0">
                <a:solidFill>
                  <a:srgbClr val="2B2B2B"/>
                </a:solidFill>
                <a:latin typeface="Calibri"/>
              </a:rPr>
              <a:t>Ask for a different velocity and every leg trajectory changes. The controller manager runs inside the Gazebo process on purpose, because the control loop has to run in step with the physics rather than asynchronously over a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Inverse kinematics</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A 3D problem that collapses to 2D, so it has an exact solution</a:t>
            </a:r>
          </a:p>
        </p:txBody>
      </p:sp>
      <p:sp>
        <p:nvSpPr>
          <p:cNvPr id="4" name="TextBox 3"/>
          <p:cNvSpPr txBox="1"/>
          <p:nvPr/>
        </p:nvSpPr>
        <p:spPr>
          <a:xfrm>
            <a:off x="685800" y="1965960"/>
            <a:ext cx="6309360" cy="4206240"/>
          </a:xfrm>
          <a:prstGeom prst="rect">
            <a:avLst/>
          </a:prstGeom>
          <a:noFill/>
        </p:spPr>
        <p:txBody>
          <a:bodyPr wrap="square" lIns="0" rIns="0" tIns="0" bIns="0" anchor="t">
            <a:spAutoFit/>
          </a:bodyPr>
          <a:lstStyle/>
          <a:p>
            <a:pPr algn="l">
              <a:spcAft>
                <a:spcPts val="1100"/>
              </a:spcAft>
            </a:pPr>
            <a:r>
              <a:rPr sz="1500" b="0" i="0">
                <a:solidFill>
                  <a:srgbClr val="2B2B2B"/>
                </a:solidFill>
                <a:latin typeface="Calibri"/>
              </a:rPr>
              <a:t>•  The femur and tibia rotate about the same axis direction, so everything past the coxa lies in one vertical plane.</a:t>
            </a:r>
          </a:p>
          <a:p>
            <a:pPr>
              <a:spcAft>
                <a:spcPts val="1100"/>
              </a:spcAft>
            </a:pPr>
            <a:r>
              <a:rPr sz="1500" b="0" i="0">
                <a:solidFill>
                  <a:srgbClr val="2B2B2B"/>
                </a:solidFill>
                <a:latin typeface="Calibri"/>
              </a:rPr>
              <a:t>•  The coxa angle only selects which plane. Three dimensions become two.</a:t>
            </a:r>
          </a:p>
          <a:p>
            <a:pPr>
              <a:spcAft>
                <a:spcPts val="1100"/>
              </a:spcAft>
            </a:pPr>
            <a:r>
              <a:rPr sz="1500" b="0" i="0">
                <a:solidFill>
                  <a:srgbClr val="2B2B2B"/>
                </a:solidFill>
                <a:latin typeface="Calibri"/>
              </a:rPr>
              <a:t>•  A two link planar reach has an exact answer by the law of cosines. No numerical solver, so nothing can fail to converge.</a:t>
            </a:r>
          </a:p>
          <a:p>
            <a:pPr>
              <a:spcAft>
                <a:spcPts val="1100"/>
              </a:spcAft>
            </a:pPr>
            <a:r>
              <a:rPr sz="1500" b="0" i="0">
                <a:solidFill>
                  <a:srgbClr val="2B2B2B"/>
                </a:solidFill>
                <a:latin typeface="Calibri"/>
              </a:rPr>
              <a:t>•  The law of cosines gives two valid answers, both placing the foot in the same spot but folding the leg differently.</a:t>
            </a:r>
          </a:p>
        </p:txBody>
      </p:sp>
      <p:sp>
        <p:nvSpPr>
          <p:cNvPr id="5" name="Rounded Rectangle 4"/>
          <p:cNvSpPr/>
          <p:nvPr/>
        </p:nvSpPr>
        <p:spPr>
          <a:xfrm>
            <a:off x="7498079" y="1965960"/>
            <a:ext cx="3977639" cy="356616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2286000"/>
            <a:ext cx="3291840" cy="3017520"/>
          </a:xfrm>
          <a:prstGeom prst="rect">
            <a:avLst/>
          </a:prstGeom>
          <a:noFill/>
        </p:spPr>
        <p:txBody>
          <a:bodyPr wrap="square" lIns="0" rIns="0" tIns="0" bIns="0" anchor="t">
            <a:spAutoFit/>
          </a:bodyPr>
          <a:lstStyle/>
          <a:p>
            <a:pPr algn="l">
              <a:spcAft>
                <a:spcPts val="1200"/>
              </a:spcAft>
            </a:pPr>
            <a:r>
              <a:rPr sz="1500" b="1" i="0">
                <a:solidFill>
                  <a:srgbClr val="C45A11"/>
                </a:solidFill>
                <a:latin typeface="Cambria"/>
              </a:rPr>
              <a:t>Choosing the elbow</a:t>
            </a:r>
          </a:p>
          <a:p>
            <a:pPr>
              <a:spcAft>
                <a:spcPts val="200"/>
              </a:spcAft>
            </a:pPr>
            <a:r>
              <a:rPr sz="1300" b="1" i="0">
                <a:solidFill>
                  <a:srgbClr val="2B2B2B"/>
                </a:solidFill>
                <a:latin typeface="Calibri"/>
              </a:rPr>
              <a:t>Knee 136 mm inside the foot</a:t>
            </a:r>
          </a:p>
          <a:p>
            <a:pPr>
              <a:spcAft>
                <a:spcPts val="1200"/>
              </a:spcAft>
            </a:pPr>
            <a:r>
              <a:rPr sz="1300" b="0" i="0">
                <a:solidFill>
                  <a:srgbClr val="6E6E6E"/>
                </a:solidFill>
                <a:latin typeface="Calibri"/>
              </a:rPr>
              <a:t>1.48 N m at the knee</a:t>
            </a:r>
          </a:p>
          <a:p>
            <a:pPr>
              <a:spcAft>
                <a:spcPts val="200"/>
              </a:spcAft>
            </a:pPr>
            <a:r>
              <a:rPr sz="1300" b="1" i="0">
                <a:solidFill>
                  <a:srgbClr val="2B2B2B"/>
                </a:solidFill>
                <a:latin typeface="Calibri"/>
              </a:rPr>
              <a:t>Knee 18 mm inside the foot</a:t>
            </a:r>
          </a:p>
          <a:p>
            <a:pPr>
              <a:spcAft>
                <a:spcPts val="1200"/>
              </a:spcAft>
            </a:pPr>
            <a:r>
              <a:rPr sz="1300" b="0" i="0">
                <a:solidFill>
                  <a:srgbClr val="C45A11"/>
                </a:solidFill>
                <a:latin typeface="Calibri"/>
              </a:rPr>
              <a:t>0.19 N m at the knee</a:t>
            </a:r>
          </a:p>
          <a:p>
            <a:pPr>
              <a:spcAft>
                <a:spcPts val="0"/>
              </a:spcAft>
            </a:pPr>
            <a:r>
              <a:rPr sz="1250" b="0" i="0">
                <a:solidFill>
                  <a:srgbClr val="6E6E6E"/>
                </a:solidFill>
                <a:latin typeface="Calibri"/>
              </a:rPr>
              <a:t>Same foot position, nearly 8x the load. The first choice made the tibia sag 24 degrees.</a:t>
            </a:r>
          </a:p>
        </p:txBody>
      </p:sp>
      <p:sp>
        <p:nvSpPr>
          <p:cNvPr id="7" name="TextBox 6"/>
          <p:cNvSpPr txBox="1"/>
          <p:nvPr/>
        </p:nvSpPr>
        <p:spPr>
          <a:xfrm>
            <a:off x="685800" y="6263640"/>
            <a:ext cx="10789920" cy="320040"/>
          </a:xfrm>
          <a:prstGeom prst="rect">
            <a:avLst/>
          </a:prstGeom>
          <a:noFill/>
        </p:spPr>
        <p:txBody>
          <a:bodyPr wrap="square" lIns="0" rIns="0" tIns="0" bIns="0" anchor="t">
            <a:spAutoFit/>
          </a:bodyPr>
          <a:lstStyle/>
          <a:p>
            <a:pPr algn="l">
              <a:spcAft>
                <a:spcPts val="0"/>
              </a:spcAft>
            </a:pPr>
            <a:r>
              <a:rPr sz="1050" b="0" i="1">
                <a:solidFill>
                  <a:srgbClr val="6E6E6E"/>
                </a:solidFill>
                <a:latin typeface="Calibri"/>
              </a:rPr>
              <a:t>A simulation number leading directly to a mechanical decision, including a servo horn offset at assembly.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Tripod gait</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Stride length is derived from the commanded velocity, never tuned</a:t>
            </a:r>
          </a:p>
        </p:txBody>
      </p:sp>
      <p:sp>
        <p:nvSpPr>
          <p:cNvPr id="4" name="TextBox 3"/>
          <p:cNvSpPr txBox="1"/>
          <p:nvPr/>
        </p:nvSpPr>
        <p:spPr>
          <a:xfrm>
            <a:off x="685800" y="1965960"/>
            <a:ext cx="6766560" cy="4206240"/>
          </a:xfrm>
          <a:prstGeom prst="rect">
            <a:avLst/>
          </a:prstGeom>
          <a:noFill/>
        </p:spPr>
        <p:txBody>
          <a:bodyPr wrap="square" lIns="0" rIns="0" tIns="0" bIns="0" anchor="t">
            <a:spAutoFit/>
          </a:bodyPr>
          <a:lstStyle/>
          <a:p>
            <a:pPr algn="l">
              <a:spcAft>
                <a:spcPts val="1100"/>
              </a:spcAft>
            </a:pPr>
            <a:r>
              <a:rPr sz="1500" b="0" i="0">
                <a:solidFill>
                  <a:srgbClr val="2B2B2B"/>
                </a:solidFill>
                <a:latin typeface="Calibri"/>
              </a:rPr>
              <a:t>•  Two groups of three legs, exactly half a cycle out of phase. Three feet down at every instant.</a:t>
            </a:r>
          </a:p>
          <a:p>
            <a:pPr>
              <a:spcAft>
                <a:spcPts val="1100"/>
              </a:spcAft>
            </a:pPr>
            <a:r>
              <a:rPr sz="1500" b="0" i="0">
                <a:solidFill>
                  <a:srgbClr val="2B2B2B"/>
                </a:solidFill>
                <a:latin typeface="Calibri"/>
              </a:rPr>
              <a:t>•  A planted foot must not move relative to the ground, but we command foot positions in the body frame.</a:t>
            </a:r>
          </a:p>
          <a:p>
            <a:pPr>
              <a:spcAft>
                <a:spcPts val="1100"/>
              </a:spcAft>
            </a:pPr>
            <a:r>
              <a:rPr sz="1500" b="0" i="0">
                <a:solidFill>
                  <a:srgbClr val="2B2B2B"/>
                </a:solidFill>
                <a:latin typeface="Calibri"/>
              </a:rPr>
              <a:t>•  So a stationary foot must travel backwards through the body frame at exactly the body speed.</a:t>
            </a:r>
          </a:p>
          <a:p>
            <a:pPr>
              <a:spcAft>
                <a:spcPts val="1100"/>
              </a:spcAft>
            </a:pPr>
            <a:r>
              <a:rPr sz="1500" b="0" i="0">
                <a:solidFill>
                  <a:srgbClr val="2B2B2B"/>
                </a:solidFill>
                <a:latin typeface="Calibri"/>
              </a:rPr>
              <a:t>•  Stride is therefore forced by the velocity and the stance duration. It is not a free parameter.</a:t>
            </a:r>
          </a:p>
          <a:p>
            <a:pPr>
              <a:spcAft>
                <a:spcPts val="1100"/>
              </a:spcAft>
            </a:pPr>
            <a:r>
              <a:rPr sz="1500" b="0" i="0">
                <a:solidFill>
                  <a:srgbClr val="2B2B2B"/>
                </a:solidFill>
                <a:latin typeface="Calibri"/>
              </a:rPr>
              <a:t>•  Each leg gets a different stride when turning, because a point further from the turn centre travels further.</a:t>
            </a:r>
          </a:p>
        </p:txBody>
      </p:sp>
      <p:sp>
        <p:nvSpPr>
          <p:cNvPr id="5" name="Rounded Rectangle 4"/>
          <p:cNvSpPr/>
          <p:nvPr/>
        </p:nvSpPr>
        <p:spPr>
          <a:xfrm>
            <a:off x="7955279" y="2103120"/>
            <a:ext cx="3520440" cy="283464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2423160"/>
            <a:ext cx="2926080" cy="2286000"/>
          </a:xfrm>
          <a:prstGeom prst="rect">
            <a:avLst/>
          </a:prstGeom>
          <a:noFill/>
        </p:spPr>
        <p:txBody>
          <a:bodyPr wrap="square" lIns="0" rIns="0" tIns="0" bIns="0" anchor="t">
            <a:spAutoFit/>
          </a:bodyPr>
          <a:lstStyle/>
          <a:p>
            <a:pPr algn="l">
              <a:spcAft>
                <a:spcPts val="1000"/>
              </a:spcAft>
            </a:pPr>
            <a:r>
              <a:rPr sz="1400" b="1" i="0">
                <a:solidFill>
                  <a:srgbClr val="C45A11"/>
                </a:solidFill>
                <a:latin typeface="Cambria"/>
              </a:rPr>
              <a:t>One expression covers</a:t>
            </a:r>
          </a:p>
          <a:p>
            <a:pPr>
              <a:spcAft>
                <a:spcPts val="600"/>
              </a:spcAft>
            </a:pPr>
            <a:r>
              <a:rPr sz="1300" b="0" i="0">
                <a:solidFill>
                  <a:srgbClr val="2B2B2B"/>
                </a:solidFill>
                <a:latin typeface="Calibri"/>
              </a:rPr>
              <a:t>•  walking forwards</a:t>
            </a:r>
          </a:p>
          <a:p>
            <a:pPr>
              <a:spcAft>
                <a:spcPts val="600"/>
              </a:spcAft>
            </a:pPr>
            <a:r>
              <a:rPr sz="1300" b="0" i="0">
                <a:solidFill>
                  <a:srgbClr val="2B2B2B"/>
                </a:solidFill>
                <a:latin typeface="Calibri"/>
              </a:rPr>
              <a:t>•  walking backwards</a:t>
            </a:r>
          </a:p>
          <a:p>
            <a:pPr>
              <a:spcAft>
                <a:spcPts val="600"/>
              </a:spcAft>
            </a:pPr>
            <a:r>
              <a:rPr sz="1300" b="0" i="0">
                <a:solidFill>
                  <a:srgbClr val="2B2B2B"/>
                </a:solidFill>
                <a:latin typeface="Calibri"/>
              </a:rPr>
              <a:t>•  strafing sideways</a:t>
            </a:r>
          </a:p>
          <a:p>
            <a:pPr>
              <a:spcAft>
                <a:spcPts val="600"/>
              </a:spcAft>
            </a:pPr>
            <a:r>
              <a:rPr sz="1300" b="0" i="0">
                <a:solidFill>
                  <a:srgbClr val="2B2B2B"/>
                </a:solidFill>
                <a:latin typeface="Calibri"/>
              </a:rPr>
              <a:t>•  turning on the spot</a:t>
            </a:r>
          </a:p>
          <a:p>
            <a:pPr>
              <a:spcAft>
                <a:spcPts val="600"/>
              </a:spcAft>
            </a:pPr>
            <a:r>
              <a:rPr sz="1300" b="0" i="0">
                <a:solidFill>
                  <a:srgbClr val="2B2B2B"/>
                </a:solidFill>
                <a:latin typeface="Calibri"/>
              </a:rPr>
              <a:t>•  driving an arc</a:t>
            </a:r>
          </a:p>
        </p:txBody>
      </p:sp>
      <p:sp>
        <p:nvSpPr>
          <p:cNvPr id="7" name="TextBox 6"/>
          <p:cNvSpPr txBox="1"/>
          <p:nvPr/>
        </p:nvSpPr>
        <p:spPr>
          <a:xfrm>
            <a:off x="685800" y="6263640"/>
            <a:ext cx="10789920" cy="320040"/>
          </a:xfrm>
          <a:prstGeom prst="rect">
            <a:avLst/>
          </a:prstGeom>
          <a:noFill/>
        </p:spPr>
        <p:txBody>
          <a:bodyPr wrap="square" lIns="0" rIns="0" tIns="0" bIns="0" anchor="t">
            <a:spAutoFit/>
          </a:bodyPr>
          <a:lstStyle/>
          <a:p>
            <a:pPr algn="l">
              <a:spcAft>
                <a:spcPts val="0"/>
              </a:spcAft>
            </a:pPr>
            <a:r>
              <a:rPr sz="1050" b="0" i="1">
                <a:solidFill>
                  <a:srgbClr val="6E6E6E"/>
                </a:solidFill>
                <a:latin typeface="Calibri"/>
              </a:rPr>
              <a:t>Which is why these are one code path rather than five special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What verification found</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A sign error that visual inspection could never have caught</a:t>
            </a:r>
          </a:p>
        </p:txBody>
      </p:sp>
      <p:sp>
        <p:nvSpPr>
          <p:cNvPr id="4" name="Rounded Rectangle 3"/>
          <p:cNvSpPr/>
          <p:nvPr/>
        </p:nvSpPr>
        <p:spPr>
          <a:xfrm>
            <a:off x="685800" y="1965960"/>
            <a:ext cx="5257800" cy="32004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86000"/>
            <a:ext cx="4572000" cy="2743200"/>
          </a:xfrm>
          <a:prstGeom prst="rect">
            <a:avLst/>
          </a:prstGeom>
          <a:noFill/>
        </p:spPr>
        <p:txBody>
          <a:bodyPr wrap="square" lIns="0" rIns="0" tIns="0" bIns="0" anchor="t">
            <a:spAutoFit/>
          </a:bodyPr>
          <a:lstStyle/>
          <a:p>
            <a:pPr algn="l">
              <a:spcAft>
                <a:spcPts val="1000"/>
              </a:spcAft>
            </a:pPr>
            <a:r>
              <a:rPr sz="1500" b="1" i="0">
                <a:solidFill>
                  <a:srgbClr val="C45A11"/>
                </a:solidFill>
                <a:latin typeface="Cambria"/>
              </a:rPr>
              <a:t>The fault</a:t>
            </a:r>
          </a:p>
          <a:p>
            <a:pPr>
              <a:spcAft>
                <a:spcPts val="1000"/>
              </a:spcAft>
            </a:pPr>
            <a:r>
              <a:rPr sz="1350" b="0" i="0">
                <a:solidFill>
                  <a:srgbClr val="2B2B2B"/>
                </a:solidFill>
                <a:latin typeface="Calibri"/>
              </a:rPr>
              <a:t>The stance phase swept each foot forwards through the body frame instead of backwards. The stride vector already pointed backwards, and the formula negated it a second time.</a:t>
            </a:r>
          </a:p>
          <a:p>
            <a:pPr>
              <a:spcAft>
                <a:spcPts val="1000"/>
              </a:spcAft>
            </a:pPr>
            <a:r>
              <a:rPr sz="1350" b="0" i="0">
                <a:solidFill>
                  <a:srgbClr val="2B2B2B"/>
                </a:solidFill>
                <a:latin typeface="Calibri"/>
              </a:rPr>
              <a:t>Commanded 0.08 m/s forward, we measured the planted foot being dragged over the ground at 0.16 m/s, in the wrong direction, on three legs at once.</a:t>
            </a:r>
          </a:p>
          <a:p>
            <a:pPr>
              <a:spcAft>
                <a:spcPts val="0"/>
              </a:spcAft>
            </a:pPr>
            <a:r>
              <a:rPr sz="1350" b="1" i="0">
                <a:solidFill>
                  <a:srgbClr val="2B2B2B"/>
                </a:solidFill>
                <a:latin typeface="Calibri"/>
              </a:rPr>
              <a:t>The legs were pushing the robot backwards while the gait believed it was going forwards.</a:t>
            </a:r>
          </a:p>
        </p:txBody>
      </p:sp>
      <p:sp>
        <p:nvSpPr>
          <p:cNvPr id="6" name="Rounded Rectangle 5"/>
          <p:cNvSpPr/>
          <p:nvPr/>
        </p:nvSpPr>
        <p:spPr>
          <a:xfrm>
            <a:off x="6309360" y="1965960"/>
            <a:ext cx="5166360" cy="320040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286000"/>
            <a:ext cx="4480560" cy="2743200"/>
          </a:xfrm>
          <a:prstGeom prst="rect">
            <a:avLst/>
          </a:prstGeom>
          <a:noFill/>
        </p:spPr>
        <p:txBody>
          <a:bodyPr wrap="square" lIns="0" rIns="0" tIns="0" bIns="0" anchor="t">
            <a:spAutoFit/>
          </a:bodyPr>
          <a:lstStyle/>
          <a:p>
            <a:pPr algn="l">
              <a:spcAft>
                <a:spcPts val="1000"/>
              </a:spcAft>
            </a:pPr>
            <a:r>
              <a:rPr sz="1500" b="1" i="0">
                <a:solidFill>
                  <a:srgbClr val="C45A11"/>
                </a:solidFill>
                <a:latin typeface="Cambria"/>
              </a:rPr>
              <a:t>Why our own test passed</a:t>
            </a:r>
          </a:p>
          <a:p>
            <a:pPr>
              <a:spcAft>
                <a:spcPts val="1000"/>
              </a:spcAft>
            </a:pPr>
            <a:r>
              <a:rPr sz="1350" b="0" i="0">
                <a:solidFill>
                  <a:srgbClr val="2B2B2B"/>
                </a:solidFill>
                <a:latin typeface="Calibri"/>
              </a:rPr>
              <a:t>The non-slip check compared the distance the foot travelled against the distance the body travelled.</a:t>
            </a:r>
          </a:p>
          <a:p>
            <a:pPr>
              <a:spcAft>
                <a:spcPts val="1000"/>
              </a:spcAft>
            </a:pPr>
            <a:r>
              <a:rPr sz="1350" b="1" i="0">
                <a:solidFill>
                  <a:srgbClr val="2B2B2B"/>
                </a:solidFill>
                <a:latin typeface="Calibri"/>
              </a:rPr>
              <a:t>Both are distances. A distance has no direction, so a sign error is invisible to it.</a:t>
            </a:r>
          </a:p>
          <a:p>
            <a:pPr>
              <a:spcAft>
                <a:spcPts val="0"/>
              </a:spcAft>
            </a:pPr>
            <a:r>
              <a:rPr sz="1350" b="0" i="0">
                <a:solidFill>
                  <a:srgbClr val="2B2B2B"/>
                </a:solidFill>
                <a:latin typeface="Calibri"/>
              </a:rPr>
              <a:t>The test was checking the right property with the wrong operator, and would have passed indefinitely. It is now a signed vector comparison.</a:t>
            </a:r>
          </a:p>
        </p:txBody>
      </p:sp>
      <p:sp>
        <p:nvSpPr>
          <p:cNvPr id="8" name="TextBox 7"/>
          <p:cNvSpPr txBox="1"/>
          <p:nvPr/>
        </p:nvSpPr>
        <p:spPr>
          <a:xfrm>
            <a:off x="685800" y="5440680"/>
            <a:ext cx="10789920" cy="457200"/>
          </a:xfrm>
          <a:prstGeom prst="rect">
            <a:avLst/>
          </a:prstGeom>
          <a:noFill/>
        </p:spPr>
        <p:txBody>
          <a:bodyPr wrap="square" lIns="0" rIns="0" tIns="0" bIns="0" anchor="t">
            <a:spAutoFit/>
          </a:bodyPr>
          <a:lstStyle/>
          <a:p>
            <a:pPr algn="l">
              <a:spcAft>
                <a:spcPts val="0"/>
              </a:spcAft>
            </a:pPr>
            <a:r>
              <a:rPr sz="1300" b="0" i="1">
                <a:solidFill>
                  <a:srgbClr val="6E6E6E"/>
                </a:solidFill>
                <a:latin typeface="Calibri"/>
              </a:rPr>
              <a:t>Found by comparing our sign conventions against an independently written hexapod stack.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Verification before simulation</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The kinematics and gait have no ROS dependency, so they test in under a second</a:t>
            </a:r>
          </a:p>
        </p:txBody>
      </p:sp>
      <p:sp>
        <p:nvSpPr>
          <p:cNvPr id="4" name="TextBox 3"/>
          <p:cNvSpPr txBox="1"/>
          <p:nvPr/>
        </p:nvSpPr>
        <p:spPr>
          <a:xfrm>
            <a:off x="822960" y="2148840"/>
            <a:ext cx="3017520" cy="77724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3.5e-16 m</a:t>
            </a:r>
          </a:p>
        </p:txBody>
      </p:sp>
      <p:sp>
        <p:nvSpPr>
          <p:cNvPr id="5" name="TextBox 4"/>
          <p:cNvSpPr txBox="1"/>
          <p:nvPr/>
        </p:nvSpPr>
        <p:spPr>
          <a:xfrm>
            <a:off x="822960" y="2862072"/>
            <a:ext cx="301752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worst inverse kinematics
round trip error</a:t>
            </a:r>
          </a:p>
        </p:txBody>
      </p:sp>
      <p:sp>
        <p:nvSpPr>
          <p:cNvPr id="6" name="TextBox 5"/>
          <p:cNvSpPr txBox="1"/>
          <p:nvPr/>
        </p:nvSpPr>
        <p:spPr>
          <a:xfrm>
            <a:off x="4480560" y="2148840"/>
            <a:ext cx="301752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498</a:t>
            </a:r>
          </a:p>
        </p:txBody>
      </p:sp>
      <p:sp>
        <p:nvSpPr>
          <p:cNvPr id="7" name="TextBox 6"/>
          <p:cNvSpPr txBox="1"/>
          <p:nvPr/>
        </p:nvSpPr>
        <p:spPr>
          <a:xfrm>
            <a:off x="4480560" y="2862072"/>
            <a:ext cx="301752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gait assertions passing</a:t>
            </a:r>
          </a:p>
        </p:txBody>
      </p:sp>
      <p:sp>
        <p:nvSpPr>
          <p:cNvPr id="8" name="TextBox 7"/>
          <p:cNvSpPr txBox="1"/>
          <p:nvPr/>
        </p:nvSpPr>
        <p:spPr>
          <a:xfrm>
            <a:off x="8138160" y="2148840"/>
            <a:ext cx="3017520" cy="777240"/>
          </a:xfrm>
          <a:prstGeom prst="rect">
            <a:avLst/>
          </a:prstGeom>
          <a:noFill/>
        </p:spPr>
        <p:txBody>
          <a:bodyPr wrap="square" lIns="0" rIns="0" tIns="0" bIns="0" anchor="t">
            <a:spAutoFit/>
          </a:bodyPr>
          <a:lstStyle/>
          <a:p>
            <a:pPr algn="ctr">
              <a:spcAft>
                <a:spcPts val="0"/>
              </a:spcAft>
            </a:pPr>
            <a:r>
              <a:rPr sz="4400" b="1" i="0">
                <a:solidFill>
                  <a:srgbClr val="C45A11"/>
                </a:solidFill>
                <a:latin typeface="Cambria"/>
              </a:rPr>
              <a:t>32</a:t>
            </a:r>
          </a:p>
        </p:txBody>
      </p:sp>
      <p:sp>
        <p:nvSpPr>
          <p:cNvPr id="9" name="TextBox 8"/>
          <p:cNvSpPr txBox="1"/>
          <p:nvPr/>
        </p:nvSpPr>
        <p:spPr>
          <a:xfrm>
            <a:off x="8138160" y="2862072"/>
            <a:ext cx="3017520" cy="731520"/>
          </a:xfrm>
          <a:prstGeom prst="rect">
            <a:avLst/>
          </a:prstGeom>
          <a:noFill/>
        </p:spPr>
        <p:txBody>
          <a:bodyPr wrap="square" lIns="0" rIns="0" tIns="0" bIns="0" anchor="t">
            <a:spAutoFit/>
          </a:bodyPr>
          <a:lstStyle/>
          <a:p>
            <a:pPr algn="ctr">
              <a:spcAft>
                <a:spcPts val="0"/>
              </a:spcAft>
            </a:pPr>
            <a:r>
              <a:rPr sz="1200" b="0" i="0">
                <a:solidFill>
                  <a:srgbClr val="6E6E6E"/>
                </a:solidFill>
                <a:latin typeface="Calibri"/>
              </a:rPr>
              <a:t>kinematics assertions passing</a:t>
            </a:r>
          </a:p>
        </p:txBody>
      </p:sp>
      <p:sp>
        <p:nvSpPr>
          <p:cNvPr id="10" name="TextBox 9"/>
          <p:cNvSpPr txBox="1"/>
          <p:nvPr/>
        </p:nvSpPr>
        <p:spPr>
          <a:xfrm>
            <a:off x="822960" y="4114800"/>
            <a:ext cx="10515600" cy="1828800"/>
          </a:xfrm>
          <a:prstGeom prst="rect">
            <a:avLst/>
          </a:prstGeom>
          <a:noFill/>
        </p:spPr>
        <p:txBody>
          <a:bodyPr wrap="square" lIns="0" rIns="0" tIns="0" bIns="0" anchor="t">
            <a:spAutoFit/>
          </a:bodyPr>
          <a:lstStyle/>
          <a:p>
            <a:pPr algn="l">
              <a:spcAft>
                <a:spcPts val="1000"/>
              </a:spcAft>
            </a:pPr>
            <a:r>
              <a:rPr sz="1500" b="1" i="0">
                <a:solidFill>
                  <a:srgbClr val="C45A11"/>
                </a:solidFill>
                <a:latin typeface="Cambria"/>
              </a:rPr>
              <a:t>What the gait suite checks</a:t>
            </a:r>
          </a:p>
          <a:p>
            <a:pPr>
              <a:spcAft>
                <a:spcPts val="0"/>
              </a:spcAft>
            </a:pPr>
            <a:r>
              <a:rPr sz="1350" b="0" i="0">
                <a:solidFill>
                  <a:srgbClr val="2B2B2B"/>
                </a:solidFill>
                <a:latin typeface="Calibri"/>
              </a:rPr>
              <a:t>Exactly three feet down at every sampled phase.  Tripod groups exactly half a cycle apart.  No positional jump at the stance and swing handover.  Stance foot velocity zero relative to the ground.  Full 45 mm swing clearance.  Stance travel matching body travel in size and direction.  Every velocity in the allowed envelope reachable within joint limits.</a:t>
            </a:r>
          </a:p>
        </p:txBody>
      </p:sp>
      <p:sp>
        <p:nvSpPr>
          <p:cNvPr id="11" name="TextBox 10"/>
          <p:cNvSpPr txBox="1"/>
          <p:nvPr/>
        </p:nvSpPr>
        <p:spPr>
          <a:xfrm>
            <a:off x="685800" y="6263640"/>
            <a:ext cx="10789920" cy="320040"/>
          </a:xfrm>
          <a:prstGeom prst="rect">
            <a:avLst/>
          </a:prstGeom>
          <a:noFill/>
        </p:spPr>
        <p:txBody>
          <a:bodyPr wrap="square" lIns="0" rIns="0" tIns="0" bIns="0" anchor="t">
            <a:spAutoFit/>
          </a:bodyPr>
          <a:lstStyle/>
          <a:p>
            <a:pPr algn="l">
              <a:spcAft>
                <a:spcPts val="0"/>
              </a:spcAft>
            </a:pPr>
            <a:r>
              <a:rPr sz="1050" b="0" i="1">
                <a:solidFill>
                  <a:srgbClr val="6E6E6E"/>
                </a:solidFill>
                <a:latin typeface="Calibri"/>
              </a:rPr>
              <a:t>A phase is not finished because code was written. It is finished when a stated check passes.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Three simulation configurations compared</a:t>
            </a:r>
          </a:p>
        </p:txBody>
      </p:sp>
      <p:sp>
        <p:nvSpPr>
          <p:cNvPr id="3" name="TextBox 2"/>
          <p:cNvSpPr txBox="1"/>
          <p:nvPr/>
        </p:nvSpPr>
        <p:spPr>
          <a:xfrm>
            <a:off x="685800" y="1417320"/>
            <a:ext cx="10789920" cy="411480"/>
          </a:xfrm>
          <a:prstGeom prst="rect">
            <a:avLst/>
          </a:prstGeom>
          <a:noFill/>
        </p:spPr>
        <p:txBody>
          <a:bodyPr wrap="square" lIns="0" rIns="0" tIns="0" bIns="0" anchor="t">
            <a:spAutoFit/>
          </a:bodyPr>
          <a:lstStyle/>
          <a:p>
            <a:pPr algn="l">
              <a:spcAft>
                <a:spcPts val="0"/>
              </a:spcAft>
            </a:pPr>
            <a:r>
              <a:rPr sz="1500" b="0" i="0">
                <a:solidFill>
                  <a:srgbClr val="6E6E6E"/>
                </a:solidFill>
                <a:latin typeface="Calibri"/>
              </a:rPr>
              <a:t>Each commanded forward at 0.03 m/s for 20 s, measured from ground truth</a:t>
            </a:r>
          </a:p>
        </p:txBody>
      </p:sp>
      <p:graphicFrame>
        <p:nvGraphicFramePr>
          <p:cNvPr id="4" name="Table 3"/>
          <p:cNvGraphicFramePr>
            <a:graphicFrameLocks noGrp="1"/>
          </p:cNvGraphicFramePr>
          <p:nvPr/>
        </p:nvGraphicFramePr>
        <p:xfrm>
          <a:off x="685800" y="2057400"/>
          <a:ext cx="10789920" cy="1901952"/>
        </p:xfrm>
        <a:graphic>
          <a:graphicData uri="http://schemas.openxmlformats.org/drawingml/2006/table">
            <a:tbl>
              <a:tblPr firstRow="1" bandRow="1">
                <a:tableStyleId>{5C22544A-7EE6-4342-B048-85BDC9FD1C3A}</a:tableStyleId>
              </a:tblPr>
              <a:tblGrid>
                <a:gridCol w="3291840"/>
                <a:gridCol w="1737360"/>
                <a:gridCol w="1463040"/>
                <a:gridCol w="4297680"/>
              </a:tblGrid>
              <a:tr h="475488">
                <a:tc>
                  <a:txBody>
                    <a:bodyPr/>
                    <a:lstStyle/>
                    <a:p>
                      <a:r>
                        <a:rPr sz="1250" b="1">
                          <a:solidFill>
                            <a:srgbClr val="FFFFFF"/>
                          </a:solidFill>
                          <a:latin typeface="Calibri"/>
                        </a:rPr>
                        <a:t>Configuration</a:t>
                      </a:r>
                    </a:p>
                  </a:txBody>
                  <a:tcPr marL="91440" marR="91440" anchor="ctr">
                    <a:solidFill>
                      <a:srgbClr val="33383D"/>
                    </a:solidFill>
                  </a:tcPr>
                </a:tc>
                <a:tc>
                  <a:txBody>
                    <a:bodyPr/>
                    <a:lstStyle/>
                    <a:p>
                      <a:r>
                        <a:rPr sz="1250" b="1">
                          <a:solidFill>
                            <a:srgbClr val="FFFFFF"/>
                          </a:solidFill>
                          <a:latin typeface="Calibri"/>
                        </a:rPr>
                        <a:t>Body travel</a:t>
                      </a:r>
                    </a:p>
                  </a:txBody>
                  <a:tcPr marL="91440" marR="91440" anchor="ctr">
                    <a:solidFill>
                      <a:srgbClr val="33383D"/>
                    </a:solidFill>
                  </a:tcPr>
                </a:tc>
                <a:tc>
                  <a:txBody>
                    <a:bodyPr/>
                    <a:lstStyle/>
                    <a:p>
                      <a:r>
                        <a:rPr sz="1250" b="1">
                          <a:solidFill>
                            <a:srgbClr val="FFFFFF"/>
                          </a:solidFill>
                          <a:latin typeface="Calibri"/>
                        </a:rPr>
                        <a:t>Tracking</a:t>
                      </a:r>
                    </a:p>
                  </a:txBody>
                  <a:tcPr marL="91440" marR="91440" anchor="ctr">
                    <a:solidFill>
                      <a:srgbClr val="33383D"/>
                    </a:solidFill>
                  </a:tcPr>
                </a:tc>
                <a:tc>
                  <a:txBody>
                    <a:bodyPr/>
                    <a:lstStyle/>
                    <a:p>
                      <a:r>
                        <a:rPr sz="1250" b="1">
                          <a:solidFill>
                            <a:srgbClr val="FFFFFF"/>
                          </a:solidFill>
                          <a:latin typeface="Calibri"/>
                        </a:rPr>
                        <a:t>Result</a:t>
                      </a:r>
                    </a:p>
                  </a:txBody>
                  <a:tcPr marL="91440" marR="91440" anchor="ctr">
                    <a:solidFill>
                      <a:srgbClr val="33383D"/>
                    </a:solidFill>
                  </a:tcPr>
                </a:tc>
              </a:tr>
              <a:tr h="475488">
                <a:tc>
                  <a:txBody>
                    <a:bodyPr/>
                    <a:lstStyle/>
                    <a:p>
                      <a:r>
                        <a:rPr sz="1250" b="1">
                          <a:solidFill>
                            <a:srgbClr val="2B2B2B"/>
                          </a:solidFill>
                          <a:latin typeface="Calibri"/>
                        </a:rPr>
                        <a:t>Position interface, measured model</a:t>
                      </a:r>
                    </a:p>
                  </a:txBody>
                  <a:tcPr marL="91440" marR="91440" anchor="ctr">
                    <a:solidFill>
                      <a:srgbClr val="FFFFFF"/>
                    </a:solidFill>
                  </a:tcPr>
                </a:tc>
                <a:tc>
                  <a:txBody>
                    <a:bodyPr/>
                    <a:lstStyle/>
                    <a:p>
                      <a:r>
                        <a:rPr sz="1250" b="0">
                          <a:solidFill>
                            <a:srgbClr val="2B2B2B"/>
                          </a:solidFill>
                          <a:latin typeface="Calibri"/>
                        </a:rPr>
                        <a:t>0.4 mm</a:t>
                      </a:r>
                    </a:p>
                  </a:txBody>
                  <a:tcPr marL="91440" marR="91440" anchor="ctr">
                    <a:solidFill>
                      <a:srgbClr val="FFFFFF"/>
                    </a:solidFill>
                  </a:tcPr>
                </a:tc>
                <a:tc>
                  <a:txBody>
                    <a:bodyPr/>
                    <a:lstStyle/>
                    <a:p>
                      <a:r>
                        <a:rPr sz="1250" b="0">
                          <a:solidFill>
                            <a:srgbClr val="2B2B2B"/>
                          </a:solidFill>
                          <a:latin typeface="Calibri"/>
                        </a:rPr>
                        <a:t>0 %</a:t>
                      </a:r>
                    </a:p>
                  </a:txBody>
                  <a:tcPr marL="91440" marR="91440" anchor="ctr">
                    <a:solidFill>
                      <a:srgbClr val="FFFFFF"/>
                    </a:solidFill>
                  </a:tcPr>
                </a:tc>
                <a:tc>
                  <a:txBody>
                    <a:bodyPr/>
                    <a:lstStyle/>
                    <a:p>
                      <a:r>
                        <a:rPr sz="1250" b="0">
                          <a:solidFill>
                            <a:srgbClr val="2B2B2B"/>
                          </a:solidFill>
                          <a:latin typeface="Calibri"/>
                        </a:rPr>
                        <a:t>Legs cycle correctly, body does not move</a:t>
                      </a:r>
                    </a:p>
                  </a:txBody>
                  <a:tcPr marL="91440" marR="91440" anchor="ctr">
                    <a:solidFill>
                      <a:srgbClr val="FFFFFF"/>
                    </a:solidFill>
                  </a:tcPr>
                </a:tc>
              </a:tr>
              <a:tr h="475488">
                <a:tc>
                  <a:txBody>
                    <a:bodyPr/>
                    <a:lstStyle/>
                    <a:p>
                      <a:r>
                        <a:rPr sz="1250" b="1">
                          <a:solidFill>
                            <a:srgbClr val="2B2B2B"/>
                          </a:solidFill>
                          <a:latin typeface="Calibri"/>
                        </a:rPr>
                        <a:t>Effort interface, light model</a:t>
                      </a:r>
                    </a:p>
                  </a:txBody>
                  <a:tcPr marL="91440" marR="91440" anchor="ctr">
                    <a:solidFill>
                      <a:srgbClr val="F2F2F2"/>
                    </a:solidFill>
                  </a:tcPr>
                </a:tc>
                <a:tc>
                  <a:txBody>
                    <a:bodyPr/>
                    <a:lstStyle/>
                    <a:p>
                      <a:r>
                        <a:rPr sz="1250" b="0">
                          <a:solidFill>
                            <a:srgbClr val="2B2B2B"/>
                          </a:solidFill>
                          <a:latin typeface="Calibri"/>
                        </a:rPr>
                        <a:t>0.59 m</a:t>
                      </a:r>
                    </a:p>
                  </a:txBody>
                  <a:tcPr marL="91440" marR="91440" anchor="ctr">
                    <a:solidFill>
                      <a:srgbClr val="F2F2F2"/>
                    </a:solidFill>
                  </a:tcPr>
                </a:tc>
                <a:tc>
                  <a:txBody>
                    <a:bodyPr/>
                    <a:lstStyle/>
                    <a:p>
                      <a:r>
                        <a:rPr sz="1250" b="0">
                          <a:solidFill>
                            <a:srgbClr val="2B2B2B"/>
                          </a:solidFill>
                          <a:latin typeface="Calibri"/>
                        </a:rPr>
                        <a:t>99 %</a:t>
                      </a:r>
                    </a:p>
                  </a:txBody>
                  <a:tcPr marL="91440" marR="91440" anchor="ctr">
                    <a:solidFill>
                      <a:srgbClr val="F2F2F2"/>
                    </a:solidFill>
                  </a:tcPr>
                </a:tc>
                <a:tc>
                  <a:txBody>
                    <a:bodyPr/>
                    <a:lstStyle/>
                    <a:p>
                      <a:r>
                        <a:rPr sz="1250" b="0">
                          <a:solidFill>
                            <a:srgbClr val="2B2B2B"/>
                          </a:solidFill>
                          <a:latin typeface="Calibri"/>
                        </a:rPr>
                        <a:t>Walks, but rises 5 cm and tilts 12 degrees</a:t>
                      </a:r>
                    </a:p>
                  </a:txBody>
                  <a:tcPr marL="91440" marR="91440" anchor="ctr">
                    <a:solidFill>
                      <a:srgbClr val="F2F2F2"/>
                    </a:solidFill>
                  </a:tcPr>
                </a:tc>
              </a:tr>
              <a:tr h="475488">
                <a:tc>
                  <a:txBody>
                    <a:bodyPr/>
                    <a:lstStyle/>
                    <a:p>
                      <a:r>
                        <a:rPr sz="1250" b="1">
                          <a:solidFill>
                            <a:srgbClr val="2B2B2B"/>
                          </a:solidFill>
                          <a:latin typeface="Calibri"/>
                        </a:rPr>
                        <a:t>Effort interface, measured model</a:t>
                      </a:r>
                    </a:p>
                  </a:txBody>
                  <a:tcPr marL="91440" marR="91440" anchor="ctr">
                    <a:solidFill>
                      <a:srgbClr val="FFFFFF"/>
                    </a:solidFill>
                  </a:tcPr>
                </a:tc>
                <a:tc>
                  <a:txBody>
                    <a:bodyPr/>
                    <a:lstStyle/>
                    <a:p>
                      <a:r>
                        <a:rPr sz="1250" b="0">
                          <a:solidFill>
                            <a:srgbClr val="2B2B2B"/>
                          </a:solidFill>
                          <a:latin typeface="Calibri"/>
                        </a:rPr>
                        <a:t>not measured</a:t>
                      </a:r>
                    </a:p>
                  </a:txBody>
                  <a:tcPr marL="91440" marR="91440" anchor="ctr">
                    <a:solidFill>
                      <a:srgbClr val="FFFFFF"/>
                    </a:solidFill>
                  </a:tcPr>
                </a:tc>
                <a:tc>
                  <a:txBody>
                    <a:bodyPr/>
                    <a:lstStyle/>
                    <a:p>
                      <a:r>
                        <a:rPr sz="1250" b="0">
                          <a:solidFill>
                            <a:srgbClr val="2B2B2B"/>
                          </a:solidFill>
                          <a:latin typeface="Calibri"/>
                        </a:rPr>
                        <a:t>not measured</a:t>
                      </a:r>
                    </a:p>
                  </a:txBody>
                  <a:tcPr marL="91440" marR="91440" anchor="ctr">
                    <a:solidFill>
                      <a:srgbClr val="FFFFFF"/>
                    </a:solidFill>
                  </a:tcPr>
                </a:tc>
                <a:tc>
                  <a:txBody>
                    <a:bodyPr/>
                    <a:lstStyle/>
                    <a:p>
                      <a:r>
                        <a:rPr sz="1250" b="0">
                          <a:solidFill>
                            <a:srgbClr val="2B2B2B"/>
                          </a:solidFill>
                          <a:latin typeface="Calibri"/>
                        </a:rPr>
                        <a:t>Body stays at the origin, unresolved</a:t>
                      </a:r>
                    </a:p>
                  </a:txBody>
                  <a:tcPr marL="91440" marR="91440" anchor="ctr">
                    <a:solidFill>
                      <a:srgbClr val="FFFFFF"/>
                    </a:solidFill>
                  </a:tcPr>
                </a:tc>
              </a:tr>
            </a:tbl>
          </a:graphicData>
        </a:graphic>
      </p:graphicFrame>
      <p:sp>
        <p:nvSpPr>
          <p:cNvPr id="5" name="TextBox 4"/>
          <p:cNvSpPr txBox="1"/>
          <p:nvPr/>
        </p:nvSpPr>
        <p:spPr>
          <a:xfrm>
            <a:off x="685800" y="4709160"/>
            <a:ext cx="10789920" cy="1828800"/>
          </a:xfrm>
          <a:prstGeom prst="rect">
            <a:avLst/>
          </a:prstGeom>
          <a:noFill/>
        </p:spPr>
        <p:txBody>
          <a:bodyPr wrap="square" lIns="0" rIns="0" tIns="0" bIns="0" anchor="t">
            <a:spAutoFit/>
          </a:bodyPr>
          <a:lstStyle/>
          <a:p>
            <a:pPr algn="l">
              <a:spcAft>
                <a:spcPts val="800"/>
              </a:spcAft>
            </a:pPr>
            <a:r>
              <a:rPr sz="1500" b="1" i="0">
                <a:solidFill>
                  <a:srgbClr val="C45A11"/>
                </a:solidFill>
                <a:latin typeface="Cambria"/>
              </a:rPr>
              <a:t>Why position control cannot walk</a:t>
            </a:r>
          </a:p>
          <a:p>
            <a:pPr>
              <a:spcAft>
                <a:spcPts val="800"/>
              </a:spcAft>
            </a:pPr>
            <a:r>
              <a:rPr sz="1350" b="0" i="0">
                <a:solidFill>
                  <a:srgbClr val="2B2B2B"/>
                </a:solidFill>
                <a:latin typeface="Calibri"/>
              </a:rPr>
              <a:t>Gazebo carries out a position command by relocating the joint without giving it a velocity. Contact friction is computed from sliding velocity, so the solver sees a stationary foot and generates no propulsion. The controller tracked its commands to four decimal places. It did exactly what it was told and the physics still produced no motion.</a:t>
            </a:r>
          </a:p>
          <a:p>
            <a:pPr>
              <a:spcAft>
                <a:spcPts val="0"/>
              </a:spcAft>
            </a:pPr>
            <a:r>
              <a:rPr sz="1350" b="0" i="0">
                <a:solidFill>
                  <a:srgbClr val="6E6E6E"/>
                </a:solidFill>
                <a:latin typeface="Calibri"/>
              </a:rPr>
              <a:t>The light model walks because it is not physical. At 0.00001 kg per link, gravity torque is negligible and a crude controller has far more authority than it needs.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1005840" y="2286000"/>
            <a:ext cx="10149840" cy="2377440"/>
          </a:xfrm>
          <a:prstGeom prst="rect">
            <a:avLst/>
          </a:prstGeom>
          <a:noFill/>
        </p:spPr>
        <p:txBody>
          <a:bodyPr wrap="square" lIns="0" rIns="0" tIns="0" bIns="0" anchor="t">
            <a:spAutoFit/>
          </a:bodyPr>
          <a:lstStyle/>
          <a:p>
            <a:pPr algn="l">
              <a:spcAft>
                <a:spcPts val="1800"/>
              </a:spcAft>
            </a:pPr>
            <a:r>
              <a:rPr sz="4000" b="1" i="0">
                <a:solidFill>
                  <a:srgbClr val="FFFFFF"/>
                </a:solidFill>
                <a:latin typeface="Cambria"/>
              </a:rPr>
              <a:t>Demonstration</a:t>
            </a:r>
          </a:p>
          <a:p>
            <a:pPr>
              <a:spcAft>
                <a:spcPts val="1000"/>
              </a:spcAft>
            </a:pPr>
            <a:r>
              <a:rPr sz="1700" b="0" i="0">
                <a:solidFill>
                  <a:srgbClr val="DDDDDD"/>
                </a:solidFill>
                <a:latin typeface="Calibri"/>
              </a:rPr>
              <a:t>Kinematic simulation. Leg trajectories come from the gait generator and the analytic inverse kinematics, with nothing animated.</a:t>
            </a:r>
          </a:p>
          <a:p>
            <a:pPr>
              <a:spcAft>
                <a:spcPts val="0"/>
              </a:spcAft>
            </a:pPr>
            <a:r>
              <a:rPr sz="1700" b="0" i="0">
                <a:solidFill>
                  <a:srgbClr val="DDDDDD"/>
                </a:solidFill>
                <a:latin typeface="Calibri"/>
              </a:rPr>
              <a:t>The body displacement is what those trajectories geometrically require, because the gait is provably non-slip.</a:t>
            </a:r>
          </a:p>
        </p:txBody>
      </p:sp>
      <p:sp>
        <p:nvSpPr>
          <p:cNvPr id="3" name="TextBox 2"/>
          <p:cNvSpPr txBox="1"/>
          <p:nvPr/>
        </p:nvSpPr>
        <p:spPr>
          <a:xfrm>
            <a:off x="1005840" y="5120640"/>
            <a:ext cx="10149840" cy="822960"/>
          </a:xfrm>
          <a:prstGeom prst="rect">
            <a:avLst/>
          </a:prstGeom>
          <a:noFill/>
        </p:spPr>
        <p:txBody>
          <a:bodyPr wrap="square" lIns="0" rIns="0" tIns="0" bIns="0" anchor="t">
            <a:spAutoFit/>
          </a:bodyPr>
          <a:lstStyle/>
          <a:p>
            <a:pPr algn="l">
              <a:spcAft>
                <a:spcPts val="0"/>
              </a:spcAft>
            </a:pPr>
            <a:r>
              <a:rPr sz="1500" b="1" i="0">
                <a:solidFill>
                  <a:srgbClr val="E89A4F"/>
                </a:solidFill>
                <a:latin typeface="Calibri"/>
              </a:rPr>
              <a:t>Forward, reverse, strafe, turn both directions, and an arc.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Status and what is unfinished</a:t>
            </a:r>
          </a:p>
        </p:txBody>
      </p:sp>
      <p:sp>
        <p:nvSpPr>
          <p:cNvPr id="3" name="Rounded Rectangle 2"/>
          <p:cNvSpPr/>
          <p:nvPr/>
        </p:nvSpPr>
        <p:spPr>
          <a:xfrm>
            <a:off x="685800" y="1965960"/>
            <a:ext cx="5257800" cy="39319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286000"/>
            <a:ext cx="4572000" cy="3383280"/>
          </a:xfrm>
          <a:prstGeom prst="rect">
            <a:avLst/>
          </a:prstGeom>
          <a:noFill/>
        </p:spPr>
        <p:txBody>
          <a:bodyPr wrap="square" lIns="0" rIns="0" tIns="0" bIns="0" anchor="t">
            <a:spAutoFit/>
          </a:bodyPr>
          <a:lstStyle/>
          <a:p>
            <a:pPr algn="l">
              <a:spcAft>
                <a:spcPts val="1000"/>
              </a:spcAft>
            </a:pPr>
            <a:r>
              <a:rPr sz="1600" b="1" i="0">
                <a:solidFill>
                  <a:srgbClr val="C45A11"/>
                </a:solidFill>
                <a:latin typeface="Cambria"/>
              </a:rPr>
              <a:t>Complete</a:t>
            </a:r>
          </a:p>
          <a:p>
            <a:pPr>
              <a:spcAft>
                <a:spcPts val="700"/>
              </a:spcAft>
            </a:pPr>
            <a:r>
              <a:rPr sz="1350" b="0" i="0">
                <a:solidFill>
                  <a:srgbClr val="2B2B2B"/>
                </a:solidFill>
                <a:latin typeface="Calibri"/>
              </a:rPr>
              <a:t>•  CAD converted to a ROS 2 model</a:t>
            </a:r>
          </a:p>
          <a:p>
            <a:pPr>
              <a:spcAft>
                <a:spcPts val="700"/>
              </a:spcAft>
            </a:pPr>
            <a:r>
              <a:rPr sz="1350" b="0" i="0">
                <a:solidFill>
                  <a:srgbClr val="2B2B2B"/>
                </a:solidFill>
                <a:latin typeface="Calibri"/>
              </a:rPr>
              <a:t>•  Masses, inertias, collision, friction</a:t>
            </a:r>
          </a:p>
          <a:p>
            <a:pPr>
              <a:spcAft>
                <a:spcPts val="700"/>
              </a:spcAft>
            </a:pPr>
            <a:r>
              <a:rPr sz="1350" b="0" i="0">
                <a:solidFill>
                  <a:srgbClr val="2B2B2B"/>
                </a:solidFill>
                <a:latin typeface="Calibri"/>
              </a:rPr>
              <a:t>•  Spawns and stands in Gazebo</a:t>
            </a:r>
          </a:p>
          <a:p>
            <a:pPr>
              <a:spcAft>
                <a:spcPts val="700"/>
              </a:spcAft>
            </a:pPr>
            <a:r>
              <a:rPr sz="1350" b="0" i="0">
                <a:solidFill>
                  <a:srgbClr val="2B2B2B"/>
                </a:solidFill>
                <a:latin typeface="Calibri"/>
              </a:rPr>
              <a:t>•  ros2_control, all controllers active</a:t>
            </a:r>
          </a:p>
          <a:p>
            <a:pPr>
              <a:spcAft>
                <a:spcPts val="700"/>
              </a:spcAft>
            </a:pPr>
            <a:r>
              <a:rPr sz="1350" b="0" i="0">
                <a:solidFill>
                  <a:srgbClr val="2B2B2B"/>
                </a:solidFill>
                <a:latin typeface="Calibri"/>
              </a:rPr>
              <a:t>•  All 18 joints verified individually</a:t>
            </a:r>
          </a:p>
          <a:p>
            <a:pPr>
              <a:spcAft>
                <a:spcPts val="700"/>
              </a:spcAft>
            </a:pPr>
            <a:r>
              <a:rPr sz="1350" b="0" i="0">
                <a:solidFill>
                  <a:srgbClr val="2B2B2B"/>
                </a:solidFill>
                <a:latin typeface="Calibri"/>
              </a:rPr>
              <a:t>•  Inverse kinematics, verified</a:t>
            </a:r>
          </a:p>
          <a:p>
            <a:pPr>
              <a:spcAft>
                <a:spcPts val="700"/>
              </a:spcAft>
            </a:pPr>
            <a:r>
              <a:rPr sz="1350" b="0" i="0">
                <a:solidFill>
                  <a:srgbClr val="2B2B2B"/>
                </a:solidFill>
                <a:latin typeface="Calibri"/>
              </a:rPr>
              <a:t>•  Tripod gait, verified</a:t>
            </a:r>
          </a:p>
          <a:p>
            <a:pPr>
              <a:spcAft>
                <a:spcPts val="700"/>
              </a:spcAft>
            </a:pPr>
            <a:r>
              <a:rPr sz="1350" b="0" i="0">
                <a:solidFill>
                  <a:srgbClr val="2B2B2B"/>
                </a:solidFill>
                <a:latin typeface="Calibri"/>
              </a:rPr>
              <a:t>•  Teleoperation and walking demonstration</a:t>
            </a:r>
          </a:p>
        </p:txBody>
      </p:sp>
      <p:sp>
        <p:nvSpPr>
          <p:cNvPr id="5" name="Rounded Rectangle 4"/>
          <p:cNvSpPr/>
          <p:nvPr/>
        </p:nvSpPr>
        <p:spPr>
          <a:xfrm>
            <a:off x="6309360" y="1965960"/>
            <a:ext cx="5166360" cy="39319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2286000"/>
            <a:ext cx="4480560" cy="3383280"/>
          </a:xfrm>
          <a:prstGeom prst="rect">
            <a:avLst/>
          </a:prstGeom>
          <a:noFill/>
        </p:spPr>
        <p:txBody>
          <a:bodyPr wrap="square" lIns="0" rIns="0" tIns="0" bIns="0" anchor="t">
            <a:spAutoFit/>
          </a:bodyPr>
          <a:lstStyle/>
          <a:p>
            <a:pPr algn="l">
              <a:spcAft>
                <a:spcPts val="1000"/>
              </a:spcAft>
            </a:pPr>
            <a:r>
              <a:rPr sz="1600" b="1" i="0">
                <a:solidFill>
                  <a:srgbClr val="C45A11"/>
                </a:solidFill>
                <a:latin typeface="Cambria"/>
              </a:rPr>
              <a:t>Not finished</a:t>
            </a:r>
          </a:p>
          <a:p>
            <a:pPr>
              <a:spcAft>
                <a:spcPts val="900"/>
              </a:spcAft>
            </a:pPr>
            <a:r>
              <a:rPr sz="1350" b="0" i="0">
                <a:solidFill>
                  <a:srgbClr val="2B2B2B"/>
                </a:solidFill>
                <a:latin typeface="Calibri"/>
              </a:rPr>
              <a:t>Walking under full dynamics with the measured model. Characterised but not solved.</a:t>
            </a:r>
          </a:p>
          <a:p>
            <a:pPr>
              <a:spcAft>
                <a:spcPts val="900"/>
              </a:spcAft>
            </a:pPr>
            <a:r>
              <a:rPr sz="1350" b="0" i="0">
                <a:solidFill>
                  <a:srgbClr val="2B2B2B"/>
                </a:solidFill>
                <a:latin typeface="Calibri"/>
              </a:rPr>
              <a:t>Effort control gains untuned. A velocity feedforward parameter is silently rejected because its format changed between ROS 2 releases, so that term is currently inactive.</a:t>
            </a:r>
          </a:p>
          <a:p>
            <a:pPr>
              <a:spcAft>
                <a:spcPts val="0"/>
              </a:spcAft>
            </a:pPr>
            <a:r>
              <a:rPr sz="1350" b="0" i="0">
                <a:solidFill>
                  <a:srgbClr val="2B2B2B"/>
                </a:solidFill>
                <a:latin typeface="Calibri"/>
              </a:rPr>
              <a:t>Hardware interface exists as architecture only. No servo driver written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789920" cy="914400"/>
          </a:xfrm>
          <a:prstGeom prst="rect">
            <a:avLst/>
          </a:prstGeom>
          <a:noFill/>
        </p:spPr>
        <p:txBody>
          <a:bodyPr wrap="square" lIns="0" rIns="0" tIns="0" bIns="0" anchor="t">
            <a:spAutoFit/>
          </a:bodyPr>
          <a:lstStyle/>
          <a:p>
            <a:pPr algn="l">
              <a:spcAft>
                <a:spcPts val="0"/>
              </a:spcAft>
            </a:pPr>
            <a:r>
              <a:rPr sz="3400" b="1" i="0">
                <a:solidFill>
                  <a:srgbClr val="2B2B2B"/>
                </a:solidFill>
                <a:latin typeface="Cambria"/>
              </a:rPr>
              <a:t>Next phase</a:t>
            </a:r>
          </a:p>
        </p:txBody>
      </p:sp>
      <p:sp>
        <p:nvSpPr>
          <p:cNvPr id="3" name="Rounded Rectangle 2"/>
          <p:cNvSpPr/>
          <p:nvPr/>
        </p:nvSpPr>
        <p:spPr>
          <a:xfrm>
            <a:off x="685800" y="2103120"/>
            <a:ext cx="10789920" cy="713232"/>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9424"/>
            <a:ext cx="457200" cy="457200"/>
          </a:xfrm>
          <a:prstGeom prst="rect">
            <a:avLst/>
          </a:prstGeom>
          <a:noFill/>
        </p:spPr>
        <p:txBody>
          <a:bodyPr wrap="square" lIns="0" rIns="0" tIns="0" bIns="0" anchor="t">
            <a:spAutoFit/>
          </a:bodyPr>
          <a:lstStyle/>
          <a:p>
            <a:pPr algn="l">
              <a:spcAft>
                <a:spcPts val="0"/>
              </a:spcAft>
            </a:pPr>
            <a:r>
              <a:rPr sz="2000" b="1" i="0">
                <a:solidFill>
                  <a:srgbClr val="C45A11"/>
                </a:solidFill>
                <a:latin typeface="Cambria"/>
              </a:rPr>
              <a:t>1</a:t>
            </a:r>
          </a:p>
        </p:txBody>
      </p:sp>
      <p:sp>
        <p:nvSpPr>
          <p:cNvPr id="5" name="TextBox 4"/>
          <p:cNvSpPr txBox="1"/>
          <p:nvPr/>
        </p:nvSpPr>
        <p:spPr>
          <a:xfrm>
            <a:off x="1691640" y="2286000"/>
            <a:ext cx="9418320" cy="45720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Find the cause of the fixed base under effort control</a:t>
            </a:r>
          </a:p>
        </p:txBody>
      </p:sp>
      <p:sp>
        <p:nvSpPr>
          <p:cNvPr id="6" name="Rounded Rectangle 5"/>
          <p:cNvSpPr/>
          <p:nvPr/>
        </p:nvSpPr>
        <p:spPr>
          <a:xfrm>
            <a:off x="685800" y="2944368"/>
            <a:ext cx="10789920" cy="713232"/>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90672"/>
            <a:ext cx="457200" cy="457200"/>
          </a:xfrm>
          <a:prstGeom prst="rect">
            <a:avLst/>
          </a:prstGeom>
          <a:noFill/>
        </p:spPr>
        <p:txBody>
          <a:bodyPr wrap="square" lIns="0" rIns="0" tIns="0" bIns="0" anchor="t">
            <a:spAutoFit/>
          </a:bodyPr>
          <a:lstStyle/>
          <a:p>
            <a:pPr algn="l">
              <a:spcAft>
                <a:spcPts val="0"/>
              </a:spcAft>
            </a:pPr>
            <a:r>
              <a:rPr sz="2000" b="1" i="0">
                <a:solidFill>
                  <a:srgbClr val="C45A11"/>
                </a:solidFill>
                <a:latin typeface="Cambria"/>
              </a:rPr>
              <a:t>2</a:t>
            </a:r>
          </a:p>
        </p:txBody>
      </p:sp>
      <p:sp>
        <p:nvSpPr>
          <p:cNvPr id="8" name="TextBox 7"/>
          <p:cNvSpPr txBox="1"/>
          <p:nvPr/>
        </p:nvSpPr>
        <p:spPr>
          <a:xfrm>
            <a:off x="1691640" y="3127248"/>
            <a:ext cx="9418320" cy="45720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Fix the feedforward parameter format, then tune the effort gains</a:t>
            </a:r>
          </a:p>
        </p:txBody>
      </p:sp>
      <p:sp>
        <p:nvSpPr>
          <p:cNvPr id="9" name="Rounded Rectangle 8"/>
          <p:cNvSpPr/>
          <p:nvPr/>
        </p:nvSpPr>
        <p:spPr>
          <a:xfrm>
            <a:off x="685800" y="3785615"/>
            <a:ext cx="10789920" cy="713232"/>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31920"/>
            <a:ext cx="457200" cy="457200"/>
          </a:xfrm>
          <a:prstGeom prst="rect">
            <a:avLst/>
          </a:prstGeom>
          <a:noFill/>
        </p:spPr>
        <p:txBody>
          <a:bodyPr wrap="square" lIns="0" rIns="0" tIns="0" bIns="0" anchor="t">
            <a:spAutoFit/>
          </a:bodyPr>
          <a:lstStyle/>
          <a:p>
            <a:pPr algn="l">
              <a:spcAft>
                <a:spcPts val="0"/>
              </a:spcAft>
            </a:pPr>
            <a:r>
              <a:rPr sz="2000" b="1" i="0">
                <a:solidFill>
                  <a:srgbClr val="C45A11"/>
                </a:solidFill>
                <a:latin typeface="Cambria"/>
              </a:rPr>
              <a:t>3</a:t>
            </a:r>
          </a:p>
        </p:txBody>
      </p:sp>
      <p:sp>
        <p:nvSpPr>
          <p:cNvPr id="11" name="TextBox 10"/>
          <p:cNvSpPr txBox="1"/>
          <p:nvPr/>
        </p:nvSpPr>
        <p:spPr>
          <a:xfrm>
            <a:off x="1691640" y="3968496"/>
            <a:ext cx="9418320" cy="45720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Enable per foot contact sensors to measure slip directly instead of inferring it</a:t>
            </a:r>
          </a:p>
        </p:txBody>
      </p:sp>
      <p:sp>
        <p:nvSpPr>
          <p:cNvPr id="12" name="Rounded Rectangle 11"/>
          <p:cNvSpPr/>
          <p:nvPr/>
        </p:nvSpPr>
        <p:spPr>
          <a:xfrm>
            <a:off x="685800" y="4626864"/>
            <a:ext cx="10789920" cy="713232"/>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73168"/>
            <a:ext cx="457200" cy="457200"/>
          </a:xfrm>
          <a:prstGeom prst="rect">
            <a:avLst/>
          </a:prstGeom>
          <a:noFill/>
        </p:spPr>
        <p:txBody>
          <a:bodyPr wrap="square" lIns="0" rIns="0" tIns="0" bIns="0" anchor="t">
            <a:spAutoFit/>
          </a:bodyPr>
          <a:lstStyle/>
          <a:p>
            <a:pPr algn="l">
              <a:spcAft>
                <a:spcPts val="0"/>
              </a:spcAft>
            </a:pPr>
            <a:r>
              <a:rPr sz="2000" b="1" i="0">
                <a:solidFill>
                  <a:srgbClr val="C45A11"/>
                </a:solidFill>
                <a:latin typeface="Cambria"/>
              </a:rPr>
              <a:t>4</a:t>
            </a:r>
          </a:p>
        </p:txBody>
      </p:sp>
      <p:sp>
        <p:nvSpPr>
          <p:cNvPr id="14" name="TextBox 13"/>
          <p:cNvSpPr txBox="1"/>
          <p:nvPr/>
        </p:nvSpPr>
        <p:spPr>
          <a:xfrm>
            <a:off x="1691640" y="4809744"/>
            <a:ext cx="9418320" cy="45720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Write the servo driver and assemble the physical robot</a:t>
            </a:r>
          </a:p>
        </p:txBody>
      </p:sp>
      <p:sp>
        <p:nvSpPr>
          <p:cNvPr id="15" name="Rounded Rectangle 14"/>
          <p:cNvSpPr/>
          <p:nvPr/>
        </p:nvSpPr>
        <p:spPr>
          <a:xfrm>
            <a:off x="685800" y="5468112"/>
            <a:ext cx="10789920" cy="713232"/>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614416"/>
            <a:ext cx="457200" cy="457200"/>
          </a:xfrm>
          <a:prstGeom prst="rect">
            <a:avLst/>
          </a:prstGeom>
          <a:noFill/>
        </p:spPr>
        <p:txBody>
          <a:bodyPr wrap="square" lIns="0" rIns="0" tIns="0" bIns="0" anchor="t">
            <a:spAutoFit/>
          </a:bodyPr>
          <a:lstStyle/>
          <a:p>
            <a:pPr algn="l">
              <a:spcAft>
                <a:spcPts val="0"/>
              </a:spcAft>
            </a:pPr>
            <a:r>
              <a:rPr sz="2000" b="1" i="0">
                <a:solidFill>
                  <a:srgbClr val="C45A11"/>
                </a:solidFill>
                <a:latin typeface="Cambria"/>
              </a:rPr>
              <a:t>5</a:t>
            </a:r>
          </a:p>
        </p:txBody>
      </p:sp>
      <p:sp>
        <p:nvSpPr>
          <p:cNvPr id="17" name="TextBox 16"/>
          <p:cNvSpPr txBox="1"/>
          <p:nvPr/>
        </p:nvSpPr>
        <p:spPr>
          <a:xfrm>
            <a:off x="1691640" y="5650992"/>
            <a:ext cx="9418320" cy="45720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Add mapping and navigation, for which the architecture already leaves room</a:t>
            </a:r>
          </a:p>
        </p:txBody>
      </p:sp>
      <p:sp>
        <p:nvSpPr>
          <p:cNvPr id="18" name="TextBox 17"/>
          <p:cNvSpPr txBox="1"/>
          <p:nvPr/>
        </p:nvSpPr>
        <p:spPr>
          <a:xfrm>
            <a:off x="685800" y="6263640"/>
            <a:ext cx="10789920" cy="320040"/>
          </a:xfrm>
          <a:prstGeom prst="rect">
            <a:avLst/>
          </a:prstGeom>
          <a:noFill/>
        </p:spPr>
        <p:txBody>
          <a:bodyPr wrap="square" lIns="0" rIns="0" tIns="0" bIns="0" anchor="t">
            <a:spAutoFit/>
          </a:bodyPr>
          <a:lstStyle/>
          <a:p>
            <a:pPr algn="l">
              <a:spcAft>
                <a:spcPts val="0"/>
              </a:spcAft>
            </a:pPr>
            <a:r>
              <a:rPr sz="1050" b="0" i="1">
                <a:solidFill>
                  <a:srgbClr val="6E6E6E"/>
                </a:solidFill>
                <a:latin typeface="Calibri"/>
              </a:rPr>
              <a:t>The gait, the kinematics and the model do not need to change for any of this.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