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morning. We are presenting the first review of our final year project, an eighteen degree of freedom walking hexapod robot.</a:t>
            </a:r>
          </a:p>
          <a:p/>
          <a:p>
            <a:r>
              <a:t>Introduce the team, then say in one line: we designed the robot in CAD, built a full simulation of it in ROS 2 and Gazebo, and it now walks under our control.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a hexapod and not a wheeled robot. Wheels need continuous ground. Legs only need places to put a foot, so a legged robot can cross rubble, stairs, or a field.</a:t>
            </a:r>
          </a:p>
          <a:p/>
          <a:p>
            <a:r>
              <a:t>Why six legs and not two. A robot is stable when its centre of mass sits inside the triangle formed by the feet on the ground. Three feet is the minimum for a triangle, so a six legged robot can lift three legs and still be stable. That means we can CHECK stability with geometry instead of having to control balance every instant like a biped.</a:t>
            </a:r>
          </a:p>
          <a:p/>
          <a:p>
            <a:r>
              <a:t>That single fact is why this project was possible in one year.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objectives for this first phase. Read them out, do not linger.</a:t>
            </a:r>
          </a:p>
          <a:p/>
          <a:p>
            <a:r>
              <a:t>Point out that objective one says 'measured', not 'estimated'. We calculated masses from the actual mesh volumes rather than guessing, because the physics simulation is only as good as those numbers.</a:t>
            </a:r>
          </a:p>
          <a:p/>
          <a:p>
            <a:r>
              <a:t>Objective six is the one that matters for next phase: the software is arranged so that moving to real servos does not mean rewriting anything.</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machine. Six legs around a hexagonal chassis, three joints in every leg, so eighteen motors in total.</a:t>
            </a:r>
          </a:p>
          <a:p/>
          <a:p>
            <a:r>
              <a:t>The joints are named after insect anatomy, which is the convention: coxa swings the leg sideways, femur lifts it, tibia extends it.</a:t>
            </a:r>
          </a:p>
          <a:p/>
          <a:p>
            <a:r>
              <a:t>Walk them through the CAD picture: chassis, one leg, the three pivots.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slide for the mechanical design work. Show the exploded view and the printed parts.</a:t>
            </a:r>
          </a:p>
          <a:p/>
          <a:p>
            <a:r>
              <a:t>Mention: link lengths come from the CAD, and masses were calculated from the measured volume of each part at PLA density, not estimated.</a:t>
            </a:r>
          </a:p>
          <a:p/>
          <a:p>
            <a:r>
              <a:t>One detail worth saying because it is easy to get backwards. A servo's weight belongs to the part it is BOLTED TO, not the part it moves. So the tibia servo counts as femur mass, and all six coxa servos count as body mass.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Structural analysis slide. Fill in with your ANSYS results.</a:t>
            </a:r>
          </a:p>
          <a:p/>
          <a:p>
            <a:r>
              <a:t>Say what you loaded and what you found: the robot weighs 3.39 kg, and when three legs are on the ground each foot carries about 10.9 newtons. That is the load case.</a:t>
            </a:r>
          </a:p>
          <a:p/>
          <a:p>
            <a:r>
              <a:t>Point at the stress plot and give the peak stress and the factor of safety. Then the deflection plot and the maximum deflection.</a:t>
            </a:r>
          </a:p>
          <a:p/>
          <a:p>
            <a:r>
              <a:t>If the parts passed, say so plainly. If anything needs thickening, say which and why.</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where mechanical design becomes a simulation. The CAD parts were exported as STL meshes and assembled into a robot description file that ROS understands, called a URDF.</a:t>
            </a:r>
          </a:p>
          <a:p/>
          <a:p>
            <a:r>
              <a:t>The description carries the shape, the joint positions and axes, the masses and the inertia values.</a:t>
            </a:r>
          </a:p>
          <a:p/>
          <a:p>
            <a:r>
              <a:t>One choice worth mentioning. The robot LOOKS like the CAD meshes, but for collision and inertia we use simple boxes and cylinders. Using full meshes for contact would be about a thousand times slower and would gain nothing, and the chassis mesh is not watertight so its inertia is not even defined.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the software is arranged. Five packages, and the split is deliberate.</a:t>
            </a:r>
          </a:p>
          <a:p/>
          <a:p>
            <a:r>
              <a:t>The key point: the robot model package depends on nothing. That is what lets the same model be used by the simulator, by RViz, and later by the real robot, without dragging a simulator dependency along.</a:t>
            </a:r>
          </a:p>
          <a:p/>
          <a:p>
            <a:r>
              <a:t>Because of that, switching to hardware next phase is a settings change rather than a rewrite.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the robot decides where to put its feet. This is the whole control chain and it fits on one line.</a:t>
            </a:r>
          </a:p>
          <a:p/>
          <a:p>
            <a:r>
              <a:t>We send one thing: a velocity. How fast forward, how fast sideways, how fast to turn. Everything after that is calculated.</a:t>
            </a:r>
          </a:p>
          <a:p/>
          <a:p>
            <a:r>
              <a:t>The gait works out where each foot should be right now. The inverse kinematics turns those six foot positions into eighteen joint angles. The controller drives the joints. Gazebo simulates the physics.</a:t>
            </a:r>
          </a:p>
          <a:p/>
          <a:p>
            <a:r>
              <a:t>Nothing is a recorded animation. Ask for a different speed and every leg trajectory changes.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leg maths, in plain terms. Given where we want the foot, what should the three joint angles be. That is inverse kinematics.</a:t>
            </a:r>
          </a:p>
          <a:p/>
          <a:p>
            <a:r>
              <a:t>We can solve it exactly, and here is why. The second and third joints both rotate about the same direction, so everything past the first joint stays in one flat vertical plane. The first joint just picks which plane. So a 3D problem becomes a 2D one, and 2D triangles are school trigonometry.</a:t>
            </a:r>
          </a:p>
          <a:p/>
          <a:p>
            <a:r>
              <a:t>Exact matters: no numerical solver means nothing can fail to converge halfway through a step.</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walking pattern. Six legs split into two groups of three. One group is on the ground while the other swings forward, then they swap. Three feet are always down, so it is always stable.</a:t>
            </a:r>
          </a:p>
          <a:p/>
          <a:p>
            <a:r>
              <a:t>The important design point: we do not choose the step length. It is forced by the speed you ask for and how long a leg stays on the ground. If you picked it freely the feet would slip.</a:t>
            </a:r>
          </a:p>
          <a:p/>
          <a:p>
            <a:r>
              <a:t>And because each leg is a different distance from the turn centre, each leg gets its own step length when turning. That one idea makes walking, strafing and turning the same piece of code.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part we are most pleased with, so give it time.</a:t>
            </a:r>
          </a:p>
          <a:p/>
          <a:p>
            <a:r>
              <a:t>We wrote the leg maths and the gait as plain Python with no connection to ROS or Gazebo. That meant we could test them in under a second instead of launching a whole simulation.</a:t>
            </a:r>
          </a:p>
          <a:p/>
          <a:p>
            <a:r>
              <a:t>The numbers on screen: the leg maths is accurate to sixteen decimal places, which is the limit of the computer, not of the method. And the gait passes 498 separate automatic checks covering stability, foot clearance and slipping.</a:t>
            </a:r>
          </a:p>
          <a:p/>
          <a:p>
            <a:r>
              <a:t>Those tests run every time we change anything.</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And the testing paid off. We found a real mistake that watching the robot could never have revealed.</a:t>
            </a:r>
          </a:p>
          <a:p/>
          <a:p>
            <a:r>
              <a:t>The stance phase, when a foot is on the ground, was sweeping the foot the wrong way. Instead of pushing backwards to move the robot forwards, it was pushing forwards.</a:t>
            </a:r>
          </a:p>
          <a:p/>
          <a:p>
            <a:r>
              <a:t>We measured it: commanded eight centimetres per second forward, and the planted foot was being dragged across the ground at sixteen, in the wrong direction, on three legs at once.</a:t>
            </a:r>
          </a:p>
          <a:p/>
          <a:p>
            <a:r>
              <a:t>The interesting part is why our own test missed it. It compared the DISTANCE the foot moved with the DISTANCE the body moved. Both are distances, and a distance has no direction, so a backwards error is invisible to it. The test was checking the right thing with the wrong tool. We have fixed both the code and the test.</a:t>
            </a:r>
          </a:p>
          <a:p/>
          <a:p>
            <a:r>
              <a:t>If asked how we found it: by reading another team's hexapod code and comparing conventions.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simulation itself. This is Gazebo, a physics simulator. It has gravity, friction and contact between the feet and the ground.</a:t>
            </a:r>
          </a:p>
          <a:p/>
          <a:p>
            <a:r>
              <a:t>The controller runs at 200 times a second inside the simulator, and the physics itself at 1000 times a second.</a:t>
            </a:r>
          </a:p>
          <a:p/>
          <a:p>
            <a:r>
              <a:t>Show the Gazebo screenshot and the RViz screenshot side by side. RViz shows what the robot believes about itself, Gazebo shows the physical world.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tried three different ways of running the simulation and measured each one. Same robot, same command, twenty seconds.</a:t>
            </a:r>
          </a:p>
          <a:p/>
          <a:p>
            <a:r>
              <a:t>The first: the legs move perfectly but the body does not travel. The reason is real and worth stating. Gazebo carries out a position command by simply moving the joint, without giving it a speed. Friction is calculated from sliding speed, so the simulator sees a motionless foot and produces no push. The controller did exactly what it was told and the physics still gave nothing.</a:t>
            </a:r>
          </a:p>
          <a:p/>
          <a:p>
            <a:r>
              <a:t>The second walks well, but it uses a very light model borrowed from another project where every part weighs almost nothing. It works because it is not realistic.</a:t>
            </a:r>
          </a:p>
          <a:p/>
          <a:p>
            <a:r>
              <a:t>The third is the one we want, with our real masses, and it is not working yet. We know exactly what it does and we are still finding out why.</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the demonstration. Play the video.</a:t>
            </a:r>
          </a:p>
          <a:p/>
          <a:p>
            <a:r>
              <a:t>Say this before it starts, so nobody has to ask: this is a kinematic simulation. The legs are driven by the real gait and the real leg maths, nothing is animated. The body moves by the amount those legs geometrically require, because we have proved the feet do not slip.</a:t>
            </a:r>
          </a:p>
          <a:p/>
          <a:p>
            <a:r>
              <a:t>Narrate as it plays: standing, walking forward, stopping with all six feet landing, turning left, turning right, walking sideways, an arc, and reverse.</a:t>
            </a:r>
          </a:p>
          <a:p/>
          <a:p>
            <a:r>
              <a:t>Sideways is worth pointing at. A wheeled robot cannot do that.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Where we are. The left column is finished and demonstrated today.</a:t>
            </a:r>
          </a:p>
          <a:p/>
          <a:p>
            <a:r>
              <a:t>The right column is honest about what is not. Do not skip this. Examiners respect a clear limitations slide far more than a claim that everything works.</a:t>
            </a:r>
          </a:p>
          <a:p/>
          <a:p>
            <a:r>
              <a:t>Main outstanding item: walking under full realistic physics. We have measured its behaviour and can describe it precisely, we have not yet solved it.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plan for next phase, in order.</a:t>
            </a:r>
          </a:p>
          <a:p/>
          <a:p>
            <a:r>
              <a:t>Nothing here needs the gait, the leg maths or the robot model to change. That was the point of arranging the software the way we did.</a:t>
            </a:r>
          </a:p>
          <a:p/>
          <a:p>
            <a:r>
              <a:t>Finish by thanking them and inviting questions.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Thank you. Open for questions.</a:t>
            </a:r>
          </a:p>
          <a:p/>
          <a:p>
            <a:r>
              <a:t>The likely questions and the answers are in docs/REVIEW.md. The one to rehearse is whether the demo is real: answer that it is a kinematic simulation, the legs run the real gait and real leg maths, and the body moves by the amount the legs geometrically require because we proved the feet do not slip.</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33383D"/>
        </a:solidFill>
        <a:effectLst/>
      </p:bgPr>
    </p:bg>
    <p:spTree>
      <p:nvGrpSpPr>
        <p:cNvPr id="1" name=""/>
        <p:cNvGrpSpPr/>
        <p:nvPr/>
      </p:nvGrpSpPr>
      <p:grpSpPr/>
      <p:sp>
        <p:nvSpPr>
          <p:cNvPr id="2" name="TextBox 1"/>
          <p:cNvSpPr txBox="1"/>
          <p:nvPr/>
        </p:nvSpPr>
        <p:spPr>
          <a:xfrm>
            <a:off x="914400" y="2194560"/>
            <a:ext cx="10332720" cy="2011680"/>
          </a:xfrm>
          <a:prstGeom prst="rect">
            <a:avLst/>
          </a:prstGeom>
          <a:noFill/>
        </p:spPr>
        <p:txBody>
          <a:bodyPr wrap="square" lIns="0" rIns="0" tIns="0" bIns="0" anchor="t">
            <a:spAutoFit/>
          </a:bodyPr>
          <a:lstStyle/>
          <a:p>
            <a:pPr algn="l">
              <a:spcAft>
                <a:spcPts val="1400"/>
              </a:spcAft>
            </a:pPr>
            <a:r>
              <a:rPr sz="4000" b="1" i="0">
                <a:solidFill>
                  <a:srgbClr val="FFFFFF"/>
                </a:solidFill>
                <a:latin typeface="Cambria"/>
              </a:rPr>
              <a:t>18-DOF Walking Hexapod Robot</a:t>
            </a:r>
          </a:p>
        </p:txBody>
      </p:sp>
      <p:sp>
        <p:nvSpPr>
          <p:cNvPr id="3" name="TextBox 2"/>
          <p:cNvSpPr txBox="1"/>
          <p:nvPr/>
        </p:nvSpPr>
        <p:spPr>
          <a:xfrm>
            <a:off x="914400" y="3200400"/>
            <a:ext cx="10332720" cy="548640"/>
          </a:xfrm>
          <a:prstGeom prst="rect">
            <a:avLst/>
          </a:prstGeom>
          <a:noFill/>
        </p:spPr>
        <p:txBody>
          <a:bodyPr wrap="square" lIns="0" rIns="0" tIns="0" bIns="0" anchor="t">
            <a:spAutoFit/>
          </a:bodyPr>
          <a:lstStyle/>
          <a:p>
            <a:pPr algn="l">
              <a:spcAft>
                <a:spcPts val="0"/>
              </a:spcAft>
            </a:pPr>
            <a:r>
              <a:rPr sz="1900" b="0" i="0">
                <a:solidFill>
                  <a:srgbClr val="CFCFCF"/>
                </a:solidFill>
                <a:latin typeface="Calibri"/>
              </a:rPr>
              <a:t>Design and Simulation in ROS 2 and Gazebo</a:t>
            </a:r>
          </a:p>
        </p:txBody>
      </p:sp>
      <p:sp>
        <p:nvSpPr>
          <p:cNvPr id="4" name="TextBox 3"/>
          <p:cNvSpPr txBox="1"/>
          <p:nvPr/>
        </p:nvSpPr>
        <p:spPr>
          <a:xfrm>
            <a:off x="914400" y="3977639"/>
            <a:ext cx="10332720" cy="457200"/>
          </a:xfrm>
          <a:prstGeom prst="rect">
            <a:avLst/>
          </a:prstGeom>
          <a:noFill/>
        </p:spPr>
        <p:txBody>
          <a:bodyPr wrap="square" lIns="0" rIns="0" tIns="0" bIns="0" anchor="t">
            <a:spAutoFit/>
          </a:bodyPr>
          <a:lstStyle/>
          <a:p>
            <a:pPr algn="l">
              <a:spcAft>
                <a:spcPts val="0"/>
              </a:spcAft>
            </a:pPr>
            <a:r>
              <a:rPr sz="1500" b="0" i="0">
                <a:solidFill>
                  <a:srgbClr val="E89A4F"/>
                </a:solidFill>
                <a:latin typeface="Calibri"/>
              </a:rPr>
              <a:t>First Review</a:t>
            </a:r>
          </a:p>
        </p:txBody>
      </p:sp>
      <p:sp>
        <p:nvSpPr>
          <p:cNvPr id="5" name="TextBox 4"/>
          <p:cNvSpPr txBox="1"/>
          <p:nvPr/>
        </p:nvSpPr>
        <p:spPr>
          <a:xfrm>
            <a:off x="914400" y="5029200"/>
            <a:ext cx="10332720" cy="1188720"/>
          </a:xfrm>
          <a:prstGeom prst="rect">
            <a:avLst/>
          </a:prstGeom>
          <a:noFill/>
        </p:spPr>
        <p:txBody>
          <a:bodyPr wrap="square" lIns="0" rIns="0" tIns="0" bIns="0" anchor="t">
            <a:spAutoFit/>
          </a:bodyPr>
          <a:lstStyle/>
          <a:p>
            <a:pPr algn="l">
              <a:spcAft>
                <a:spcPts val="500"/>
              </a:spcAft>
            </a:pPr>
            <a:r>
              <a:rPr sz="1400" b="0" i="0">
                <a:solidFill>
                  <a:srgbClr val="DDDDDD"/>
                </a:solidFill>
                <a:latin typeface="Calibri"/>
              </a:rPr>
              <a:t>[Student names and roll numbers]</a:t>
            </a:r>
          </a:p>
          <a:p>
            <a:pPr>
              <a:spcAft>
                <a:spcPts val="500"/>
              </a:spcAft>
            </a:pPr>
            <a:r>
              <a:rPr sz="1400" b="0" i="0">
                <a:solidFill>
                  <a:srgbClr val="DDDDDD"/>
                </a:solidFill>
                <a:latin typeface="Calibri"/>
              </a:rPr>
              <a:t>Guide: [Guide name]</a:t>
            </a:r>
          </a:p>
          <a:p>
            <a:pPr>
              <a:spcAft>
                <a:spcPts val="0"/>
              </a:spcAft>
            </a:pPr>
            <a:r>
              <a:rPr sz="1300" b="0" i="0">
                <a:solidFill>
                  <a:srgbClr val="A5A5A5"/>
                </a:solidFill>
                <a:latin typeface="Calibri"/>
              </a:rPr>
              <a:t>Department of Mechanical Engineering, [Institution]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10972800" cy="868680"/>
          </a:xfrm>
          <a:prstGeom prst="rect">
            <a:avLst/>
          </a:prstGeom>
          <a:noFill/>
        </p:spPr>
        <p:txBody>
          <a:bodyPr wrap="square" lIns="0" rIns="0" tIns="0" bIns="0" anchor="t">
            <a:spAutoFit/>
          </a:bodyPr>
          <a:lstStyle/>
          <a:p>
            <a:pPr algn="l">
              <a:spcAft>
                <a:spcPts val="0"/>
              </a:spcAft>
            </a:pPr>
            <a:r>
              <a:rPr sz="3400" b="1" i="0">
                <a:solidFill>
                  <a:srgbClr val="2B2B2B"/>
                </a:solidFill>
                <a:latin typeface="Cambria"/>
              </a:rPr>
              <a:t>Why a hexapod</a:t>
            </a:r>
          </a:p>
        </p:txBody>
      </p:sp>
      <p:sp>
        <p:nvSpPr>
          <p:cNvPr id="3" name="TextBox 2"/>
          <p:cNvSpPr txBox="1"/>
          <p:nvPr/>
        </p:nvSpPr>
        <p:spPr>
          <a:xfrm>
            <a:off x="640080" y="1371600"/>
            <a:ext cx="10972800" cy="411480"/>
          </a:xfrm>
          <a:prstGeom prst="rect">
            <a:avLst/>
          </a:prstGeom>
          <a:noFill/>
        </p:spPr>
        <p:txBody>
          <a:bodyPr wrap="square" lIns="0" rIns="0" tIns="0" bIns="0" anchor="t">
            <a:spAutoFit/>
          </a:bodyPr>
          <a:lstStyle/>
          <a:p>
            <a:pPr algn="l">
              <a:spcAft>
                <a:spcPts val="0"/>
              </a:spcAft>
            </a:pPr>
            <a:r>
              <a:rPr sz="1500" b="0" i="0">
                <a:solidFill>
                  <a:srgbClr val="707070"/>
                </a:solidFill>
                <a:latin typeface="Calibri"/>
              </a:rPr>
              <a:t>Six legs turn balancing into a geometry problem</a:t>
            </a:r>
          </a:p>
        </p:txBody>
      </p:sp>
      <p:sp>
        <p:nvSpPr>
          <p:cNvPr id="4" name="TextBox 3"/>
          <p:cNvSpPr txBox="1"/>
          <p:nvPr/>
        </p:nvSpPr>
        <p:spPr>
          <a:xfrm>
            <a:off x="640080" y="2011680"/>
            <a:ext cx="5120640" cy="4023360"/>
          </a:xfrm>
          <a:prstGeom prst="rect">
            <a:avLst/>
          </a:prstGeom>
          <a:noFill/>
        </p:spPr>
        <p:txBody>
          <a:bodyPr wrap="square" lIns="0" rIns="0" tIns="0" bIns="0" anchor="t">
            <a:spAutoFit/>
          </a:bodyPr>
          <a:lstStyle/>
          <a:p>
            <a:pPr algn="l">
              <a:spcAft>
                <a:spcPts val="1600"/>
              </a:spcAft>
            </a:pPr>
            <a:r>
              <a:rPr sz="1700" b="0" i="0">
                <a:solidFill>
                  <a:srgbClr val="2B2B2B"/>
                </a:solidFill>
                <a:latin typeface="Calibri"/>
              </a:rPr>
              <a:t>•  Wheels need continuous ground. Legs only need somewhere to place a foot.</a:t>
            </a:r>
          </a:p>
          <a:p>
            <a:pPr>
              <a:spcAft>
                <a:spcPts val="1600"/>
              </a:spcAft>
            </a:pPr>
            <a:r>
              <a:rPr sz="1700" b="0" i="0">
                <a:solidFill>
                  <a:srgbClr val="2B2B2B"/>
                </a:solidFill>
                <a:latin typeface="Calibri"/>
              </a:rPr>
              <a:t>•  Stable when the centre of mass sits inside the triangle of feet on the ground.</a:t>
            </a:r>
          </a:p>
          <a:p>
            <a:pPr>
              <a:spcAft>
                <a:spcPts val="1600"/>
              </a:spcAft>
            </a:pPr>
            <a:r>
              <a:rPr sz="1700" b="0" i="0">
                <a:solidFill>
                  <a:srgbClr val="2B2B2B"/>
                </a:solidFill>
                <a:latin typeface="Calibri"/>
              </a:rPr>
              <a:t>•  Three feet is the minimum for a triangle, so three legs can lift at once.</a:t>
            </a:r>
          </a:p>
          <a:p>
            <a:pPr>
              <a:spcAft>
                <a:spcPts val="1600"/>
              </a:spcAft>
            </a:pPr>
            <a:r>
              <a:rPr sz="1700" b="0" i="0">
                <a:solidFill>
                  <a:srgbClr val="2B2B2B"/>
                </a:solidFill>
                <a:latin typeface="Calibri"/>
              </a:rPr>
              <a:t>•  Stability can be checked, not constantly controlled.</a:t>
            </a:r>
          </a:p>
        </p:txBody>
      </p:sp>
      <p:sp>
        <p:nvSpPr>
          <p:cNvPr id="5" name="Rectangle 4"/>
          <p:cNvSpPr/>
          <p:nvPr/>
        </p:nvSpPr>
        <p:spPr>
          <a:xfrm>
            <a:off x="6400800" y="1920240"/>
            <a:ext cx="5120640" cy="3931920"/>
          </a:xfrm>
          <a:prstGeom prst="rect">
            <a:avLst/>
          </a:prstGeom>
          <a:solidFill>
            <a:srgbClr val="F3F3F3"/>
          </a:solidFill>
          <a:ln w="15875">
            <a:solidFill>
              <a:srgbClr val="C8C8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675120" y="3566160"/>
            <a:ext cx="4572000" cy="731520"/>
          </a:xfrm>
          <a:prstGeom prst="rect">
            <a:avLst/>
          </a:prstGeom>
          <a:noFill/>
        </p:spPr>
        <p:txBody>
          <a:bodyPr wrap="square" lIns="0" rIns="0" tIns="0" bIns="0" anchor="ctr">
            <a:spAutoFit/>
          </a:bodyPr>
          <a:lstStyle/>
          <a:p>
            <a:pPr algn="ctr">
              <a:spcAft>
                <a:spcPts val="0"/>
              </a:spcAft>
            </a:pPr>
            <a:r>
              <a:rPr sz="1400" b="0" i="1">
                <a:solidFill>
                  <a:srgbClr val="707070"/>
                </a:solidFill>
                <a:latin typeface="Calibri"/>
              </a:rPr>
              <a:t>Hexapod CAD assembly, isometric view</a:t>
            </a:r>
          </a:p>
          <a:p>
            <a:pPr algn="ctr">
              <a:spcAft>
                <a:spcPts val="0"/>
              </a:spcAft>
            </a:pPr>
            <a:r>
              <a:rPr sz="1150" b="0" i="0">
                <a:solidFill>
                  <a:srgbClr val="A0A0A0"/>
                </a:solidFill>
                <a:latin typeface="Calibri"/>
              </a:rPr>
              <a:t>picture goes here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10972800" cy="868680"/>
          </a:xfrm>
          <a:prstGeom prst="rect">
            <a:avLst/>
          </a:prstGeom>
          <a:noFill/>
        </p:spPr>
        <p:txBody>
          <a:bodyPr wrap="square" lIns="0" rIns="0" tIns="0" bIns="0" anchor="t">
            <a:spAutoFit/>
          </a:bodyPr>
          <a:lstStyle/>
          <a:p>
            <a:pPr algn="l">
              <a:spcAft>
                <a:spcPts val="0"/>
              </a:spcAft>
            </a:pPr>
            <a:r>
              <a:rPr sz="3400" b="1" i="0">
                <a:solidFill>
                  <a:srgbClr val="2B2B2B"/>
                </a:solidFill>
                <a:latin typeface="Cambria"/>
              </a:rPr>
              <a:t>What we set out to do</a:t>
            </a:r>
          </a:p>
        </p:txBody>
      </p:sp>
      <p:sp>
        <p:nvSpPr>
          <p:cNvPr id="3" name="Rounded Rectangle 2"/>
          <p:cNvSpPr/>
          <p:nvPr/>
        </p:nvSpPr>
        <p:spPr>
          <a:xfrm>
            <a:off x="640080" y="1965960"/>
            <a:ext cx="5440680" cy="1143000"/>
          </a:xfrm>
          <a:prstGeom prst="roundRect">
            <a:avLst>
              <a:gd name="adj" fmla="val 6000"/>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32688" y="2221991"/>
            <a:ext cx="548640" cy="640080"/>
          </a:xfrm>
          <a:prstGeom prst="rect">
            <a:avLst/>
          </a:prstGeom>
          <a:noFill/>
        </p:spPr>
        <p:txBody>
          <a:bodyPr wrap="square" lIns="0" rIns="0" tIns="0" bIns="0" anchor="t">
            <a:spAutoFit/>
          </a:bodyPr>
          <a:lstStyle/>
          <a:p>
            <a:pPr algn="l">
              <a:spcAft>
                <a:spcPts val="0"/>
              </a:spcAft>
            </a:pPr>
            <a:r>
              <a:rPr sz="2400" b="1" i="0">
                <a:solidFill>
                  <a:srgbClr val="C45A11"/>
                </a:solidFill>
                <a:latin typeface="Cambria"/>
              </a:rPr>
              <a:t>1</a:t>
            </a:r>
          </a:p>
        </p:txBody>
      </p:sp>
      <p:sp>
        <p:nvSpPr>
          <p:cNvPr id="5" name="TextBox 4"/>
          <p:cNvSpPr txBox="1"/>
          <p:nvPr/>
        </p:nvSpPr>
        <p:spPr>
          <a:xfrm>
            <a:off x="1600200" y="2167128"/>
            <a:ext cx="4297680" cy="868680"/>
          </a:xfrm>
          <a:prstGeom prst="rect">
            <a:avLst/>
          </a:prstGeom>
          <a:noFill/>
        </p:spPr>
        <p:txBody>
          <a:bodyPr wrap="square" lIns="0" rIns="0" tIns="0" bIns="0" anchor="t">
            <a:spAutoFit/>
          </a:bodyPr>
          <a:lstStyle/>
          <a:p>
            <a:pPr algn="l">
              <a:spcAft>
                <a:spcPts val="400"/>
              </a:spcAft>
            </a:pPr>
            <a:r>
              <a:rPr sz="1600" b="1" i="0">
                <a:solidFill>
                  <a:srgbClr val="2B2B2B"/>
                </a:solidFill>
                <a:latin typeface="Calibri"/>
              </a:rPr>
              <a:t>Build an accurate model</a:t>
            </a:r>
          </a:p>
          <a:p>
            <a:pPr>
              <a:spcAft>
                <a:spcPts val="0"/>
              </a:spcAft>
            </a:pPr>
            <a:r>
              <a:rPr sz="1250" b="0" i="0">
                <a:solidFill>
                  <a:srgbClr val="707070"/>
                </a:solidFill>
                <a:latin typeface="Calibri"/>
              </a:rPr>
              <a:t>CAD to ROS 2, with real masses and inertia</a:t>
            </a:r>
          </a:p>
        </p:txBody>
      </p:sp>
      <p:sp>
        <p:nvSpPr>
          <p:cNvPr id="6" name="Rounded Rectangle 5"/>
          <p:cNvSpPr/>
          <p:nvPr/>
        </p:nvSpPr>
        <p:spPr>
          <a:xfrm>
            <a:off x="6446520" y="1965960"/>
            <a:ext cx="5440680" cy="1143000"/>
          </a:xfrm>
          <a:prstGeom prst="roundRect">
            <a:avLst>
              <a:gd name="adj" fmla="val 6000"/>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739128" y="2221991"/>
            <a:ext cx="548640" cy="640080"/>
          </a:xfrm>
          <a:prstGeom prst="rect">
            <a:avLst/>
          </a:prstGeom>
          <a:noFill/>
        </p:spPr>
        <p:txBody>
          <a:bodyPr wrap="square" lIns="0" rIns="0" tIns="0" bIns="0" anchor="t">
            <a:spAutoFit/>
          </a:bodyPr>
          <a:lstStyle/>
          <a:p>
            <a:pPr algn="l">
              <a:spcAft>
                <a:spcPts val="0"/>
              </a:spcAft>
            </a:pPr>
            <a:r>
              <a:rPr sz="2400" b="1" i="0">
                <a:solidFill>
                  <a:srgbClr val="C45A11"/>
                </a:solidFill>
                <a:latin typeface="Cambria"/>
              </a:rPr>
              <a:t>2</a:t>
            </a:r>
          </a:p>
        </p:txBody>
      </p:sp>
      <p:sp>
        <p:nvSpPr>
          <p:cNvPr id="8" name="TextBox 7"/>
          <p:cNvSpPr txBox="1"/>
          <p:nvPr/>
        </p:nvSpPr>
        <p:spPr>
          <a:xfrm>
            <a:off x="7406640" y="2167128"/>
            <a:ext cx="4297680" cy="868680"/>
          </a:xfrm>
          <a:prstGeom prst="rect">
            <a:avLst/>
          </a:prstGeom>
          <a:noFill/>
        </p:spPr>
        <p:txBody>
          <a:bodyPr wrap="square" lIns="0" rIns="0" tIns="0" bIns="0" anchor="t">
            <a:spAutoFit/>
          </a:bodyPr>
          <a:lstStyle/>
          <a:p>
            <a:pPr algn="l">
              <a:spcAft>
                <a:spcPts val="400"/>
              </a:spcAft>
            </a:pPr>
            <a:r>
              <a:rPr sz="1600" b="1" i="0">
                <a:solidFill>
                  <a:srgbClr val="2B2B2B"/>
                </a:solidFill>
                <a:latin typeface="Calibri"/>
              </a:rPr>
              <a:t>Solve the leg maths</a:t>
            </a:r>
          </a:p>
          <a:p>
            <a:pPr>
              <a:spcAft>
                <a:spcPts val="0"/>
              </a:spcAft>
            </a:pPr>
            <a:r>
              <a:rPr sz="1250" b="0" i="0">
                <a:solidFill>
                  <a:srgbClr val="707070"/>
                </a:solidFill>
                <a:latin typeface="Calibri"/>
              </a:rPr>
              <a:t>Exact inverse kinematics for a 3-joint leg</a:t>
            </a:r>
          </a:p>
        </p:txBody>
      </p:sp>
      <p:sp>
        <p:nvSpPr>
          <p:cNvPr id="9" name="Rounded Rectangle 8"/>
          <p:cNvSpPr/>
          <p:nvPr/>
        </p:nvSpPr>
        <p:spPr>
          <a:xfrm>
            <a:off x="640080" y="3337560"/>
            <a:ext cx="5440680" cy="1143000"/>
          </a:xfrm>
          <a:prstGeom prst="roundRect">
            <a:avLst>
              <a:gd name="adj" fmla="val 6000"/>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32688" y="3593591"/>
            <a:ext cx="548640" cy="640080"/>
          </a:xfrm>
          <a:prstGeom prst="rect">
            <a:avLst/>
          </a:prstGeom>
          <a:noFill/>
        </p:spPr>
        <p:txBody>
          <a:bodyPr wrap="square" lIns="0" rIns="0" tIns="0" bIns="0" anchor="t">
            <a:spAutoFit/>
          </a:bodyPr>
          <a:lstStyle/>
          <a:p>
            <a:pPr algn="l">
              <a:spcAft>
                <a:spcPts val="0"/>
              </a:spcAft>
            </a:pPr>
            <a:r>
              <a:rPr sz="2400" b="1" i="0">
                <a:solidFill>
                  <a:srgbClr val="C45A11"/>
                </a:solidFill>
                <a:latin typeface="Cambria"/>
              </a:rPr>
              <a:t>3</a:t>
            </a:r>
          </a:p>
        </p:txBody>
      </p:sp>
      <p:sp>
        <p:nvSpPr>
          <p:cNvPr id="11" name="TextBox 10"/>
          <p:cNvSpPr txBox="1"/>
          <p:nvPr/>
        </p:nvSpPr>
        <p:spPr>
          <a:xfrm>
            <a:off x="1600200" y="3538728"/>
            <a:ext cx="4297680" cy="868680"/>
          </a:xfrm>
          <a:prstGeom prst="rect">
            <a:avLst/>
          </a:prstGeom>
          <a:noFill/>
        </p:spPr>
        <p:txBody>
          <a:bodyPr wrap="square" lIns="0" rIns="0" tIns="0" bIns="0" anchor="t">
            <a:spAutoFit/>
          </a:bodyPr>
          <a:lstStyle/>
          <a:p>
            <a:pPr algn="l">
              <a:spcAft>
                <a:spcPts val="400"/>
              </a:spcAft>
            </a:pPr>
            <a:r>
              <a:rPr sz="1600" b="1" i="0">
                <a:solidFill>
                  <a:srgbClr val="2B2B2B"/>
                </a:solidFill>
                <a:latin typeface="Calibri"/>
              </a:rPr>
              <a:t>Make it walk</a:t>
            </a:r>
          </a:p>
          <a:p>
            <a:pPr>
              <a:spcAft>
                <a:spcPts val="0"/>
              </a:spcAft>
            </a:pPr>
            <a:r>
              <a:rPr sz="1250" b="0" i="0">
                <a:solidFill>
                  <a:srgbClr val="707070"/>
                </a:solidFill>
                <a:latin typeface="Calibri"/>
              </a:rPr>
              <a:t>Tripod gait driven by a velocity command</a:t>
            </a:r>
          </a:p>
        </p:txBody>
      </p:sp>
      <p:sp>
        <p:nvSpPr>
          <p:cNvPr id="12" name="Rounded Rectangle 11"/>
          <p:cNvSpPr/>
          <p:nvPr/>
        </p:nvSpPr>
        <p:spPr>
          <a:xfrm>
            <a:off x="6446520" y="3337560"/>
            <a:ext cx="5440680" cy="1143000"/>
          </a:xfrm>
          <a:prstGeom prst="roundRect">
            <a:avLst>
              <a:gd name="adj" fmla="val 6000"/>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739128" y="3593591"/>
            <a:ext cx="548640" cy="640080"/>
          </a:xfrm>
          <a:prstGeom prst="rect">
            <a:avLst/>
          </a:prstGeom>
          <a:noFill/>
        </p:spPr>
        <p:txBody>
          <a:bodyPr wrap="square" lIns="0" rIns="0" tIns="0" bIns="0" anchor="t">
            <a:spAutoFit/>
          </a:bodyPr>
          <a:lstStyle/>
          <a:p>
            <a:pPr algn="l">
              <a:spcAft>
                <a:spcPts val="0"/>
              </a:spcAft>
            </a:pPr>
            <a:r>
              <a:rPr sz="2400" b="1" i="0">
                <a:solidFill>
                  <a:srgbClr val="C45A11"/>
                </a:solidFill>
                <a:latin typeface="Cambria"/>
              </a:rPr>
              <a:t>4</a:t>
            </a:r>
          </a:p>
        </p:txBody>
      </p:sp>
      <p:sp>
        <p:nvSpPr>
          <p:cNvPr id="14" name="TextBox 13"/>
          <p:cNvSpPr txBox="1"/>
          <p:nvPr/>
        </p:nvSpPr>
        <p:spPr>
          <a:xfrm>
            <a:off x="7406640" y="3538728"/>
            <a:ext cx="4297680" cy="868680"/>
          </a:xfrm>
          <a:prstGeom prst="rect">
            <a:avLst/>
          </a:prstGeom>
          <a:noFill/>
        </p:spPr>
        <p:txBody>
          <a:bodyPr wrap="square" lIns="0" rIns="0" tIns="0" bIns="0" anchor="t">
            <a:spAutoFit/>
          </a:bodyPr>
          <a:lstStyle/>
          <a:p>
            <a:pPr algn="l">
              <a:spcAft>
                <a:spcPts val="400"/>
              </a:spcAft>
            </a:pPr>
            <a:r>
              <a:rPr sz="1600" b="1" i="0">
                <a:solidFill>
                  <a:srgbClr val="2B2B2B"/>
                </a:solidFill>
                <a:latin typeface="Calibri"/>
              </a:rPr>
              <a:t>Connect the controller</a:t>
            </a:r>
          </a:p>
          <a:p>
            <a:pPr>
              <a:spcAft>
                <a:spcPts val="0"/>
              </a:spcAft>
            </a:pPr>
            <a:r>
              <a:rPr sz="1250" b="0" i="0">
                <a:solidFill>
                  <a:srgbClr val="707070"/>
                </a:solidFill>
                <a:latin typeface="Calibri"/>
              </a:rPr>
              <a:t>ros2_control, same interface for sim and hardware</a:t>
            </a:r>
          </a:p>
        </p:txBody>
      </p:sp>
      <p:sp>
        <p:nvSpPr>
          <p:cNvPr id="15" name="Rounded Rectangle 14"/>
          <p:cNvSpPr/>
          <p:nvPr/>
        </p:nvSpPr>
        <p:spPr>
          <a:xfrm>
            <a:off x="640080" y="4709160"/>
            <a:ext cx="5440680" cy="1143000"/>
          </a:xfrm>
          <a:prstGeom prst="roundRect">
            <a:avLst>
              <a:gd name="adj" fmla="val 6000"/>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32688" y="4965192"/>
            <a:ext cx="548640" cy="640080"/>
          </a:xfrm>
          <a:prstGeom prst="rect">
            <a:avLst/>
          </a:prstGeom>
          <a:noFill/>
        </p:spPr>
        <p:txBody>
          <a:bodyPr wrap="square" lIns="0" rIns="0" tIns="0" bIns="0" anchor="t">
            <a:spAutoFit/>
          </a:bodyPr>
          <a:lstStyle/>
          <a:p>
            <a:pPr algn="l">
              <a:spcAft>
                <a:spcPts val="0"/>
              </a:spcAft>
            </a:pPr>
            <a:r>
              <a:rPr sz="2400" b="1" i="0">
                <a:solidFill>
                  <a:srgbClr val="C45A11"/>
                </a:solidFill>
                <a:latin typeface="Cambria"/>
              </a:rPr>
              <a:t>5</a:t>
            </a:r>
          </a:p>
        </p:txBody>
      </p:sp>
      <p:sp>
        <p:nvSpPr>
          <p:cNvPr id="17" name="TextBox 16"/>
          <p:cNvSpPr txBox="1"/>
          <p:nvPr/>
        </p:nvSpPr>
        <p:spPr>
          <a:xfrm>
            <a:off x="1600200" y="4910328"/>
            <a:ext cx="4297680" cy="868680"/>
          </a:xfrm>
          <a:prstGeom prst="rect">
            <a:avLst/>
          </a:prstGeom>
          <a:noFill/>
        </p:spPr>
        <p:txBody>
          <a:bodyPr wrap="square" lIns="0" rIns="0" tIns="0" bIns="0" anchor="t">
            <a:spAutoFit/>
          </a:bodyPr>
          <a:lstStyle/>
          <a:p>
            <a:pPr algn="l">
              <a:spcAft>
                <a:spcPts val="400"/>
              </a:spcAft>
            </a:pPr>
            <a:r>
              <a:rPr sz="1600" b="1" i="0">
                <a:solidFill>
                  <a:srgbClr val="2B2B2B"/>
                </a:solidFill>
                <a:latin typeface="Calibri"/>
              </a:rPr>
              <a:t>Demonstrate it</a:t>
            </a:r>
          </a:p>
          <a:p>
            <a:pPr>
              <a:spcAft>
                <a:spcPts val="0"/>
              </a:spcAft>
            </a:pPr>
            <a:r>
              <a:rPr sz="1250" b="0" i="0">
                <a:solidFill>
                  <a:srgbClr val="707070"/>
                </a:solidFill>
                <a:latin typeface="Calibri"/>
              </a:rPr>
              <a:t>Robot walking in simulation, under our control</a:t>
            </a:r>
          </a:p>
        </p:txBody>
      </p:sp>
      <p:sp>
        <p:nvSpPr>
          <p:cNvPr id="18" name="Rounded Rectangle 17"/>
          <p:cNvSpPr/>
          <p:nvPr/>
        </p:nvSpPr>
        <p:spPr>
          <a:xfrm>
            <a:off x="6446520" y="4709160"/>
            <a:ext cx="5440680" cy="1143000"/>
          </a:xfrm>
          <a:prstGeom prst="roundRect">
            <a:avLst>
              <a:gd name="adj" fmla="val 6000"/>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739128" y="4965192"/>
            <a:ext cx="548640" cy="640080"/>
          </a:xfrm>
          <a:prstGeom prst="rect">
            <a:avLst/>
          </a:prstGeom>
          <a:noFill/>
        </p:spPr>
        <p:txBody>
          <a:bodyPr wrap="square" lIns="0" rIns="0" tIns="0" bIns="0" anchor="t">
            <a:spAutoFit/>
          </a:bodyPr>
          <a:lstStyle/>
          <a:p>
            <a:pPr algn="l">
              <a:spcAft>
                <a:spcPts val="0"/>
              </a:spcAft>
            </a:pPr>
            <a:r>
              <a:rPr sz="2400" b="1" i="0">
                <a:solidFill>
                  <a:srgbClr val="C45A11"/>
                </a:solidFill>
                <a:latin typeface="Cambria"/>
              </a:rPr>
              <a:t>6</a:t>
            </a:r>
          </a:p>
        </p:txBody>
      </p:sp>
      <p:sp>
        <p:nvSpPr>
          <p:cNvPr id="20" name="TextBox 19"/>
          <p:cNvSpPr txBox="1"/>
          <p:nvPr/>
        </p:nvSpPr>
        <p:spPr>
          <a:xfrm>
            <a:off x="7406640" y="4910328"/>
            <a:ext cx="4297680" cy="868680"/>
          </a:xfrm>
          <a:prstGeom prst="rect">
            <a:avLst/>
          </a:prstGeom>
          <a:noFill/>
        </p:spPr>
        <p:txBody>
          <a:bodyPr wrap="square" lIns="0" rIns="0" tIns="0" bIns="0" anchor="t">
            <a:spAutoFit/>
          </a:bodyPr>
          <a:lstStyle/>
          <a:p>
            <a:pPr algn="l">
              <a:spcAft>
                <a:spcPts val="400"/>
              </a:spcAft>
            </a:pPr>
            <a:r>
              <a:rPr sz="1600" b="1" i="0">
                <a:solidFill>
                  <a:srgbClr val="2B2B2B"/>
                </a:solidFill>
                <a:latin typeface="Calibri"/>
              </a:rPr>
              <a:t>Stay hardware ready</a:t>
            </a:r>
          </a:p>
          <a:p>
            <a:pPr>
              <a:spcAft>
                <a:spcPts val="0"/>
              </a:spcAft>
            </a:pPr>
            <a:r>
              <a:rPr sz="1250" b="0" i="0">
                <a:solidFill>
                  <a:srgbClr val="707070"/>
                </a:solidFill>
                <a:latin typeface="Calibri"/>
              </a:rPr>
              <a:t>Moving to servos should be a settings change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10972800" cy="868680"/>
          </a:xfrm>
          <a:prstGeom prst="rect">
            <a:avLst/>
          </a:prstGeom>
          <a:noFill/>
        </p:spPr>
        <p:txBody>
          <a:bodyPr wrap="square" lIns="0" rIns="0" tIns="0" bIns="0" anchor="t">
            <a:spAutoFit/>
          </a:bodyPr>
          <a:lstStyle/>
          <a:p>
            <a:pPr algn="l">
              <a:spcAft>
                <a:spcPts val="0"/>
              </a:spcAft>
            </a:pPr>
            <a:r>
              <a:rPr sz="3400" b="1" i="0">
                <a:solidFill>
                  <a:srgbClr val="2B2B2B"/>
                </a:solidFill>
                <a:latin typeface="Cambria"/>
              </a:rPr>
              <a:t>The robot</a:t>
            </a:r>
          </a:p>
        </p:txBody>
      </p:sp>
      <p:sp>
        <p:nvSpPr>
          <p:cNvPr id="3" name="TextBox 2"/>
          <p:cNvSpPr txBox="1"/>
          <p:nvPr/>
        </p:nvSpPr>
        <p:spPr>
          <a:xfrm>
            <a:off x="640080" y="1371600"/>
            <a:ext cx="10972800" cy="411480"/>
          </a:xfrm>
          <a:prstGeom prst="rect">
            <a:avLst/>
          </a:prstGeom>
          <a:noFill/>
        </p:spPr>
        <p:txBody>
          <a:bodyPr wrap="square" lIns="0" rIns="0" tIns="0" bIns="0" anchor="t">
            <a:spAutoFit/>
          </a:bodyPr>
          <a:lstStyle/>
          <a:p>
            <a:pPr algn="l">
              <a:spcAft>
                <a:spcPts val="0"/>
              </a:spcAft>
            </a:pPr>
            <a:r>
              <a:rPr sz="1500" b="0" i="0">
                <a:solidFill>
                  <a:srgbClr val="707070"/>
                </a:solidFill>
                <a:latin typeface="Calibri"/>
              </a:rPr>
              <a:t>Six legs, three joints each, all designed by us</a:t>
            </a:r>
          </a:p>
        </p:txBody>
      </p:sp>
      <p:sp>
        <p:nvSpPr>
          <p:cNvPr id="4" name="Rectangle 3"/>
          <p:cNvSpPr/>
          <p:nvPr/>
        </p:nvSpPr>
        <p:spPr>
          <a:xfrm>
            <a:off x="640080" y="1920240"/>
            <a:ext cx="6675120" cy="3977639"/>
          </a:xfrm>
          <a:prstGeom prst="rect">
            <a:avLst/>
          </a:prstGeom>
          <a:solidFill>
            <a:srgbClr val="F3F3F3"/>
          </a:solidFill>
          <a:ln w="15875">
            <a:solidFill>
              <a:srgbClr val="C8C8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3589020"/>
            <a:ext cx="6126480" cy="731520"/>
          </a:xfrm>
          <a:prstGeom prst="rect">
            <a:avLst/>
          </a:prstGeom>
          <a:noFill/>
        </p:spPr>
        <p:txBody>
          <a:bodyPr wrap="square" lIns="0" rIns="0" tIns="0" bIns="0" anchor="ctr">
            <a:spAutoFit/>
          </a:bodyPr>
          <a:lstStyle/>
          <a:p>
            <a:pPr algn="ctr">
              <a:spcAft>
                <a:spcPts val="0"/>
              </a:spcAft>
            </a:pPr>
            <a:r>
              <a:rPr sz="1400" b="0" i="1">
                <a:solidFill>
                  <a:srgbClr val="707070"/>
                </a:solidFill>
                <a:latin typeface="Calibri"/>
              </a:rPr>
              <a:t>AutoCAD assembly, top view and one leg close-up</a:t>
            </a:r>
          </a:p>
          <a:p>
            <a:pPr algn="ctr">
              <a:spcAft>
                <a:spcPts val="0"/>
              </a:spcAft>
            </a:pPr>
            <a:r>
              <a:rPr sz="1150" b="0" i="0">
                <a:solidFill>
                  <a:srgbClr val="A0A0A0"/>
                </a:solidFill>
                <a:latin typeface="Calibri"/>
              </a:rPr>
              <a:t>picture goes here</a:t>
            </a:r>
          </a:p>
        </p:txBody>
      </p:sp>
      <p:sp>
        <p:nvSpPr>
          <p:cNvPr id="6" name="TextBox 5"/>
          <p:cNvSpPr txBox="1"/>
          <p:nvPr/>
        </p:nvSpPr>
        <p:spPr>
          <a:xfrm>
            <a:off x="7680960" y="1965960"/>
            <a:ext cx="3840480" cy="1463040"/>
          </a:xfrm>
          <a:prstGeom prst="rect">
            <a:avLst/>
          </a:prstGeom>
          <a:noFill/>
        </p:spPr>
        <p:txBody>
          <a:bodyPr wrap="square" lIns="0" rIns="0" tIns="0" bIns="0" anchor="t">
            <a:spAutoFit/>
          </a:bodyPr>
          <a:lstStyle/>
          <a:p>
            <a:pPr algn="l">
              <a:spcAft>
                <a:spcPts val="1000"/>
              </a:spcAft>
            </a:pPr>
            <a:r>
              <a:rPr sz="1700" b="1" i="0">
                <a:solidFill>
                  <a:srgbClr val="C45A11"/>
                </a:solidFill>
                <a:latin typeface="Cambria"/>
              </a:rPr>
              <a:t>Three joints per leg</a:t>
            </a:r>
          </a:p>
          <a:p>
            <a:pPr>
              <a:spcAft>
                <a:spcPts val="600"/>
              </a:spcAft>
            </a:pPr>
            <a:r>
              <a:rPr sz="1450" b="0" i="0">
                <a:solidFill>
                  <a:srgbClr val="2B2B2B"/>
                </a:solidFill>
                <a:latin typeface="Calibri"/>
              </a:rPr>
              <a:t>Coxa swings the leg sideways</a:t>
            </a:r>
          </a:p>
          <a:p>
            <a:pPr>
              <a:spcAft>
                <a:spcPts val="600"/>
              </a:spcAft>
            </a:pPr>
            <a:r>
              <a:rPr sz="1450" b="0" i="0">
                <a:solidFill>
                  <a:srgbClr val="2B2B2B"/>
                </a:solidFill>
                <a:latin typeface="Calibri"/>
              </a:rPr>
              <a:t>Femur lifts it up and down</a:t>
            </a:r>
          </a:p>
          <a:p>
            <a:pPr>
              <a:spcAft>
                <a:spcPts val="0"/>
              </a:spcAft>
            </a:pPr>
            <a:r>
              <a:rPr sz="1450" b="0" i="0">
                <a:solidFill>
                  <a:srgbClr val="2B2B2B"/>
                </a:solidFill>
                <a:latin typeface="Calibri"/>
              </a:rPr>
              <a:t>Tibia extends it outward</a:t>
            </a:r>
          </a:p>
        </p:txBody>
      </p:sp>
      <p:sp>
        <p:nvSpPr>
          <p:cNvPr id="7" name="TextBox 6"/>
          <p:cNvSpPr txBox="1"/>
          <p:nvPr/>
        </p:nvSpPr>
        <p:spPr>
          <a:xfrm>
            <a:off x="7680960" y="3794760"/>
            <a:ext cx="1828800" cy="731520"/>
          </a:xfrm>
          <a:prstGeom prst="rect">
            <a:avLst/>
          </a:prstGeom>
          <a:noFill/>
        </p:spPr>
        <p:txBody>
          <a:bodyPr wrap="square" lIns="0" rIns="0" tIns="0" bIns="0" anchor="t">
            <a:spAutoFit/>
          </a:bodyPr>
          <a:lstStyle/>
          <a:p>
            <a:pPr algn="ctr">
              <a:spcAft>
                <a:spcPts val="0"/>
              </a:spcAft>
            </a:pPr>
            <a:r>
              <a:rPr sz="4000" b="1" i="0">
                <a:solidFill>
                  <a:srgbClr val="C45A11"/>
                </a:solidFill>
                <a:latin typeface="Cambria"/>
              </a:rPr>
              <a:t>18</a:t>
            </a:r>
          </a:p>
        </p:txBody>
      </p:sp>
      <p:sp>
        <p:nvSpPr>
          <p:cNvPr id="8" name="TextBox 7"/>
          <p:cNvSpPr txBox="1"/>
          <p:nvPr/>
        </p:nvSpPr>
        <p:spPr>
          <a:xfrm>
            <a:off x="7680960" y="4453128"/>
            <a:ext cx="1828800" cy="640080"/>
          </a:xfrm>
          <a:prstGeom prst="rect">
            <a:avLst/>
          </a:prstGeom>
          <a:noFill/>
        </p:spPr>
        <p:txBody>
          <a:bodyPr wrap="square" lIns="0" rIns="0" tIns="0" bIns="0" anchor="t">
            <a:spAutoFit/>
          </a:bodyPr>
          <a:lstStyle/>
          <a:p>
            <a:pPr algn="ctr">
              <a:spcAft>
                <a:spcPts val="0"/>
              </a:spcAft>
            </a:pPr>
            <a:r>
              <a:rPr sz="1250" b="0" i="0">
                <a:solidFill>
                  <a:srgbClr val="707070"/>
                </a:solidFill>
                <a:latin typeface="Calibri"/>
              </a:rPr>
              <a:t>joints</a:t>
            </a:r>
          </a:p>
        </p:txBody>
      </p:sp>
      <p:sp>
        <p:nvSpPr>
          <p:cNvPr id="9" name="TextBox 8"/>
          <p:cNvSpPr txBox="1"/>
          <p:nvPr/>
        </p:nvSpPr>
        <p:spPr>
          <a:xfrm>
            <a:off x="9692640" y="3794760"/>
            <a:ext cx="1828800" cy="731520"/>
          </a:xfrm>
          <a:prstGeom prst="rect">
            <a:avLst/>
          </a:prstGeom>
          <a:noFill/>
        </p:spPr>
        <p:txBody>
          <a:bodyPr wrap="square" lIns="0" rIns="0" tIns="0" bIns="0" anchor="t">
            <a:spAutoFit/>
          </a:bodyPr>
          <a:lstStyle/>
          <a:p>
            <a:pPr algn="ctr">
              <a:spcAft>
                <a:spcPts val="0"/>
              </a:spcAft>
            </a:pPr>
            <a:r>
              <a:rPr sz="4000" b="1" i="0">
                <a:solidFill>
                  <a:srgbClr val="C45A11"/>
                </a:solidFill>
                <a:latin typeface="Cambria"/>
              </a:rPr>
              <a:t>6</a:t>
            </a:r>
          </a:p>
        </p:txBody>
      </p:sp>
      <p:sp>
        <p:nvSpPr>
          <p:cNvPr id="10" name="TextBox 9"/>
          <p:cNvSpPr txBox="1"/>
          <p:nvPr/>
        </p:nvSpPr>
        <p:spPr>
          <a:xfrm>
            <a:off x="9692640" y="4453128"/>
            <a:ext cx="1828800" cy="640080"/>
          </a:xfrm>
          <a:prstGeom prst="rect">
            <a:avLst/>
          </a:prstGeom>
          <a:noFill/>
        </p:spPr>
        <p:txBody>
          <a:bodyPr wrap="square" lIns="0" rIns="0" tIns="0" bIns="0" anchor="t">
            <a:spAutoFit/>
          </a:bodyPr>
          <a:lstStyle/>
          <a:p>
            <a:pPr algn="ctr">
              <a:spcAft>
                <a:spcPts val="0"/>
              </a:spcAft>
            </a:pPr>
            <a:r>
              <a:rPr sz="1250" b="0" i="0">
                <a:solidFill>
                  <a:srgbClr val="707070"/>
                </a:solidFill>
                <a:latin typeface="Calibri"/>
              </a:rPr>
              <a:t>legs</a:t>
            </a:r>
          </a:p>
        </p:txBody>
      </p:sp>
      <p:sp>
        <p:nvSpPr>
          <p:cNvPr id="11" name="TextBox 10"/>
          <p:cNvSpPr txBox="1"/>
          <p:nvPr/>
        </p:nvSpPr>
        <p:spPr>
          <a:xfrm>
            <a:off x="7680960" y="4983480"/>
            <a:ext cx="1828800" cy="731520"/>
          </a:xfrm>
          <a:prstGeom prst="rect">
            <a:avLst/>
          </a:prstGeom>
          <a:noFill/>
        </p:spPr>
        <p:txBody>
          <a:bodyPr wrap="square" lIns="0" rIns="0" tIns="0" bIns="0" anchor="t">
            <a:spAutoFit/>
          </a:bodyPr>
          <a:lstStyle/>
          <a:p>
            <a:pPr algn="ctr">
              <a:spcAft>
                <a:spcPts val="0"/>
              </a:spcAft>
            </a:pPr>
            <a:r>
              <a:rPr sz="4000" b="1" i="0">
                <a:solidFill>
                  <a:srgbClr val="C45A11"/>
                </a:solidFill>
                <a:latin typeface="Cambria"/>
              </a:rPr>
              <a:t>3.39</a:t>
            </a:r>
          </a:p>
        </p:txBody>
      </p:sp>
      <p:sp>
        <p:nvSpPr>
          <p:cNvPr id="12" name="TextBox 11"/>
          <p:cNvSpPr txBox="1"/>
          <p:nvPr/>
        </p:nvSpPr>
        <p:spPr>
          <a:xfrm>
            <a:off x="7680960" y="5641848"/>
            <a:ext cx="1828800" cy="640080"/>
          </a:xfrm>
          <a:prstGeom prst="rect">
            <a:avLst/>
          </a:prstGeom>
          <a:noFill/>
        </p:spPr>
        <p:txBody>
          <a:bodyPr wrap="square" lIns="0" rIns="0" tIns="0" bIns="0" anchor="t">
            <a:spAutoFit/>
          </a:bodyPr>
          <a:lstStyle/>
          <a:p>
            <a:pPr algn="ctr">
              <a:spcAft>
                <a:spcPts val="0"/>
              </a:spcAft>
            </a:pPr>
            <a:r>
              <a:rPr sz="1250" b="0" i="0">
                <a:solidFill>
                  <a:srgbClr val="707070"/>
                </a:solidFill>
                <a:latin typeface="Calibri"/>
              </a:rPr>
              <a:t>kg</a:t>
            </a:r>
          </a:p>
        </p:txBody>
      </p:sp>
      <p:sp>
        <p:nvSpPr>
          <p:cNvPr id="13" name="TextBox 12"/>
          <p:cNvSpPr txBox="1"/>
          <p:nvPr/>
        </p:nvSpPr>
        <p:spPr>
          <a:xfrm>
            <a:off x="9692640" y="4983480"/>
            <a:ext cx="1828800" cy="731520"/>
          </a:xfrm>
          <a:prstGeom prst="rect">
            <a:avLst/>
          </a:prstGeom>
          <a:noFill/>
        </p:spPr>
        <p:txBody>
          <a:bodyPr wrap="square" lIns="0" rIns="0" tIns="0" bIns="0" anchor="t">
            <a:spAutoFit/>
          </a:bodyPr>
          <a:lstStyle/>
          <a:p>
            <a:pPr algn="ctr">
              <a:spcAft>
                <a:spcPts val="0"/>
              </a:spcAft>
            </a:pPr>
            <a:r>
              <a:rPr sz="4000" b="1" i="0">
                <a:solidFill>
                  <a:srgbClr val="C45A11"/>
                </a:solidFill>
                <a:latin typeface="Cambria"/>
              </a:rPr>
              <a:t>25</a:t>
            </a:r>
          </a:p>
        </p:txBody>
      </p:sp>
      <p:sp>
        <p:nvSpPr>
          <p:cNvPr id="14" name="TextBox 13"/>
          <p:cNvSpPr txBox="1"/>
          <p:nvPr/>
        </p:nvSpPr>
        <p:spPr>
          <a:xfrm>
            <a:off x="9692640" y="5641848"/>
            <a:ext cx="1828800" cy="640080"/>
          </a:xfrm>
          <a:prstGeom prst="rect">
            <a:avLst/>
          </a:prstGeom>
          <a:noFill/>
        </p:spPr>
        <p:txBody>
          <a:bodyPr wrap="square" lIns="0" rIns="0" tIns="0" bIns="0" anchor="t">
            <a:spAutoFit/>
          </a:bodyPr>
          <a:lstStyle/>
          <a:p>
            <a:pPr algn="ctr">
              <a:spcAft>
                <a:spcPts val="0"/>
              </a:spcAft>
            </a:pPr>
            <a:r>
              <a:rPr sz="1250" b="0" i="0">
                <a:solidFill>
                  <a:srgbClr val="707070"/>
                </a:solidFill>
                <a:latin typeface="Calibri"/>
              </a:rPr>
              <a:t>links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10972800" cy="868680"/>
          </a:xfrm>
          <a:prstGeom prst="rect">
            <a:avLst/>
          </a:prstGeom>
          <a:noFill/>
        </p:spPr>
        <p:txBody>
          <a:bodyPr wrap="square" lIns="0" rIns="0" tIns="0" bIns="0" anchor="t">
            <a:spAutoFit/>
          </a:bodyPr>
          <a:lstStyle/>
          <a:p>
            <a:pPr algn="l">
              <a:spcAft>
                <a:spcPts val="0"/>
              </a:spcAft>
            </a:pPr>
            <a:r>
              <a:rPr sz="3400" b="1" i="0">
                <a:solidFill>
                  <a:srgbClr val="2B2B2B"/>
                </a:solidFill>
                <a:latin typeface="Cambria"/>
              </a:rPr>
              <a:t>Mechanical design</a:t>
            </a:r>
          </a:p>
        </p:txBody>
      </p:sp>
      <p:sp>
        <p:nvSpPr>
          <p:cNvPr id="3" name="TextBox 2"/>
          <p:cNvSpPr txBox="1"/>
          <p:nvPr/>
        </p:nvSpPr>
        <p:spPr>
          <a:xfrm>
            <a:off x="640080" y="1371600"/>
            <a:ext cx="10972800" cy="411480"/>
          </a:xfrm>
          <a:prstGeom prst="rect">
            <a:avLst/>
          </a:prstGeom>
          <a:noFill/>
        </p:spPr>
        <p:txBody>
          <a:bodyPr wrap="square" lIns="0" rIns="0" tIns="0" bIns="0" anchor="t">
            <a:spAutoFit/>
          </a:bodyPr>
          <a:lstStyle/>
          <a:p>
            <a:pPr algn="l">
              <a:spcAft>
                <a:spcPts val="0"/>
              </a:spcAft>
            </a:pPr>
            <a:r>
              <a:rPr sz="1500" b="0" i="0">
                <a:solidFill>
                  <a:srgbClr val="707070"/>
                </a:solidFill>
                <a:latin typeface="Calibri"/>
              </a:rPr>
              <a:t>Link lengths and masses come from the CAD, not from estimates</a:t>
            </a:r>
          </a:p>
        </p:txBody>
      </p:sp>
      <p:sp>
        <p:nvSpPr>
          <p:cNvPr id="4" name="Rectangle 3"/>
          <p:cNvSpPr/>
          <p:nvPr/>
        </p:nvSpPr>
        <p:spPr>
          <a:xfrm>
            <a:off x="640080" y="1920240"/>
            <a:ext cx="5577840" cy="3977639"/>
          </a:xfrm>
          <a:prstGeom prst="rect">
            <a:avLst/>
          </a:prstGeom>
          <a:solidFill>
            <a:srgbClr val="F3F3F3"/>
          </a:solidFill>
          <a:ln w="15875">
            <a:solidFill>
              <a:srgbClr val="C8C8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3589020"/>
            <a:ext cx="5029200" cy="731520"/>
          </a:xfrm>
          <a:prstGeom prst="rect">
            <a:avLst/>
          </a:prstGeom>
          <a:noFill/>
        </p:spPr>
        <p:txBody>
          <a:bodyPr wrap="square" lIns="0" rIns="0" tIns="0" bIns="0" anchor="ctr">
            <a:spAutoFit/>
          </a:bodyPr>
          <a:lstStyle/>
          <a:p>
            <a:pPr algn="ctr">
              <a:spcAft>
                <a:spcPts val="0"/>
              </a:spcAft>
            </a:pPr>
            <a:r>
              <a:rPr sz="1400" b="0" i="1">
                <a:solidFill>
                  <a:srgbClr val="707070"/>
                </a:solidFill>
                <a:latin typeface="Calibri"/>
              </a:rPr>
              <a:t>Exploded view of one leg / printed parts</a:t>
            </a:r>
          </a:p>
          <a:p>
            <a:pPr algn="ctr">
              <a:spcAft>
                <a:spcPts val="0"/>
              </a:spcAft>
            </a:pPr>
            <a:r>
              <a:rPr sz="1150" b="0" i="0">
                <a:solidFill>
                  <a:srgbClr val="A0A0A0"/>
                </a:solidFill>
                <a:latin typeface="Calibri"/>
              </a:rPr>
              <a:t>picture goes here</a:t>
            </a:r>
          </a:p>
        </p:txBody>
      </p:sp>
      <p:graphicFrame>
        <p:nvGraphicFramePr>
          <p:cNvPr id="6" name="Table 5"/>
          <p:cNvGraphicFramePr>
            <a:graphicFrameLocks noGrp="1"/>
          </p:cNvGraphicFramePr>
          <p:nvPr/>
        </p:nvGraphicFramePr>
        <p:xfrm>
          <a:off x="6583680" y="2148840"/>
          <a:ext cx="4937760" cy="2514600"/>
        </p:xfrm>
        <a:graphic>
          <a:graphicData uri="http://schemas.openxmlformats.org/drawingml/2006/table">
            <a:tbl>
              <a:tblPr firstRow="1" bandRow="1">
                <a:tableStyleId>{5C22544A-7EE6-4342-B048-85BDC9FD1C3A}</a:tableStyleId>
              </a:tblPr>
              <a:tblGrid>
                <a:gridCol w="1737360"/>
                <a:gridCol w="1645920"/>
                <a:gridCol w="1554480"/>
              </a:tblGrid>
              <a:tr h="502920">
                <a:tc>
                  <a:txBody>
                    <a:bodyPr/>
                    <a:lstStyle/>
                    <a:p>
                      <a:r>
                        <a:rPr sz="1300" b="1">
                          <a:solidFill>
                            <a:srgbClr val="FFFFFF"/>
                          </a:solidFill>
                          <a:latin typeface="Calibri"/>
                        </a:rPr>
                        <a:t>Part</a:t>
                      </a:r>
                    </a:p>
                  </a:txBody>
                  <a:tcPr marL="91440" marR="91440" anchor="ctr">
                    <a:solidFill>
                      <a:srgbClr val="33383D"/>
                    </a:solidFill>
                  </a:tcPr>
                </a:tc>
                <a:tc>
                  <a:txBody>
                    <a:bodyPr/>
                    <a:lstStyle/>
                    <a:p>
                      <a:r>
                        <a:rPr sz="1300" b="1">
                          <a:solidFill>
                            <a:srgbClr val="FFFFFF"/>
                          </a:solidFill>
                          <a:latin typeface="Calibri"/>
                        </a:rPr>
                        <a:t>Length</a:t>
                      </a:r>
                    </a:p>
                  </a:txBody>
                  <a:tcPr marL="91440" marR="91440" anchor="ctr">
                    <a:solidFill>
                      <a:srgbClr val="33383D"/>
                    </a:solidFill>
                  </a:tcPr>
                </a:tc>
                <a:tc>
                  <a:txBody>
                    <a:bodyPr/>
                    <a:lstStyle/>
                    <a:p>
                      <a:r>
                        <a:rPr sz="1300" b="1">
                          <a:solidFill>
                            <a:srgbClr val="FFFFFF"/>
                          </a:solidFill>
                          <a:latin typeface="Calibri"/>
                        </a:rPr>
                        <a:t>Mass</a:t>
                      </a:r>
                    </a:p>
                  </a:txBody>
                  <a:tcPr marL="91440" marR="91440" anchor="ctr">
                    <a:solidFill>
                      <a:srgbClr val="33383D"/>
                    </a:solidFill>
                  </a:tcPr>
                </a:tc>
              </a:tr>
              <a:tr h="502920">
                <a:tc>
                  <a:txBody>
                    <a:bodyPr/>
                    <a:lstStyle/>
                    <a:p>
                      <a:r>
                        <a:rPr sz="1300" b="1">
                          <a:solidFill>
                            <a:srgbClr val="2B2B2B"/>
                          </a:solidFill>
                          <a:latin typeface="Calibri"/>
                        </a:rPr>
                        <a:t>Body</a:t>
                      </a:r>
                    </a:p>
                  </a:txBody>
                  <a:tcPr marL="91440" marR="91440" anchor="ctr">
                    <a:solidFill>
                      <a:srgbClr val="FFFFFF"/>
                    </a:solidFill>
                  </a:tcPr>
                </a:tc>
                <a:tc>
                  <a:txBody>
                    <a:bodyPr/>
                    <a:lstStyle/>
                    <a:p>
                      <a:r>
                        <a:rPr sz="1300" b="0">
                          <a:solidFill>
                            <a:srgbClr val="2B2B2B"/>
                          </a:solidFill>
                          <a:latin typeface="Calibri"/>
                        </a:rPr>
                        <a:t>312.7 mm</a:t>
                      </a:r>
                    </a:p>
                  </a:txBody>
                  <a:tcPr marL="91440" marR="91440" anchor="ctr">
                    <a:solidFill>
                      <a:srgbClr val="FFFFFF"/>
                    </a:solidFill>
                  </a:tcPr>
                </a:tc>
                <a:tc>
                  <a:txBody>
                    <a:bodyPr/>
                    <a:lstStyle/>
                    <a:p>
                      <a:r>
                        <a:rPr sz="1300" b="0">
                          <a:solidFill>
                            <a:srgbClr val="2B2B2B"/>
                          </a:solidFill>
                          <a:latin typeface="Calibri"/>
                        </a:rPr>
                        <a:t>1.310 kg</a:t>
                      </a:r>
                    </a:p>
                  </a:txBody>
                  <a:tcPr marL="91440" marR="91440" anchor="ctr">
                    <a:solidFill>
                      <a:srgbClr val="FFFFFF"/>
                    </a:solidFill>
                  </a:tcPr>
                </a:tc>
              </a:tr>
              <a:tr h="502920">
                <a:tc>
                  <a:txBody>
                    <a:bodyPr/>
                    <a:lstStyle/>
                    <a:p>
                      <a:r>
                        <a:rPr sz="1300" b="1">
                          <a:solidFill>
                            <a:srgbClr val="2B2B2B"/>
                          </a:solidFill>
                          <a:latin typeface="Calibri"/>
                        </a:rPr>
                        <a:t>Coxa</a:t>
                      </a:r>
                    </a:p>
                  </a:txBody>
                  <a:tcPr marL="91440" marR="91440" anchor="ctr">
                    <a:solidFill>
                      <a:srgbClr val="F3F3F3"/>
                    </a:solidFill>
                  </a:tcPr>
                </a:tc>
                <a:tc>
                  <a:txBody>
                    <a:bodyPr/>
                    <a:lstStyle/>
                    <a:p>
                      <a:r>
                        <a:rPr sz="1300" b="0">
                          <a:solidFill>
                            <a:srgbClr val="2B2B2B"/>
                          </a:solidFill>
                          <a:latin typeface="Calibri"/>
                        </a:rPr>
                        <a:t>150.0 mm</a:t>
                      </a:r>
                    </a:p>
                  </a:txBody>
                  <a:tcPr marL="91440" marR="91440" anchor="ctr">
                    <a:solidFill>
                      <a:srgbClr val="F3F3F3"/>
                    </a:solidFill>
                  </a:tcPr>
                </a:tc>
                <a:tc>
                  <a:txBody>
                    <a:bodyPr/>
                    <a:lstStyle/>
                    <a:p>
                      <a:r>
                        <a:rPr sz="1300" b="0">
                          <a:solidFill>
                            <a:srgbClr val="2B2B2B"/>
                          </a:solidFill>
                          <a:latin typeface="Calibri"/>
                        </a:rPr>
                        <a:t>0.201 kg</a:t>
                      </a:r>
                    </a:p>
                  </a:txBody>
                  <a:tcPr marL="91440" marR="91440" anchor="ctr">
                    <a:solidFill>
                      <a:srgbClr val="F3F3F3"/>
                    </a:solidFill>
                  </a:tcPr>
                </a:tc>
              </a:tr>
              <a:tr h="502920">
                <a:tc>
                  <a:txBody>
                    <a:bodyPr/>
                    <a:lstStyle/>
                    <a:p>
                      <a:r>
                        <a:rPr sz="1300" b="1">
                          <a:solidFill>
                            <a:srgbClr val="2B2B2B"/>
                          </a:solidFill>
                          <a:latin typeface="Calibri"/>
                        </a:rPr>
                        <a:t>Femur</a:t>
                      </a:r>
                    </a:p>
                  </a:txBody>
                  <a:tcPr marL="91440" marR="91440" anchor="ctr">
                    <a:solidFill>
                      <a:srgbClr val="FFFFFF"/>
                    </a:solidFill>
                  </a:tcPr>
                </a:tc>
                <a:tc>
                  <a:txBody>
                    <a:bodyPr/>
                    <a:lstStyle/>
                    <a:p>
                      <a:r>
                        <a:rPr sz="1300" b="0">
                          <a:solidFill>
                            <a:srgbClr val="2B2B2B"/>
                          </a:solidFill>
                          <a:latin typeface="Calibri"/>
                        </a:rPr>
                        <a:t>116.6 mm</a:t>
                      </a:r>
                    </a:p>
                  </a:txBody>
                  <a:tcPr marL="91440" marR="91440" anchor="ctr">
                    <a:solidFill>
                      <a:srgbClr val="FFFFFF"/>
                    </a:solidFill>
                  </a:tcPr>
                </a:tc>
                <a:tc>
                  <a:txBody>
                    <a:bodyPr/>
                    <a:lstStyle/>
                    <a:p>
                      <a:r>
                        <a:rPr sz="1300" b="0">
                          <a:solidFill>
                            <a:srgbClr val="2B2B2B"/>
                          </a:solidFill>
                          <a:latin typeface="Calibri"/>
                        </a:rPr>
                        <a:t>0.101 kg</a:t>
                      </a:r>
                    </a:p>
                  </a:txBody>
                  <a:tcPr marL="91440" marR="91440" anchor="ctr">
                    <a:solidFill>
                      <a:srgbClr val="FFFFFF"/>
                    </a:solidFill>
                  </a:tcPr>
                </a:tc>
              </a:tr>
              <a:tr h="502920">
                <a:tc>
                  <a:txBody>
                    <a:bodyPr/>
                    <a:lstStyle/>
                    <a:p>
                      <a:r>
                        <a:rPr sz="1300" b="1">
                          <a:solidFill>
                            <a:srgbClr val="2B2B2B"/>
                          </a:solidFill>
                          <a:latin typeface="Calibri"/>
                        </a:rPr>
                        <a:t>Tibia</a:t>
                      </a:r>
                    </a:p>
                  </a:txBody>
                  <a:tcPr marL="91440" marR="91440" anchor="ctr">
                    <a:solidFill>
                      <a:srgbClr val="F3F3F3"/>
                    </a:solidFill>
                  </a:tcPr>
                </a:tc>
                <a:tc>
                  <a:txBody>
                    <a:bodyPr/>
                    <a:lstStyle/>
                    <a:p>
                      <a:r>
                        <a:rPr sz="1300" b="0">
                          <a:solidFill>
                            <a:srgbClr val="2B2B2B"/>
                          </a:solidFill>
                          <a:latin typeface="Calibri"/>
                        </a:rPr>
                        <a:t>150.0 mm</a:t>
                      </a:r>
                    </a:p>
                  </a:txBody>
                  <a:tcPr marL="91440" marR="91440" anchor="ctr">
                    <a:solidFill>
                      <a:srgbClr val="F3F3F3"/>
                    </a:solidFill>
                  </a:tcPr>
                </a:tc>
                <a:tc>
                  <a:txBody>
                    <a:bodyPr/>
                    <a:lstStyle/>
                    <a:p>
                      <a:r>
                        <a:rPr sz="1300" b="0">
                          <a:solidFill>
                            <a:srgbClr val="2B2B2B"/>
                          </a:solidFill>
                          <a:latin typeface="Calibri"/>
                        </a:rPr>
                        <a:t>0.035 kg</a:t>
                      </a:r>
                    </a:p>
                  </a:txBody>
                  <a:tcPr marL="91440" marR="91440" anchor="ctr">
                    <a:solidFill>
                      <a:srgbClr val="F3F3F3"/>
                    </a:solidFill>
                  </a:tcPr>
                </a:tc>
              </a:tr>
            </a:tbl>
          </a:graphicData>
        </a:graphic>
      </p:graphicFrame>
      <p:sp>
        <p:nvSpPr>
          <p:cNvPr id="7" name="TextBox 6"/>
          <p:cNvSpPr txBox="1"/>
          <p:nvPr/>
        </p:nvSpPr>
        <p:spPr>
          <a:xfrm>
            <a:off x="6583680" y="4892040"/>
            <a:ext cx="4937760" cy="1005840"/>
          </a:xfrm>
          <a:prstGeom prst="rect">
            <a:avLst/>
          </a:prstGeom>
          <a:noFill/>
        </p:spPr>
        <p:txBody>
          <a:bodyPr wrap="square" lIns="0" rIns="0" tIns="0" bIns="0" anchor="t">
            <a:spAutoFit/>
          </a:bodyPr>
          <a:lstStyle/>
          <a:p>
            <a:pPr algn="l">
              <a:spcAft>
                <a:spcPts val="0"/>
              </a:spcAft>
            </a:pPr>
            <a:r>
              <a:rPr sz="1350" b="0" i="0">
                <a:solidFill>
                  <a:srgbClr val="707070"/>
                </a:solidFill>
                <a:latin typeface="Calibri"/>
              </a:rPr>
              <a:t>Each servo's weight belongs to the part it is bolted to, not the part it moves.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10972800" cy="868680"/>
          </a:xfrm>
          <a:prstGeom prst="rect">
            <a:avLst/>
          </a:prstGeom>
          <a:noFill/>
        </p:spPr>
        <p:txBody>
          <a:bodyPr wrap="square" lIns="0" rIns="0" tIns="0" bIns="0" anchor="t">
            <a:spAutoFit/>
          </a:bodyPr>
          <a:lstStyle/>
          <a:p>
            <a:pPr algn="l">
              <a:spcAft>
                <a:spcPts val="0"/>
              </a:spcAft>
            </a:pPr>
            <a:r>
              <a:rPr sz="3400" b="1" i="0">
                <a:solidFill>
                  <a:srgbClr val="2B2B2B"/>
                </a:solidFill>
                <a:latin typeface="Cambria"/>
              </a:rPr>
              <a:t>Structural analysis</a:t>
            </a:r>
          </a:p>
        </p:txBody>
      </p:sp>
      <p:sp>
        <p:nvSpPr>
          <p:cNvPr id="3" name="TextBox 2"/>
          <p:cNvSpPr txBox="1"/>
          <p:nvPr/>
        </p:nvSpPr>
        <p:spPr>
          <a:xfrm>
            <a:off x="640080" y="1371600"/>
            <a:ext cx="10972800" cy="411480"/>
          </a:xfrm>
          <a:prstGeom prst="rect">
            <a:avLst/>
          </a:prstGeom>
          <a:noFill/>
        </p:spPr>
        <p:txBody>
          <a:bodyPr wrap="square" lIns="0" rIns="0" tIns="0" bIns="0" anchor="t">
            <a:spAutoFit/>
          </a:bodyPr>
          <a:lstStyle/>
          <a:p>
            <a:pPr algn="l">
              <a:spcAft>
                <a:spcPts val="0"/>
              </a:spcAft>
            </a:pPr>
            <a:r>
              <a:rPr sz="1500" b="0" i="0">
                <a:solidFill>
                  <a:srgbClr val="707070"/>
                </a:solidFill>
                <a:latin typeface="Calibri"/>
              </a:rPr>
              <a:t>Checking the printed parts under the real standing load</a:t>
            </a:r>
          </a:p>
        </p:txBody>
      </p:sp>
      <p:sp>
        <p:nvSpPr>
          <p:cNvPr id="4" name="Rectangle 3"/>
          <p:cNvSpPr/>
          <p:nvPr/>
        </p:nvSpPr>
        <p:spPr>
          <a:xfrm>
            <a:off x="640080" y="1920240"/>
            <a:ext cx="5394960" cy="3749039"/>
          </a:xfrm>
          <a:prstGeom prst="rect">
            <a:avLst/>
          </a:prstGeom>
          <a:solidFill>
            <a:srgbClr val="F3F3F3"/>
          </a:solidFill>
          <a:ln w="15875">
            <a:solidFill>
              <a:srgbClr val="C8C8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3474720"/>
            <a:ext cx="4846320" cy="731520"/>
          </a:xfrm>
          <a:prstGeom prst="rect">
            <a:avLst/>
          </a:prstGeom>
          <a:noFill/>
        </p:spPr>
        <p:txBody>
          <a:bodyPr wrap="square" lIns="0" rIns="0" tIns="0" bIns="0" anchor="ctr">
            <a:spAutoFit/>
          </a:bodyPr>
          <a:lstStyle/>
          <a:p>
            <a:pPr algn="ctr">
              <a:spcAft>
                <a:spcPts val="0"/>
              </a:spcAft>
            </a:pPr>
            <a:r>
              <a:rPr sz="1400" b="0" i="1">
                <a:solidFill>
                  <a:srgbClr val="707070"/>
                </a:solidFill>
                <a:latin typeface="Calibri"/>
              </a:rPr>
              <a:t>ANSYS stress plot, tibia or femur</a:t>
            </a:r>
          </a:p>
          <a:p>
            <a:pPr algn="ctr">
              <a:spcAft>
                <a:spcPts val="0"/>
              </a:spcAft>
            </a:pPr>
            <a:r>
              <a:rPr sz="1150" b="0" i="0">
                <a:solidFill>
                  <a:srgbClr val="A0A0A0"/>
                </a:solidFill>
                <a:latin typeface="Calibri"/>
              </a:rPr>
              <a:t>picture goes here</a:t>
            </a:r>
          </a:p>
        </p:txBody>
      </p:sp>
      <p:sp>
        <p:nvSpPr>
          <p:cNvPr id="6" name="Rectangle 5"/>
          <p:cNvSpPr/>
          <p:nvPr/>
        </p:nvSpPr>
        <p:spPr>
          <a:xfrm>
            <a:off x="6309360" y="1920240"/>
            <a:ext cx="5212080" cy="3749039"/>
          </a:xfrm>
          <a:prstGeom prst="rect">
            <a:avLst/>
          </a:prstGeom>
          <a:solidFill>
            <a:srgbClr val="F3F3F3"/>
          </a:solidFill>
          <a:ln w="15875">
            <a:solidFill>
              <a:srgbClr val="C8C8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0" y="3474720"/>
            <a:ext cx="4663440" cy="731520"/>
          </a:xfrm>
          <a:prstGeom prst="rect">
            <a:avLst/>
          </a:prstGeom>
          <a:noFill/>
        </p:spPr>
        <p:txBody>
          <a:bodyPr wrap="square" lIns="0" rIns="0" tIns="0" bIns="0" anchor="ctr">
            <a:spAutoFit/>
          </a:bodyPr>
          <a:lstStyle/>
          <a:p>
            <a:pPr algn="ctr">
              <a:spcAft>
                <a:spcPts val="0"/>
              </a:spcAft>
            </a:pPr>
            <a:r>
              <a:rPr sz="1400" b="0" i="1">
                <a:solidFill>
                  <a:srgbClr val="707070"/>
                </a:solidFill>
                <a:latin typeface="Calibri"/>
              </a:rPr>
              <a:t>ANSYS deformation plot</a:t>
            </a:r>
          </a:p>
          <a:p>
            <a:pPr algn="ctr">
              <a:spcAft>
                <a:spcPts val="0"/>
              </a:spcAft>
            </a:pPr>
            <a:r>
              <a:rPr sz="1150" b="0" i="0">
                <a:solidFill>
                  <a:srgbClr val="A0A0A0"/>
                </a:solidFill>
                <a:latin typeface="Calibri"/>
              </a:rPr>
              <a:t>picture goes here</a:t>
            </a:r>
          </a:p>
        </p:txBody>
      </p:sp>
      <p:sp>
        <p:nvSpPr>
          <p:cNvPr id="8" name="TextBox 7"/>
          <p:cNvSpPr txBox="1"/>
          <p:nvPr/>
        </p:nvSpPr>
        <p:spPr>
          <a:xfrm>
            <a:off x="640080" y="5989320"/>
            <a:ext cx="10881360" cy="548640"/>
          </a:xfrm>
          <a:prstGeom prst="rect">
            <a:avLst/>
          </a:prstGeom>
          <a:noFill/>
        </p:spPr>
        <p:txBody>
          <a:bodyPr wrap="square" lIns="0" rIns="0" tIns="0" bIns="0" anchor="t">
            <a:spAutoFit/>
          </a:bodyPr>
          <a:lstStyle/>
          <a:p>
            <a:pPr algn="l">
              <a:spcAft>
                <a:spcPts val="0"/>
              </a:spcAft>
            </a:pPr>
            <a:r>
              <a:rPr sz="1350" b="0" i="0">
                <a:solidFill>
                  <a:srgbClr val="2B2B2B"/>
                </a:solidFill>
                <a:latin typeface="Calibri"/>
              </a:rPr>
              <a:t>Load case: 3.39 kg robot standing on three legs, about 10.9 N per foot.   Peak stress [   ] MPa    Max deflection [   ] mm    Factor of safety [   ]</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10972800" cy="868680"/>
          </a:xfrm>
          <a:prstGeom prst="rect">
            <a:avLst/>
          </a:prstGeom>
          <a:noFill/>
        </p:spPr>
        <p:txBody>
          <a:bodyPr wrap="square" lIns="0" rIns="0" tIns="0" bIns="0" anchor="t">
            <a:spAutoFit/>
          </a:bodyPr>
          <a:lstStyle/>
          <a:p>
            <a:pPr algn="l">
              <a:spcAft>
                <a:spcPts val="0"/>
              </a:spcAft>
            </a:pPr>
            <a:r>
              <a:rPr sz="3400" b="1" i="0">
                <a:solidFill>
                  <a:srgbClr val="2B2B2B"/>
                </a:solidFill>
                <a:latin typeface="Cambria"/>
              </a:rPr>
              <a:t>From CAD to a simulation model</a:t>
            </a:r>
          </a:p>
        </p:txBody>
      </p:sp>
      <p:sp>
        <p:nvSpPr>
          <p:cNvPr id="3" name="TextBox 2"/>
          <p:cNvSpPr txBox="1"/>
          <p:nvPr/>
        </p:nvSpPr>
        <p:spPr>
          <a:xfrm>
            <a:off x="640080" y="1371600"/>
            <a:ext cx="10972800" cy="411480"/>
          </a:xfrm>
          <a:prstGeom prst="rect">
            <a:avLst/>
          </a:prstGeom>
          <a:noFill/>
        </p:spPr>
        <p:txBody>
          <a:bodyPr wrap="square" lIns="0" rIns="0" tIns="0" bIns="0" anchor="t">
            <a:spAutoFit/>
          </a:bodyPr>
          <a:lstStyle/>
          <a:p>
            <a:pPr algn="l">
              <a:spcAft>
                <a:spcPts val="0"/>
              </a:spcAft>
            </a:pPr>
            <a:r>
              <a:rPr sz="1500" b="0" i="0">
                <a:solidFill>
                  <a:srgbClr val="707070"/>
                </a:solidFill>
                <a:latin typeface="Calibri"/>
              </a:rPr>
              <a:t>The same parts, described in a form ROS 2 can use</a:t>
            </a:r>
          </a:p>
        </p:txBody>
      </p:sp>
      <p:sp>
        <p:nvSpPr>
          <p:cNvPr id="4" name="Rectangle 3"/>
          <p:cNvSpPr/>
          <p:nvPr/>
        </p:nvSpPr>
        <p:spPr>
          <a:xfrm>
            <a:off x="640080" y="1920240"/>
            <a:ext cx="5394960" cy="3931920"/>
          </a:xfrm>
          <a:prstGeom prst="rect">
            <a:avLst/>
          </a:prstGeom>
          <a:solidFill>
            <a:srgbClr val="F3F3F3"/>
          </a:solidFill>
          <a:ln w="15875">
            <a:solidFill>
              <a:srgbClr val="C8C8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3566160"/>
            <a:ext cx="4846320" cy="731520"/>
          </a:xfrm>
          <a:prstGeom prst="rect">
            <a:avLst/>
          </a:prstGeom>
          <a:noFill/>
        </p:spPr>
        <p:txBody>
          <a:bodyPr wrap="square" lIns="0" rIns="0" tIns="0" bIns="0" anchor="ctr">
            <a:spAutoFit/>
          </a:bodyPr>
          <a:lstStyle/>
          <a:p>
            <a:pPr algn="ctr">
              <a:spcAft>
                <a:spcPts val="0"/>
              </a:spcAft>
            </a:pPr>
            <a:r>
              <a:rPr sz="1400" b="0" i="1">
                <a:solidFill>
                  <a:srgbClr val="707070"/>
                </a:solidFill>
                <a:latin typeface="Calibri"/>
              </a:rPr>
              <a:t>RViz view of the robot model</a:t>
            </a:r>
          </a:p>
          <a:p>
            <a:pPr algn="ctr">
              <a:spcAft>
                <a:spcPts val="0"/>
              </a:spcAft>
            </a:pPr>
            <a:r>
              <a:rPr sz="1150" b="0" i="0">
                <a:solidFill>
                  <a:srgbClr val="A0A0A0"/>
                </a:solidFill>
                <a:latin typeface="Calibri"/>
              </a:rPr>
              <a:t>picture goes here</a:t>
            </a:r>
          </a:p>
        </p:txBody>
      </p:sp>
      <p:sp>
        <p:nvSpPr>
          <p:cNvPr id="6" name="TextBox 5"/>
          <p:cNvSpPr txBox="1"/>
          <p:nvPr/>
        </p:nvSpPr>
        <p:spPr>
          <a:xfrm>
            <a:off x="6400800" y="2011680"/>
            <a:ext cx="5120640" cy="3840480"/>
          </a:xfrm>
          <a:prstGeom prst="rect">
            <a:avLst/>
          </a:prstGeom>
          <a:noFill/>
        </p:spPr>
        <p:txBody>
          <a:bodyPr wrap="square" lIns="0" rIns="0" tIns="0" bIns="0" anchor="t">
            <a:spAutoFit/>
          </a:bodyPr>
          <a:lstStyle/>
          <a:p>
            <a:pPr algn="l">
              <a:spcAft>
                <a:spcPts val="1200"/>
              </a:spcAft>
            </a:pPr>
            <a:r>
              <a:rPr sz="1700" b="1" i="0">
                <a:solidFill>
                  <a:srgbClr val="C45A11"/>
                </a:solidFill>
                <a:latin typeface="Cambria"/>
              </a:rPr>
              <a:t>What the model carries</a:t>
            </a:r>
          </a:p>
          <a:p>
            <a:pPr>
              <a:spcAft>
                <a:spcPts val="1000"/>
              </a:spcAft>
            </a:pPr>
            <a:r>
              <a:rPr sz="1500" b="0" i="0">
                <a:solidFill>
                  <a:srgbClr val="2B2B2B"/>
                </a:solidFill>
                <a:latin typeface="Calibri"/>
              </a:rPr>
              <a:t>•  Shape of every part, from the CAD meshes</a:t>
            </a:r>
          </a:p>
          <a:p>
            <a:pPr>
              <a:spcAft>
                <a:spcPts val="1000"/>
              </a:spcAft>
            </a:pPr>
            <a:r>
              <a:rPr sz="1500" b="0" i="0">
                <a:solidFill>
                  <a:srgbClr val="2B2B2B"/>
                </a:solidFill>
                <a:latin typeface="Calibri"/>
              </a:rPr>
              <a:t>•  Position and axis of all 18 joints</a:t>
            </a:r>
          </a:p>
          <a:p>
            <a:pPr>
              <a:spcAft>
                <a:spcPts val="1000"/>
              </a:spcAft>
            </a:pPr>
            <a:r>
              <a:rPr sz="1500" b="0" i="0">
                <a:solidFill>
                  <a:srgbClr val="2B2B2B"/>
                </a:solidFill>
                <a:latin typeface="Calibri"/>
              </a:rPr>
              <a:t>•  Mass and inertia of each link</a:t>
            </a:r>
          </a:p>
          <a:p>
            <a:pPr>
              <a:spcAft>
                <a:spcPts val="1000"/>
              </a:spcAft>
            </a:pPr>
            <a:r>
              <a:rPr sz="1500" b="0" i="0">
                <a:solidFill>
                  <a:srgbClr val="2B2B2B"/>
                </a:solidFill>
                <a:latin typeface="Calibri"/>
              </a:rPr>
              <a:t>•  Joint limits, friction and damping</a:t>
            </a:r>
          </a:p>
          <a:p>
            <a:pPr>
              <a:spcAft>
                <a:spcPts val="0"/>
              </a:spcAft>
            </a:pPr>
            <a:r>
              <a:rPr sz="1350" b="0" i="0">
                <a:solidFill>
                  <a:srgbClr val="707070"/>
                </a:solidFill>
                <a:latin typeface="Calibri"/>
              </a:rPr>
              <a:t>Appearance uses the CAD meshes. Contact and inertia use simple boxes and cylinders, which is far faster and, for the chassis, actually more correct.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10972800" cy="868680"/>
          </a:xfrm>
          <a:prstGeom prst="rect">
            <a:avLst/>
          </a:prstGeom>
          <a:noFill/>
        </p:spPr>
        <p:txBody>
          <a:bodyPr wrap="square" lIns="0" rIns="0" tIns="0" bIns="0" anchor="t">
            <a:spAutoFit/>
          </a:bodyPr>
          <a:lstStyle/>
          <a:p>
            <a:pPr algn="l">
              <a:spcAft>
                <a:spcPts val="0"/>
              </a:spcAft>
            </a:pPr>
            <a:r>
              <a:rPr sz="3400" b="1" i="0">
                <a:solidFill>
                  <a:srgbClr val="2B2B2B"/>
                </a:solidFill>
                <a:latin typeface="Cambria"/>
              </a:rPr>
              <a:t>How the software is organised</a:t>
            </a:r>
          </a:p>
        </p:txBody>
      </p:sp>
      <p:sp>
        <p:nvSpPr>
          <p:cNvPr id="3" name="TextBox 2"/>
          <p:cNvSpPr txBox="1"/>
          <p:nvPr/>
        </p:nvSpPr>
        <p:spPr>
          <a:xfrm>
            <a:off x="640080" y="1371600"/>
            <a:ext cx="10972800" cy="411480"/>
          </a:xfrm>
          <a:prstGeom prst="rect">
            <a:avLst/>
          </a:prstGeom>
          <a:noFill/>
        </p:spPr>
        <p:txBody>
          <a:bodyPr wrap="square" lIns="0" rIns="0" tIns="0" bIns="0" anchor="t">
            <a:spAutoFit/>
          </a:bodyPr>
          <a:lstStyle/>
          <a:p>
            <a:pPr algn="l">
              <a:spcAft>
                <a:spcPts val="0"/>
              </a:spcAft>
            </a:pPr>
            <a:r>
              <a:rPr sz="1500" b="0" i="0">
                <a:solidFill>
                  <a:srgbClr val="707070"/>
                </a:solidFill>
                <a:latin typeface="Calibri"/>
              </a:rPr>
              <a:t>Five parts, each one able to change without breaking the others</a:t>
            </a:r>
          </a:p>
        </p:txBody>
      </p:sp>
      <p:sp>
        <p:nvSpPr>
          <p:cNvPr id="4" name="Rounded Rectangle 3"/>
          <p:cNvSpPr/>
          <p:nvPr/>
        </p:nvSpPr>
        <p:spPr>
          <a:xfrm>
            <a:off x="640080" y="2286000"/>
            <a:ext cx="2084831" cy="1828800"/>
          </a:xfrm>
          <a:prstGeom prst="roundRect">
            <a:avLst>
              <a:gd name="adj" fmla="val 6000"/>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41247" y="2542032"/>
            <a:ext cx="1737360" cy="1371600"/>
          </a:xfrm>
          <a:prstGeom prst="rect">
            <a:avLst/>
          </a:prstGeom>
          <a:noFill/>
        </p:spPr>
        <p:txBody>
          <a:bodyPr wrap="square" lIns="0" rIns="0" tIns="0" bIns="0" anchor="t">
            <a:spAutoFit/>
          </a:bodyPr>
          <a:lstStyle/>
          <a:p>
            <a:pPr algn="l">
              <a:spcAft>
                <a:spcPts val="700"/>
              </a:spcAft>
            </a:pPr>
            <a:r>
              <a:rPr sz="1550" b="1" i="0">
                <a:solidFill>
                  <a:srgbClr val="2B2B2B"/>
                </a:solidFill>
                <a:latin typeface="Calibri"/>
              </a:rPr>
              <a:t>Robot model</a:t>
            </a:r>
          </a:p>
          <a:p>
            <a:pPr>
              <a:spcAft>
                <a:spcPts val="100"/>
              </a:spcAft>
            </a:pPr>
            <a:r>
              <a:rPr sz="1250" b="0" i="0">
                <a:solidFill>
                  <a:srgbClr val="707070"/>
                </a:solidFill>
                <a:latin typeface="Calibri"/>
              </a:rPr>
              <a:t>shape, joints,</a:t>
            </a:r>
          </a:p>
          <a:p>
            <a:pPr>
              <a:spcAft>
                <a:spcPts val="100"/>
              </a:spcAft>
            </a:pPr>
            <a:r>
              <a:rPr sz="1250" b="0" i="0">
                <a:solidFill>
                  <a:srgbClr val="707070"/>
                </a:solidFill>
                <a:latin typeface="Calibri"/>
              </a:rPr>
              <a:t>masses</a:t>
            </a:r>
          </a:p>
        </p:txBody>
      </p:sp>
      <p:sp>
        <p:nvSpPr>
          <p:cNvPr id="6" name="Rounded Rectangle 5"/>
          <p:cNvSpPr/>
          <p:nvPr/>
        </p:nvSpPr>
        <p:spPr>
          <a:xfrm>
            <a:off x="2880360" y="2286000"/>
            <a:ext cx="2084831" cy="1828800"/>
          </a:xfrm>
          <a:prstGeom prst="roundRect">
            <a:avLst>
              <a:gd name="adj" fmla="val 6000"/>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081528" y="2542032"/>
            <a:ext cx="1737360" cy="1371600"/>
          </a:xfrm>
          <a:prstGeom prst="rect">
            <a:avLst/>
          </a:prstGeom>
          <a:noFill/>
        </p:spPr>
        <p:txBody>
          <a:bodyPr wrap="square" lIns="0" rIns="0" tIns="0" bIns="0" anchor="t">
            <a:spAutoFit/>
          </a:bodyPr>
          <a:lstStyle/>
          <a:p>
            <a:pPr algn="l">
              <a:spcAft>
                <a:spcPts val="700"/>
              </a:spcAft>
            </a:pPr>
            <a:r>
              <a:rPr sz="1550" b="1" i="0">
                <a:solidFill>
                  <a:srgbClr val="2B2B2B"/>
                </a:solidFill>
                <a:latin typeface="Calibri"/>
              </a:rPr>
              <a:t>Simulation</a:t>
            </a:r>
          </a:p>
          <a:p>
            <a:pPr>
              <a:spcAft>
                <a:spcPts val="100"/>
              </a:spcAft>
            </a:pPr>
            <a:r>
              <a:rPr sz="1250" b="0" i="0">
                <a:solidFill>
                  <a:srgbClr val="707070"/>
                </a:solidFill>
                <a:latin typeface="Calibri"/>
              </a:rPr>
              <a:t>Gazebo world</a:t>
            </a:r>
          </a:p>
          <a:p>
            <a:pPr>
              <a:spcAft>
                <a:spcPts val="100"/>
              </a:spcAft>
            </a:pPr>
            <a:r>
              <a:rPr sz="1250" b="0" i="0">
                <a:solidFill>
                  <a:srgbClr val="707070"/>
                </a:solidFill>
                <a:latin typeface="Calibri"/>
              </a:rPr>
              <a:t>and physics</a:t>
            </a:r>
          </a:p>
        </p:txBody>
      </p:sp>
      <p:sp>
        <p:nvSpPr>
          <p:cNvPr id="8" name="Rounded Rectangle 7"/>
          <p:cNvSpPr/>
          <p:nvPr/>
        </p:nvSpPr>
        <p:spPr>
          <a:xfrm>
            <a:off x="5120640" y="2286000"/>
            <a:ext cx="2084831" cy="1828800"/>
          </a:xfrm>
          <a:prstGeom prst="roundRect">
            <a:avLst>
              <a:gd name="adj" fmla="val 6000"/>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321808" y="2542032"/>
            <a:ext cx="1737360" cy="1371600"/>
          </a:xfrm>
          <a:prstGeom prst="rect">
            <a:avLst/>
          </a:prstGeom>
          <a:noFill/>
        </p:spPr>
        <p:txBody>
          <a:bodyPr wrap="square" lIns="0" rIns="0" tIns="0" bIns="0" anchor="t">
            <a:spAutoFit/>
          </a:bodyPr>
          <a:lstStyle/>
          <a:p>
            <a:pPr algn="l">
              <a:spcAft>
                <a:spcPts val="700"/>
              </a:spcAft>
            </a:pPr>
            <a:r>
              <a:rPr sz="1550" b="1" i="0">
                <a:solidFill>
                  <a:srgbClr val="2B2B2B"/>
                </a:solidFill>
                <a:latin typeface="Calibri"/>
              </a:rPr>
              <a:t>Controller</a:t>
            </a:r>
          </a:p>
          <a:p>
            <a:pPr>
              <a:spcAft>
                <a:spcPts val="100"/>
              </a:spcAft>
            </a:pPr>
            <a:r>
              <a:rPr sz="1250" b="0" i="0">
                <a:solidFill>
                  <a:srgbClr val="707070"/>
                </a:solidFill>
                <a:latin typeface="Calibri"/>
              </a:rPr>
              <a:t>settings for the</a:t>
            </a:r>
          </a:p>
          <a:p>
            <a:pPr>
              <a:spcAft>
                <a:spcPts val="100"/>
              </a:spcAft>
            </a:pPr>
            <a:r>
              <a:rPr sz="1250" b="0" i="0">
                <a:solidFill>
                  <a:srgbClr val="707070"/>
                </a:solidFill>
                <a:latin typeface="Calibri"/>
              </a:rPr>
              <a:t>joint controllers</a:t>
            </a:r>
          </a:p>
        </p:txBody>
      </p:sp>
      <p:sp>
        <p:nvSpPr>
          <p:cNvPr id="10" name="Rounded Rectangle 9"/>
          <p:cNvSpPr/>
          <p:nvPr/>
        </p:nvSpPr>
        <p:spPr>
          <a:xfrm>
            <a:off x="7360920" y="2286000"/>
            <a:ext cx="2084831" cy="1828800"/>
          </a:xfrm>
          <a:prstGeom prst="roundRect">
            <a:avLst>
              <a:gd name="adj" fmla="val 6000"/>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562088" y="2542032"/>
            <a:ext cx="1737360" cy="1371600"/>
          </a:xfrm>
          <a:prstGeom prst="rect">
            <a:avLst/>
          </a:prstGeom>
          <a:noFill/>
        </p:spPr>
        <p:txBody>
          <a:bodyPr wrap="square" lIns="0" rIns="0" tIns="0" bIns="0" anchor="t">
            <a:spAutoFit/>
          </a:bodyPr>
          <a:lstStyle/>
          <a:p>
            <a:pPr algn="l">
              <a:spcAft>
                <a:spcPts val="700"/>
              </a:spcAft>
            </a:pPr>
            <a:r>
              <a:rPr sz="1550" b="1" i="0">
                <a:solidFill>
                  <a:srgbClr val="2B2B2B"/>
                </a:solidFill>
                <a:latin typeface="Calibri"/>
              </a:rPr>
              <a:t>Walking</a:t>
            </a:r>
          </a:p>
          <a:p>
            <a:pPr>
              <a:spcAft>
                <a:spcPts val="100"/>
              </a:spcAft>
            </a:pPr>
            <a:r>
              <a:rPr sz="1250" b="0" i="0">
                <a:solidFill>
                  <a:srgbClr val="707070"/>
                </a:solidFill>
                <a:latin typeface="Calibri"/>
              </a:rPr>
              <a:t>kinematics and</a:t>
            </a:r>
          </a:p>
          <a:p>
            <a:pPr>
              <a:spcAft>
                <a:spcPts val="100"/>
              </a:spcAft>
            </a:pPr>
            <a:r>
              <a:rPr sz="1250" b="0" i="0">
                <a:solidFill>
                  <a:srgbClr val="707070"/>
                </a:solidFill>
                <a:latin typeface="Calibri"/>
              </a:rPr>
              <a:t>gait</a:t>
            </a:r>
          </a:p>
        </p:txBody>
      </p:sp>
      <p:sp>
        <p:nvSpPr>
          <p:cNvPr id="12" name="Rounded Rectangle 11"/>
          <p:cNvSpPr/>
          <p:nvPr/>
        </p:nvSpPr>
        <p:spPr>
          <a:xfrm>
            <a:off x="9601200" y="2286000"/>
            <a:ext cx="2084831" cy="1828800"/>
          </a:xfrm>
          <a:prstGeom prst="roundRect">
            <a:avLst>
              <a:gd name="adj" fmla="val 6000"/>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802368" y="2542032"/>
            <a:ext cx="1737360" cy="1371600"/>
          </a:xfrm>
          <a:prstGeom prst="rect">
            <a:avLst/>
          </a:prstGeom>
          <a:noFill/>
        </p:spPr>
        <p:txBody>
          <a:bodyPr wrap="square" lIns="0" rIns="0" tIns="0" bIns="0" anchor="t">
            <a:spAutoFit/>
          </a:bodyPr>
          <a:lstStyle/>
          <a:p>
            <a:pPr algn="l">
              <a:spcAft>
                <a:spcPts val="700"/>
              </a:spcAft>
            </a:pPr>
            <a:r>
              <a:rPr sz="1550" b="1" i="0">
                <a:solidFill>
                  <a:srgbClr val="2B2B2B"/>
                </a:solidFill>
                <a:latin typeface="Calibri"/>
              </a:rPr>
              <a:t>Launch</a:t>
            </a:r>
          </a:p>
          <a:p>
            <a:pPr>
              <a:spcAft>
                <a:spcPts val="100"/>
              </a:spcAft>
            </a:pPr>
            <a:r>
              <a:rPr sz="1250" b="0" i="0">
                <a:solidFill>
                  <a:srgbClr val="707070"/>
                </a:solidFill>
                <a:latin typeface="Calibri"/>
              </a:rPr>
              <a:t>one command to</a:t>
            </a:r>
          </a:p>
          <a:p>
            <a:pPr>
              <a:spcAft>
                <a:spcPts val="100"/>
              </a:spcAft>
            </a:pPr>
            <a:r>
              <a:rPr sz="1250" b="0" i="0">
                <a:solidFill>
                  <a:srgbClr val="707070"/>
                </a:solidFill>
                <a:latin typeface="Calibri"/>
              </a:rPr>
              <a:t>start everything</a:t>
            </a:r>
          </a:p>
        </p:txBody>
      </p:sp>
      <p:sp>
        <p:nvSpPr>
          <p:cNvPr id="14" name="TextBox 13"/>
          <p:cNvSpPr txBox="1"/>
          <p:nvPr/>
        </p:nvSpPr>
        <p:spPr>
          <a:xfrm>
            <a:off x="640080" y="4617720"/>
            <a:ext cx="10881360" cy="1188720"/>
          </a:xfrm>
          <a:prstGeom prst="rect">
            <a:avLst/>
          </a:prstGeom>
          <a:noFill/>
        </p:spPr>
        <p:txBody>
          <a:bodyPr wrap="square" lIns="0" rIns="0" tIns="0" bIns="0" anchor="t">
            <a:spAutoFit/>
          </a:bodyPr>
          <a:lstStyle/>
          <a:p>
            <a:pPr algn="l">
              <a:spcAft>
                <a:spcPts val="0"/>
              </a:spcAft>
            </a:pPr>
            <a:r>
              <a:rPr sz="1600" b="0" i="0">
                <a:solidFill>
                  <a:srgbClr val="2B2B2B"/>
                </a:solidFill>
                <a:latin typeface="Calibri"/>
              </a:rPr>
              <a:t>The robot model depends on nothing else. That is what makes the move to real hardware a settings change instead of a rewrite.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10972800" cy="868680"/>
          </a:xfrm>
          <a:prstGeom prst="rect">
            <a:avLst/>
          </a:prstGeom>
          <a:noFill/>
        </p:spPr>
        <p:txBody>
          <a:bodyPr wrap="square" lIns="0" rIns="0" tIns="0" bIns="0" anchor="t">
            <a:spAutoFit/>
          </a:bodyPr>
          <a:lstStyle/>
          <a:p>
            <a:pPr algn="l">
              <a:spcAft>
                <a:spcPts val="0"/>
              </a:spcAft>
            </a:pPr>
            <a:r>
              <a:rPr sz="3400" b="1" i="0">
                <a:solidFill>
                  <a:srgbClr val="2B2B2B"/>
                </a:solidFill>
                <a:latin typeface="Cambria"/>
              </a:rPr>
              <a:t>How it decides to walk</a:t>
            </a:r>
          </a:p>
        </p:txBody>
      </p:sp>
      <p:sp>
        <p:nvSpPr>
          <p:cNvPr id="3" name="TextBox 2"/>
          <p:cNvSpPr txBox="1"/>
          <p:nvPr/>
        </p:nvSpPr>
        <p:spPr>
          <a:xfrm>
            <a:off x="640080" y="1371600"/>
            <a:ext cx="10972800" cy="411480"/>
          </a:xfrm>
          <a:prstGeom prst="rect">
            <a:avLst/>
          </a:prstGeom>
          <a:noFill/>
        </p:spPr>
        <p:txBody>
          <a:bodyPr wrap="square" lIns="0" rIns="0" tIns="0" bIns="0" anchor="t">
            <a:spAutoFit/>
          </a:bodyPr>
          <a:lstStyle/>
          <a:p>
            <a:pPr algn="l">
              <a:spcAft>
                <a:spcPts val="0"/>
              </a:spcAft>
            </a:pPr>
            <a:r>
              <a:rPr sz="1500" b="0" i="0">
                <a:solidFill>
                  <a:srgbClr val="707070"/>
                </a:solidFill>
                <a:latin typeface="Calibri"/>
              </a:rPr>
              <a:t>We command one thing. Everything else is calculated</a:t>
            </a:r>
          </a:p>
        </p:txBody>
      </p:sp>
      <p:sp>
        <p:nvSpPr>
          <p:cNvPr id="4" name="Rounded Rectangle 3"/>
          <p:cNvSpPr/>
          <p:nvPr/>
        </p:nvSpPr>
        <p:spPr>
          <a:xfrm>
            <a:off x="640080" y="2377440"/>
            <a:ext cx="1965960" cy="1691640"/>
          </a:xfrm>
          <a:prstGeom prst="roundRect">
            <a:avLst>
              <a:gd name="adj" fmla="val 6000"/>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59" y="2670048"/>
            <a:ext cx="1627632" cy="1280160"/>
          </a:xfrm>
          <a:prstGeom prst="rect">
            <a:avLst/>
          </a:prstGeom>
          <a:noFill/>
        </p:spPr>
        <p:txBody>
          <a:bodyPr wrap="square" lIns="0" rIns="0" tIns="0" bIns="0" anchor="t">
            <a:spAutoFit/>
          </a:bodyPr>
          <a:lstStyle/>
          <a:p>
            <a:pPr algn="l">
              <a:spcAft>
                <a:spcPts val="600"/>
              </a:spcAft>
            </a:pPr>
            <a:r>
              <a:rPr sz="1450" b="1" i="0">
                <a:solidFill>
                  <a:srgbClr val="2B2B2B"/>
                </a:solidFill>
                <a:latin typeface="Calibri"/>
              </a:rPr>
              <a:t>Velocity command</a:t>
            </a:r>
          </a:p>
          <a:p>
            <a:pPr>
              <a:spcAft>
                <a:spcPts val="0"/>
              </a:spcAft>
            </a:pPr>
            <a:r>
              <a:rPr sz="1200" b="0" i="0">
                <a:solidFill>
                  <a:srgbClr val="707070"/>
                </a:solidFill>
                <a:latin typeface="Calibri"/>
              </a:rPr>
              <a:t>forward, sideways, turn</a:t>
            </a:r>
          </a:p>
        </p:txBody>
      </p:sp>
      <p:sp>
        <p:nvSpPr>
          <p:cNvPr id="6" name="TextBox 5"/>
          <p:cNvSpPr txBox="1"/>
          <p:nvPr/>
        </p:nvSpPr>
        <p:spPr>
          <a:xfrm>
            <a:off x="2651760" y="3035808"/>
            <a:ext cx="292608" cy="365760"/>
          </a:xfrm>
          <a:prstGeom prst="rect">
            <a:avLst/>
          </a:prstGeom>
          <a:noFill/>
        </p:spPr>
        <p:txBody>
          <a:bodyPr wrap="square" lIns="0" rIns="0" tIns="0" bIns="0" anchor="t">
            <a:spAutoFit/>
          </a:bodyPr>
          <a:lstStyle/>
          <a:p>
            <a:pPr algn="ctr">
              <a:spcAft>
                <a:spcPts val="0"/>
              </a:spcAft>
            </a:pPr>
            <a:r>
              <a:rPr sz="2600" b="1" i="0">
                <a:solidFill>
                  <a:srgbClr val="C45A11"/>
                </a:solidFill>
                <a:latin typeface="Calibri"/>
              </a:rPr>
              <a:t>›</a:t>
            </a:r>
          </a:p>
        </p:txBody>
      </p:sp>
      <p:sp>
        <p:nvSpPr>
          <p:cNvPr id="7" name="Rounded Rectangle 6"/>
          <p:cNvSpPr/>
          <p:nvPr/>
        </p:nvSpPr>
        <p:spPr>
          <a:xfrm>
            <a:off x="2862072" y="2377440"/>
            <a:ext cx="1965960" cy="1691640"/>
          </a:xfrm>
          <a:prstGeom prst="roundRect">
            <a:avLst>
              <a:gd name="adj" fmla="val 6000"/>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044952" y="2670048"/>
            <a:ext cx="1627632" cy="1280160"/>
          </a:xfrm>
          <a:prstGeom prst="rect">
            <a:avLst/>
          </a:prstGeom>
          <a:noFill/>
        </p:spPr>
        <p:txBody>
          <a:bodyPr wrap="square" lIns="0" rIns="0" tIns="0" bIns="0" anchor="t">
            <a:spAutoFit/>
          </a:bodyPr>
          <a:lstStyle/>
          <a:p>
            <a:pPr algn="l">
              <a:spcAft>
                <a:spcPts val="600"/>
              </a:spcAft>
            </a:pPr>
            <a:r>
              <a:rPr sz="1450" b="1" i="0">
                <a:solidFill>
                  <a:srgbClr val="2B2B2B"/>
                </a:solidFill>
                <a:latin typeface="Calibri"/>
              </a:rPr>
              <a:t>Gait</a:t>
            </a:r>
          </a:p>
          <a:p>
            <a:pPr>
              <a:spcAft>
                <a:spcPts val="0"/>
              </a:spcAft>
            </a:pPr>
            <a:r>
              <a:rPr sz="1200" b="0" i="0">
                <a:solidFill>
                  <a:srgbClr val="707070"/>
                </a:solidFill>
                <a:latin typeface="Calibri"/>
              </a:rPr>
              <a:t>where each foot goes</a:t>
            </a:r>
          </a:p>
        </p:txBody>
      </p:sp>
      <p:sp>
        <p:nvSpPr>
          <p:cNvPr id="9" name="TextBox 8"/>
          <p:cNvSpPr txBox="1"/>
          <p:nvPr/>
        </p:nvSpPr>
        <p:spPr>
          <a:xfrm>
            <a:off x="4873752" y="3035808"/>
            <a:ext cx="292608" cy="365760"/>
          </a:xfrm>
          <a:prstGeom prst="rect">
            <a:avLst/>
          </a:prstGeom>
          <a:noFill/>
        </p:spPr>
        <p:txBody>
          <a:bodyPr wrap="square" lIns="0" rIns="0" tIns="0" bIns="0" anchor="t">
            <a:spAutoFit/>
          </a:bodyPr>
          <a:lstStyle/>
          <a:p>
            <a:pPr algn="ctr">
              <a:spcAft>
                <a:spcPts val="0"/>
              </a:spcAft>
            </a:pPr>
            <a:r>
              <a:rPr sz="2600" b="1" i="0">
                <a:solidFill>
                  <a:srgbClr val="C45A11"/>
                </a:solidFill>
                <a:latin typeface="Calibri"/>
              </a:rPr>
              <a:t>›</a:t>
            </a:r>
          </a:p>
        </p:txBody>
      </p:sp>
      <p:sp>
        <p:nvSpPr>
          <p:cNvPr id="10" name="Rounded Rectangle 9"/>
          <p:cNvSpPr/>
          <p:nvPr/>
        </p:nvSpPr>
        <p:spPr>
          <a:xfrm>
            <a:off x="5084064" y="2377440"/>
            <a:ext cx="1965960" cy="1691640"/>
          </a:xfrm>
          <a:prstGeom prst="roundRect">
            <a:avLst>
              <a:gd name="adj" fmla="val 6000"/>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266944" y="2670048"/>
            <a:ext cx="1627632" cy="1280160"/>
          </a:xfrm>
          <a:prstGeom prst="rect">
            <a:avLst/>
          </a:prstGeom>
          <a:noFill/>
        </p:spPr>
        <p:txBody>
          <a:bodyPr wrap="square" lIns="0" rIns="0" tIns="0" bIns="0" anchor="t">
            <a:spAutoFit/>
          </a:bodyPr>
          <a:lstStyle/>
          <a:p>
            <a:pPr algn="l">
              <a:spcAft>
                <a:spcPts val="600"/>
              </a:spcAft>
            </a:pPr>
            <a:r>
              <a:rPr sz="1450" b="1" i="0">
                <a:solidFill>
                  <a:srgbClr val="2B2B2B"/>
                </a:solidFill>
                <a:latin typeface="Calibri"/>
              </a:rPr>
              <a:t>Leg maths</a:t>
            </a:r>
          </a:p>
          <a:p>
            <a:pPr>
              <a:spcAft>
                <a:spcPts val="0"/>
              </a:spcAft>
            </a:pPr>
            <a:r>
              <a:rPr sz="1200" b="0" i="0">
                <a:solidFill>
                  <a:srgbClr val="707070"/>
                </a:solidFill>
                <a:latin typeface="Calibri"/>
              </a:rPr>
              <a:t>foot positions to joint angles</a:t>
            </a:r>
          </a:p>
        </p:txBody>
      </p:sp>
      <p:sp>
        <p:nvSpPr>
          <p:cNvPr id="12" name="TextBox 11"/>
          <p:cNvSpPr txBox="1"/>
          <p:nvPr/>
        </p:nvSpPr>
        <p:spPr>
          <a:xfrm>
            <a:off x="7095744" y="3035808"/>
            <a:ext cx="292608" cy="365760"/>
          </a:xfrm>
          <a:prstGeom prst="rect">
            <a:avLst/>
          </a:prstGeom>
          <a:noFill/>
        </p:spPr>
        <p:txBody>
          <a:bodyPr wrap="square" lIns="0" rIns="0" tIns="0" bIns="0" anchor="t">
            <a:spAutoFit/>
          </a:bodyPr>
          <a:lstStyle/>
          <a:p>
            <a:pPr algn="ctr">
              <a:spcAft>
                <a:spcPts val="0"/>
              </a:spcAft>
            </a:pPr>
            <a:r>
              <a:rPr sz="2600" b="1" i="0">
                <a:solidFill>
                  <a:srgbClr val="C45A11"/>
                </a:solidFill>
                <a:latin typeface="Calibri"/>
              </a:rPr>
              <a:t>›</a:t>
            </a:r>
          </a:p>
        </p:txBody>
      </p:sp>
      <p:sp>
        <p:nvSpPr>
          <p:cNvPr id="13" name="Rounded Rectangle 12"/>
          <p:cNvSpPr/>
          <p:nvPr/>
        </p:nvSpPr>
        <p:spPr>
          <a:xfrm>
            <a:off x="7306056" y="2377440"/>
            <a:ext cx="1965960" cy="1691640"/>
          </a:xfrm>
          <a:prstGeom prst="roundRect">
            <a:avLst>
              <a:gd name="adj" fmla="val 6000"/>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488936" y="2670048"/>
            <a:ext cx="1627632" cy="1280160"/>
          </a:xfrm>
          <a:prstGeom prst="rect">
            <a:avLst/>
          </a:prstGeom>
          <a:noFill/>
        </p:spPr>
        <p:txBody>
          <a:bodyPr wrap="square" lIns="0" rIns="0" tIns="0" bIns="0" anchor="t">
            <a:spAutoFit/>
          </a:bodyPr>
          <a:lstStyle/>
          <a:p>
            <a:pPr algn="l">
              <a:spcAft>
                <a:spcPts val="600"/>
              </a:spcAft>
            </a:pPr>
            <a:r>
              <a:rPr sz="1450" b="1" i="0">
                <a:solidFill>
                  <a:srgbClr val="2B2B2B"/>
                </a:solidFill>
                <a:latin typeface="Calibri"/>
              </a:rPr>
              <a:t>Controller</a:t>
            </a:r>
          </a:p>
          <a:p>
            <a:pPr>
              <a:spcAft>
                <a:spcPts val="0"/>
              </a:spcAft>
            </a:pPr>
            <a:r>
              <a:rPr sz="1200" b="0" i="0">
                <a:solidFill>
                  <a:srgbClr val="707070"/>
                </a:solidFill>
                <a:latin typeface="Calibri"/>
              </a:rPr>
              <a:t>drives the 18 joints</a:t>
            </a:r>
          </a:p>
        </p:txBody>
      </p:sp>
      <p:sp>
        <p:nvSpPr>
          <p:cNvPr id="15" name="TextBox 14"/>
          <p:cNvSpPr txBox="1"/>
          <p:nvPr/>
        </p:nvSpPr>
        <p:spPr>
          <a:xfrm>
            <a:off x="9317736" y="3035808"/>
            <a:ext cx="292608" cy="365760"/>
          </a:xfrm>
          <a:prstGeom prst="rect">
            <a:avLst/>
          </a:prstGeom>
          <a:noFill/>
        </p:spPr>
        <p:txBody>
          <a:bodyPr wrap="square" lIns="0" rIns="0" tIns="0" bIns="0" anchor="t">
            <a:spAutoFit/>
          </a:bodyPr>
          <a:lstStyle/>
          <a:p>
            <a:pPr algn="ctr">
              <a:spcAft>
                <a:spcPts val="0"/>
              </a:spcAft>
            </a:pPr>
            <a:r>
              <a:rPr sz="2600" b="1" i="0">
                <a:solidFill>
                  <a:srgbClr val="C45A11"/>
                </a:solidFill>
                <a:latin typeface="Calibri"/>
              </a:rPr>
              <a:t>›</a:t>
            </a:r>
          </a:p>
        </p:txBody>
      </p:sp>
      <p:sp>
        <p:nvSpPr>
          <p:cNvPr id="16" name="Rounded Rectangle 15"/>
          <p:cNvSpPr/>
          <p:nvPr/>
        </p:nvSpPr>
        <p:spPr>
          <a:xfrm>
            <a:off x="9528048" y="2377440"/>
            <a:ext cx="1965960" cy="1691640"/>
          </a:xfrm>
          <a:prstGeom prst="roundRect">
            <a:avLst>
              <a:gd name="adj" fmla="val 6000"/>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710928" y="2670048"/>
            <a:ext cx="1627632" cy="1280160"/>
          </a:xfrm>
          <a:prstGeom prst="rect">
            <a:avLst/>
          </a:prstGeom>
          <a:noFill/>
        </p:spPr>
        <p:txBody>
          <a:bodyPr wrap="square" lIns="0" rIns="0" tIns="0" bIns="0" anchor="t">
            <a:spAutoFit/>
          </a:bodyPr>
          <a:lstStyle/>
          <a:p>
            <a:pPr algn="l">
              <a:spcAft>
                <a:spcPts val="600"/>
              </a:spcAft>
            </a:pPr>
            <a:r>
              <a:rPr sz="1450" b="1" i="0">
                <a:solidFill>
                  <a:srgbClr val="2B2B2B"/>
                </a:solidFill>
                <a:latin typeface="Calibri"/>
              </a:rPr>
              <a:t>Gazebo</a:t>
            </a:r>
          </a:p>
          <a:p>
            <a:pPr>
              <a:spcAft>
                <a:spcPts val="0"/>
              </a:spcAft>
            </a:pPr>
            <a:r>
              <a:rPr sz="1200" b="0" i="0">
                <a:solidFill>
                  <a:srgbClr val="707070"/>
                </a:solidFill>
                <a:latin typeface="Calibri"/>
              </a:rPr>
              <a:t>simulates the physics</a:t>
            </a:r>
          </a:p>
        </p:txBody>
      </p:sp>
      <p:sp>
        <p:nvSpPr>
          <p:cNvPr id="18" name="TextBox 17"/>
          <p:cNvSpPr txBox="1"/>
          <p:nvPr/>
        </p:nvSpPr>
        <p:spPr>
          <a:xfrm>
            <a:off x="640080" y="4572000"/>
            <a:ext cx="10881360" cy="1097280"/>
          </a:xfrm>
          <a:prstGeom prst="rect">
            <a:avLst/>
          </a:prstGeom>
          <a:noFill/>
        </p:spPr>
        <p:txBody>
          <a:bodyPr wrap="square" lIns="0" rIns="0" tIns="0" bIns="0" anchor="t">
            <a:spAutoFit/>
          </a:bodyPr>
          <a:lstStyle/>
          <a:p>
            <a:pPr algn="l">
              <a:spcAft>
                <a:spcPts val="0"/>
              </a:spcAft>
            </a:pPr>
            <a:r>
              <a:rPr sz="1600" b="0" i="0">
                <a:solidFill>
                  <a:srgbClr val="2B2B2B"/>
                </a:solidFill>
                <a:latin typeface="Calibri"/>
              </a:rPr>
              <a:t>No motion is pre-recorded. Change the commanded speed and every leg trajectory changes with it.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10972800" cy="868680"/>
          </a:xfrm>
          <a:prstGeom prst="rect">
            <a:avLst/>
          </a:prstGeom>
          <a:noFill/>
        </p:spPr>
        <p:txBody>
          <a:bodyPr wrap="square" lIns="0" rIns="0" tIns="0" bIns="0" anchor="t">
            <a:spAutoFit/>
          </a:bodyPr>
          <a:lstStyle/>
          <a:p>
            <a:pPr algn="l">
              <a:spcAft>
                <a:spcPts val="0"/>
              </a:spcAft>
            </a:pPr>
            <a:r>
              <a:rPr sz="3400" b="1" i="0">
                <a:solidFill>
                  <a:srgbClr val="2B2B2B"/>
                </a:solidFill>
                <a:latin typeface="Cambria"/>
              </a:rPr>
              <a:t>The leg maths</a:t>
            </a:r>
          </a:p>
        </p:txBody>
      </p:sp>
      <p:sp>
        <p:nvSpPr>
          <p:cNvPr id="3" name="TextBox 2"/>
          <p:cNvSpPr txBox="1"/>
          <p:nvPr/>
        </p:nvSpPr>
        <p:spPr>
          <a:xfrm>
            <a:off x="640080" y="1371600"/>
            <a:ext cx="10972800" cy="411480"/>
          </a:xfrm>
          <a:prstGeom prst="rect">
            <a:avLst/>
          </a:prstGeom>
          <a:noFill/>
        </p:spPr>
        <p:txBody>
          <a:bodyPr wrap="square" lIns="0" rIns="0" tIns="0" bIns="0" anchor="t">
            <a:spAutoFit/>
          </a:bodyPr>
          <a:lstStyle/>
          <a:p>
            <a:pPr algn="l">
              <a:spcAft>
                <a:spcPts val="0"/>
              </a:spcAft>
            </a:pPr>
            <a:r>
              <a:rPr sz="1500" b="0" i="0">
                <a:solidFill>
                  <a:srgbClr val="707070"/>
                </a:solidFill>
                <a:latin typeface="Calibri"/>
              </a:rPr>
              <a:t>Where should the joints be, to put the foot there?</a:t>
            </a:r>
          </a:p>
        </p:txBody>
      </p:sp>
      <p:sp>
        <p:nvSpPr>
          <p:cNvPr id="4" name="TextBox 3"/>
          <p:cNvSpPr txBox="1"/>
          <p:nvPr/>
        </p:nvSpPr>
        <p:spPr>
          <a:xfrm>
            <a:off x="640080" y="2011680"/>
            <a:ext cx="5394960" cy="4023360"/>
          </a:xfrm>
          <a:prstGeom prst="rect">
            <a:avLst/>
          </a:prstGeom>
          <a:noFill/>
        </p:spPr>
        <p:txBody>
          <a:bodyPr wrap="square" lIns="0" rIns="0" tIns="0" bIns="0" anchor="t">
            <a:spAutoFit/>
          </a:bodyPr>
          <a:lstStyle/>
          <a:p>
            <a:pPr algn="l">
              <a:spcAft>
                <a:spcPts val="1400"/>
              </a:spcAft>
            </a:pPr>
            <a:r>
              <a:rPr sz="1600" b="0" i="0">
                <a:solidFill>
                  <a:srgbClr val="2B2B2B"/>
                </a:solidFill>
                <a:latin typeface="Calibri"/>
              </a:rPr>
              <a:t>•  Joints two and three turn about the same direction.</a:t>
            </a:r>
          </a:p>
          <a:p>
            <a:pPr>
              <a:spcAft>
                <a:spcPts val="1400"/>
              </a:spcAft>
            </a:pPr>
            <a:r>
              <a:rPr sz="1600" b="0" i="0">
                <a:solidFill>
                  <a:srgbClr val="2B2B2B"/>
                </a:solidFill>
                <a:latin typeface="Calibri"/>
              </a:rPr>
              <a:t>•  So the leg past joint one always stays in one flat plane.</a:t>
            </a:r>
          </a:p>
          <a:p>
            <a:pPr>
              <a:spcAft>
                <a:spcPts val="1400"/>
              </a:spcAft>
            </a:pPr>
            <a:r>
              <a:rPr sz="1600" b="0" i="0">
                <a:solidFill>
                  <a:srgbClr val="2B2B2B"/>
                </a:solidFill>
                <a:latin typeface="Calibri"/>
              </a:rPr>
              <a:t>•  Joint one only chooses which plane.</a:t>
            </a:r>
          </a:p>
          <a:p>
            <a:pPr>
              <a:spcAft>
                <a:spcPts val="1400"/>
              </a:spcAft>
            </a:pPr>
            <a:r>
              <a:rPr sz="1600" b="0" i="0">
                <a:solidFill>
                  <a:srgbClr val="2B2B2B"/>
                </a:solidFill>
                <a:latin typeface="Calibri"/>
              </a:rPr>
              <a:t>•  A 3D problem becomes a 2D triangle, solved exactly with trigonometry.</a:t>
            </a:r>
          </a:p>
          <a:p>
            <a:pPr>
              <a:spcAft>
                <a:spcPts val="1400"/>
              </a:spcAft>
            </a:pPr>
            <a:r>
              <a:rPr sz="1600" b="0" i="0">
                <a:solidFill>
                  <a:srgbClr val="2B2B2B"/>
                </a:solidFill>
                <a:latin typeface="Calibri"/>
              </a:rPr>
              <a:t>•  Exact means no solver, so nothing can fail mid-step.</a:t>
            </a:r>
          </a:p>
        </p:txBody>
      </p:sp>
      <p:sp>
        <p:nvSpPr>
          <p:cNvPr id="5" name="Rectangle 4"/>
          <p:cNvSpPr/>
          <p:nvPr/>
        </p:nvSpPr>
        <p:spPr>
          <a:xfrm>
            <a:off x="6583680" y="1920240"/>
            <a:ext cx="4937760" cy="3931920"/>
          </a:xfrm>
          <a:prstGeom prst="rect">
            <a:avLst/>
          </a:prstGeom>
          <a:solidFill>
            <a:srgbClr val="F3F3F3"/>
          </a:solidFill>
          <a:ln w="15875">
            <a:solidFill>
              <a:srgbClr val="C8C8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0" y="3566160"/>
            <a:ext cx="4389120" cy="731520"/>
          </a:xfrm>
          <a:prstGeom prst="rect">
            <a:avLst/>
          </a:prstGeom>
          <a:noFill/>
        </p:spPr>
        <p:txBody>
          <a:bodyPr wrap="square" lIns="0" rIns="0" tIns="0" bIns="0" anchor="ctr">
            <a:spAutoFit/>
          </a:bodyPr>
          <a:lstStyle/>
          <a:p>
            <a:pPr algn="ctr">
              <a:spcAft>
                <a:spcPts val="0"/>
              </a:spcAft>
            </a:pPr>
            <a:r>
              <a:rPr sz="1400" b="0" i="1">
                <a:solidFill>
                  <a:srgbClr val="707070"/>
                </a:solidFill>
                <a:latin typeface="Calibri"/>
              </a:rPr>
              <a:t>Leg geometry diagram / RViz leg close-up</a:t>
            </a:r>
          </a:p>
          <a:p>
            <a:pPr algn="ctr">
              <a:spcAft>
                <a:spcPts val="0"/>
              </a:spcAft>
            </a:pPr>
            <a:r>
              <a:rPr sz="1150" b="0" i="0">
                <a:solidFill>
                  <a:srgbClr val="A0A0A0"/>
                </a:solidFill>
                <a:latin typeface="Calibri"/>
              </a:rPr>
              <a:t>picture goes here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10972800" cy="868680"/>
          </a:xfrm>
          <a:prstGeom prst="rect">
            <a:avLst/>
          </a:prstGeom>
          <a:noFill/>
        </p:spPr>
        <p:txBody>
          <a:bodyPr wrap="square" lIns="0" rIns="0" tIns="0" bIns="0" anchor="t">
            <a:spAutoFit/>
          </a:bodyPr>
          <a:lstStyle/>
          <a:p>
            <a:pPr algn="l">
              <a:spcAft>
                <a:spcPts val="0"/>
              </a:spcAft>
            </a:pPr>
            <a:r>
              <a:rPr sz="3400" b="1" i="0">
                <a:solidFill>
                  <a:srgbClr val="2B2B2B"/>
                </a:solidFill>
                <a:latin typeface="Cambria"/>
              </a:rPr>
              <a:t>The walking pattern</a:t>
            </a:r>
          </a:p>
        </p:txBody>
      </p:sp>
      <p:sp>
        <p:nvSpPr>
          <p:cNvPr id="3" name="TextBox 2"/>
          <p:cNvSpPr txBox="1"/>
          <p:nvPr/>
        </p:nvSpPr>
        <p:spPr>
          <a:xfrm>
            <a:off x="640080" y="1371600"/>
            <a:ext cx="10972800" cy="411480"/>
          </a:xfrm>
          <a:prstGeom prst="rect">
            <a:avLst/>
          </a:prstGeom>
          <a:noFill/>
        </p:spPr>
        <p:txBody>
          <a:bodyPr wrap="square" lIns="0" rIns="0" tIns="0" bIns="0" anchor="t">
            <a:spAutoFit/>
          </a:bodyPr>
          <a:lstStyle/>
          <a:p>
            <a:pPr algn="l">
              <a:spcAft>
                <a:spcPts val="0"/>
              </a:spcAft>
            </a:pPr>
            <a:r>
              <a:rPr sz="1500" b="0" i="0">
                <a:solidFill>
                  <a:srgbClr val="707070"/>
                </a:solidFill>
                <a:latin typeface="Calibri"/>
              </a:rPr>
              <a:t>Tripod gait: three feet always on the ground</a:t>
            </a:r>
          </a:p>
        </p:txBody>
      </p:sp>
      <p:sp>
        <p:nvSpPr>
          <p:cNvPr id="4" name="TextBox 3"/>
          <p:cNvSpPr txBox="1"/>
          <p:nvPr/>
        </p:nvSpPr>
        <p:spPr>
          <a:xfrm>
            <a:off x="640080" y="2011680"/>
            <a:ext cx="5394960" cy="4023360"/>
          </a:xfrm>
          <a:prstGeom prst="rect">
            <a:avLst/>
          </a:prstGeom>
          <a:noFill/>
        </p:spPr>
        <p:txBody>
          <a:bodyPr wrap="square" lIns="0" rIns="0" tIns="0" bIns="0" anchor="t">
            <a:spAutoFit/>
          </a:bodyPr>
          <a:lstStyle/>
          <a:p>
            <a:pPr algn="l">
              <a:spcAft>
                <a:spcPts val="1400"/>
              </a:spcAft>
            </a:pPr>
            <a:r>
              <a:rPr sz="1600" b="0" i="0">
                <a:solidFill>
                  <a:srgbClr val="2B2B2B"/>
                </a:solidFill>
                <a:latin typeface="Calibri"/>
              </a:rPr>
              <a:t>•  Six legs in two groups of three, taking turns.</a:t>
            </a:r>
          </a:p>
          <a:p>
            <a:pPr>
              <a:spcAft>
                <a:spcPts val="1400"/>
              </a:spcAft>
            </a:pPr>
            <a:r>
              <a:rPr sz="1600" b="0" i="0">
                <a:solidFill>
                  <a:srgbClr val="2B2B2B"/>
                </a:solidFill>
                <a:latin typeface="Calibri"/>
              </a:rPr>
              <a:t>•  One group pushes, the other swings forward.</a:t>
            </a:r>
          </a:p>
          <a:p>
            <a:pPr>
              <a:spcAft>
                <a:spcPts val="1400"/>
              </a:spcAft>
            </a:pPr>
            <a:r>
              <a:rPr sz="1600" b="0" i="0">
                <a:solidFill>
                  <a:srgbClr val="2B2B2B"/>
                </a:solidFill>
                <a:latin typeface="Calibri"/>
              </a:rPr>
              <a:t>•  Three feet always down, so the robot is always stable.</a:t>
            </a:r>
          </a:p>
          <a:p>
            <a:pPr>
              <a:spcAft>
                <a:spcPts val="1400"/>
              </a:spcAft>
            </a:pPr>
            <a:r>
              <a:rPr sz="1600" b="0" i="0">
                <a:solidFill>
                  <a:srgbClr val="2B2B2B"/>
                </a:solidFill>
                <a:latin typeface="Calibri"/>
              </a:rPr>
              <a:t>•  Step length is set by the speed you ask for, not chosen by us.</a:t>
            </a:r>
          </a:p>
          <a:p>
            <a:pPr>
              <a:spcAft>
                <a:spcPts val="1400"/>
              </a:spcAft>
            </a:pPr>
            <a:r>
              <a:rPr sz="1600" b="0" i="0">
                <a:solidFill>
                  <a:srgbClr val="2B2B2B"/>
                </a:solidFill>
                <a:latin typeface="Calibri"/>
              </a:rPr>
              <a:t>•  Each leg gets its own step length when turning.</a:t>
            </a:r>
          </a:p>
        </p:txBody>
      </p:sp>
      <p:sp>
        <p:nvSpPr>
          <p:cNvPr id="5" name="Rectangle 4"/>
          <p:cNvSpPr/>
          <p:nvPr/>
        </p:nvSpPr>
        <p:spPr>
          <a:xfrm>
            <a:off x="6583680" y="1920240"/>
            <a:ext cx="4937760" cy="3931920"/>
          </a:xfrm>
          <a:prstGeom prst="rect">
            <a:avLst/>
          </a:prstGeom>
          <a:solidFill>
            <a:srgbClr val="F3F3F3"/>
          </a:solidFill>
          <a:ln w="15875">
            <a:solidFill>
              <a:srgbClr val="C8C8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0" y="3566160"/>
            <a:ext cx="4389120" cy="731520"/>
          </a:xfrm>
          <a:prstGeom prst="rect">
            <a:avLst/>
          </a:prstGeom>
          <a:noFill/>
        </p:spPr>
        <p:txBody>
          <a:bodyPr wrap="square" lIns="0" rIns="0" tIns="0" bIns="0" anchor="ctr">
            <a:spAutoFit/>
          </a:bodyPr>
          <a:lstStyle/>
          <a:p>
            <a:pPr algn="ctr">
              <a:spcAft>
                <a:spcPts val="0"/>
              </a:spcAft>
            </a:pPr>
            <a:r>
              <a:rPr sz="1400" b="0" i="1">
                <a:solidFill>
                  <a:srgbClr val="707070"/>
                </a:solidFill>
                <a:latin typeface="Calibri"/>
              </a:rPr>
              <a:t>Gazebo screenshot, mid-stride</a:t>
            </a:r>
          </a:p>
          <a:p>
            <a:pPr algn="ctr">
              <a:spcAft>
                <a:spcPts val="0"/>
              </a:spcAft>
            </a:pPr>
            <a:r>
              <a:rPr sz="1150" b="0" i="0">
                <a:solidFill>
                  <a:srgbClr val="A0A0A0"/>
                </a:solidFill>
                <a:latin typeface="Calibri"/>
              </a:rPr>
              <a:t>picture goes here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10972800" cy="868680"/>
          </a:xfrm>
          <a:prstGeom prst="rect">
            <a:avLst/>
          </a:prstGeom>
          <a:noFill/>
        </p:spPr>
        <p:txBody>
          <a:bodyPr wrap="square" lIns="0" rIns="0" tIns="0" bIns="0" anchor="t">
            <a:spAutoFit/>
          </a:bodyPr>
          <a:lstStyle/>
          <a:p>
            <a:pPr algn="l">
              <a:spcAft>
                <a:spcPts val="0"/>
              </a:spcAft>
            </a:pPr>
            <a:r>
              <a:rPr sz="3400" b="1" i="0">
                <a:solidFill>
                  <a:srgbClr val="2B2B2B"/>
                </a:solidFill>
                <a:latin typeface="Cambria"/>
              </a:rPr>
              <a:t>We tested the maths before trusting the simulator</a:t>
            </a:r>
          </a:p>
        </p:txBody>
      </p:sp>
      <p:sp>
        <p:nvSpPr>
          <p:cNvPr id="3" name="TextBox 2"/>
          <p:cNvSpPr txBox="1"/>
          <p:nvPr/>
        </p:nvSpPr>
        <p:spPr>
          <a:xfrm>
            <a:off x="822960" y="2286000"/>
            <a:ext cx="3200400" cy="731520"/>
          </a:xfrm>
          <a:prstGeom prst="rect">
            <a:avLst/>
          </a:prstGeom>
          <a:noFill/>
        </p:spPr>
        <p:txBody>
          <a:bodyPr wrap="square" lIns="0" rIns="0" tIns="0" bIns="0" anchor="t">
            <a:spAutoFit/>
          </a:bodyPr>
          <a:lstStyle/>
          <a:p>
            <a:pPr algn="ctr">
              <a:spcAft>
                <a:spcPts val="0"/>
              </a:spcAft>
            </a:pPr>
            <a:r>
              <a:rPr sz="3400" b="1" i="0">
                <a:solidFill>
                  <a:srgbClr val="C45A11"/>
                </a:solidFill>
                <a:latin typeface="Cambria"/>
              </a:rPr>
              <a:t>3.5e-16 m</a:t>
            </a:r>
          </a:p>
        </p:txBody>
      </p:sp>
      <p:sp>
        <p:nvSpPr>
          <p:cNvPr id="4" name="TextBox 3"/>
          <p:cNvSpPr txBox="1"/>
          <p:nvPr/>
        </p:nvSpPr>
        <p:spPr>
          <a:xfrm>
            <a:off x="822960" y="2944368"/>
            <a:ext cx="3200400" cy="640080"/>
          </a:xfrm>
          <a:prstGeom prst="rect">
            <a:avLst/>
          </a:prstGeom>
          <a:noFill/>
        </p:spPr>
        <p:txBody>
          <a:bodyPr wrap="square" lIns="0" rIns="0" tIns="0" bIns="0" anchor="t">
            <a:spAutoFit/>
          </a:bodyPr>
          <a:lstStyle/>
          <a:p>
            <a:pPr algn="ctr">
              <a:spcAft>
                <a:spcPts val="0"/>
              </a:spcAft>
            </a:pPr>
            <a:r>
              <a:rPr sz="1250" b="0" i="0">
                <a:solidFill>
                  <a:srgbClr val="707070"/>
                </a:solidFill>
                <a:latin typeface="Calibri"/>
              </a:rPr>
              <a:t>leg maths error
(computer precision limit)</a:t>
            </a:r>
          </a:p>
        </p:txBody>
      </p:sp>
      <p:sp>
        <p:nvSpPr>
          <p:cNvPr id="5" name="TextBox 4"/>
          <p:cNvSpPr txBox="1"/>
          <p:nvPr/>
        </p:nvSpPr>
        <p:spPr>
          <a:xfrm>
            <a:off x="4480560" y="2286000"/>
            <a:ext cx="3200400" cy="731520"/>
          </a:xfrm>
          <a:prstGeom prst="rect">
            <a:avLst/>
          </a:prstGeom>
          <a:noFill/>
        </p:spPr>
        <p:txBody>
          <a:bodyPr wrap="square" lIns="0" rIns="0" tIns="0" bIns="0" anchor="t">
            <a:spAutoFit/>
          </a:bodyPr>
          <a:lstStyle/>
          <a:p>
            <a:pPr algn="ctr">
              <a:spcAft>
                <a:spcPts val="0"/>
              </a:spcAft>
            </a:pPr>
            <a:r>
              <a:rPr sz="4000" b="1" i="0">
                <a:solidFill>
                  <a:srgbClr val="C45A11"/>
                </a:solidFill>
                <a:latin typeface="Cambria"/>
              </a:rPr>
              <a:t>498</a:t>
            </a:r>
          </a:p>
        </p:txBody>
      </p:sp>
      <p:sp>
        <p:nvSpPr>
          <p:cNvPr id="6" name="TextBox 5"/>
          <p:cNvSpPr txBox="1"/>
          <p:nvPr/>
        </p:nvSpPr>
        <p:spPr>
          <a:xfrm>
            <a:off x="4480560" y="2944368"/>
            <a:ext cx="3200400" cy="640080"/>
          </a:xfrm>
          <a:prstGeom prst="rect">
            <a:avLst/>
          </a:prstGeom>
          <a:noFill/>
        </p:spPr>
        <p:txBody>
          <a:bodyPr wrap="square" lIns="0" rIns="0" tIns="0" bIns="0" anchor="t">
            <a:spAutoFit/>
          </a:bodyPr>
          <a:lstStyle/>
          <a:p>
            <a:pPr algn="ctr">
              <a:spcAft>
                <a:spcPts val="0"/>
              </a:spcAft>
            </a:pPr>
            <a:r>
              <a:rPr sz="1250" b="0" i="0">
                <a:solidFill>
                  <a:srgbClr val="707070"/>
                </a:solidFill>
                <a:latin typeface="Calibri"/>
              </a:rPr>
              <a:t>automatic gait checks passing</a:t>
            </a:r>
          </a:p>
        </p:txBody>
      </p:sp>
      <p:sp>
        <p:nvSpPr>
          <p:cNvPr id="7" name="TextBox 6"/>
          <p:cNvSpPr txBox="1"/>
          <p:nvPr/>
        </p:nvSpPr>
        <p:spPr>
          <a:xfrm>
            <a:off x="8138160" y="2286000"/>
            <a:ext cx="3200400" cy="731520"/>
          </a:xfrm>
          <a:prstGeom prst="rect">
            <a:avLst/>
          </a:prstGeom>
          <a:noFill/>
        </p:spPr>
        <p:txBody>
          <a:bodyPr wrap="square" lIns="0" rIns="0" tIns="0" bIns="0" anchor="t">
            <a:spAutoFit/>
          </a:bodyPr>
          <a:lstStyle/>
          <a:p>
            <a:pPr algn="ctr">
              <a:spcAft>
                <a:spcPts val="0"/>
              </a:spcAft>
            </a:pPr>
            <a:r>
              <a:rPr sz="3400" b="1" i="0">
                <a:solidFill>
                  <a:srgbClr val="C45A11"/>
                </a:solidFill>
                <a:latin typeface="Cambria"/>
              </a:rPr>
              <a:t>under 1 s</a:t>
            </a:r>
          </a:p>
        </p:txBody>
      </p:sp>
      <p:sp>
        <p:nvSpPr>
          <p:cNvPr id="8" name="TextBox 7"/>
          <p:cNvSpPr txBox="1"/>
          <p:nvPr/>
        </p:nvSpPr>
        <p:spPr>
          <a:xfrm>
            <a:off x="8138160" y="2944368"/>
            <a:ext cx="3200400" cy="640080"/>
          </a:xfrm>
          <a:prstGeom prst="rect">
            <a:avLst/>
          </a:prstGeom>
          <a:noFill/>
        </p:spPr>
        <p:txBody>
          <a:bodyPr wrap="square" lIns="0" rIns="0" tIns="0" bIns="0" anchor="t">
            <a:spAutoFit/>
          </a:bodyPr>
          <a:lstStyle/>
          <a:p>
            <a:pPr algn="ctr">
              <a:spcAft>
                <a:spcPts val="0"/>
              </a:spcAft>
            </a:pPr>
            <a:r>
              <a:rPr sz="1250" b="0" i="0">
                <a:solidFill>
                  <a:srgbClr val="707070"/>
                </a:solidFill>
                <a:latin typeface="Calibri"/>
              </a:rPr>
              <a:t>to run every test</a:t>
            </a:r>
          </a:p>
        </p:txBody>
      </p:sp>
      <p:sp>
        <p:nvSpPr>
          <p:cNvPr id="9" name="Rounded Rectangle 8"/>
          <p:cNvSpPr/>
          <p:nvPr/>
        </p:nvSpPr>
        <p:spPr>
          <a:xfrm>
            <a:off x="822960" y="4206240"/>
            <a:ext cx="10515600" cy="1691640"/>
          </a:xfrm>
          <a:prstGeom prst="roundRect">
            <a:avLst>
              <a:gd name="adj" fmla="val 6000"/>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88720" y="4480560"/>
            <a:ext cx="9784080" cy="1280160"/>
          </a:xfrm>
          <a:prstGeom prst="rect">
            <a:avLst/>
          </a:prstGeom>
          <a:noFill/>
        </p:spPr>
        <p:txBody>
          <a:bodyPr wrap="square" lIns="0" rIns="0" tIns="0" bIns="0" anchor="t">
            <a:spAutoFit/>
          </a:bodyPr>
          <a:lstStyle/>
          <a:p>
            <a:pPr algn="l">
              <a:spcAft>
                <a:spcPts val="900"/>
              </a:spcAft>
            </a:pPr>
            <a:r>
              <a:rPr sz="1600" b="1" i="0">
                <a:solidFill>
                  <a:srgbClr val="C45A11"/>
                </a:solidFill>
                <a:latin typeface="Cambria"/>
              </a:rPr>
              <a:t>What the tests check</a:t>
            </a:r>
          </a:p>
          <a:p>
            <a:pPr>
              <a:spcAft>
                <a:spcPts val="0"/>
              </a:spcAft>
            </a:pPr>
            <a:r>
              <a:rPr sz="1450" b="0" i="0">
                <a:solidFill>
                  <a:srgbClr val="2B2B2B"/>
                </a:solidFill>
                <a:latin typeface="Calibri"/>
              </a:rPr>
              <a:t>Three feet always on the ground.  The two leg groups exactly opposite each other.  No sudden jumps in a foot's path.  Feet not sliding while on the ground.  Full 45 mm ground clearance when swinging.  Every commanded speed actually reachable by the leg.</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10972800" cy="868680"/>
          </a:xfrm>
          <a:prstGeom prst="rect">
            <a:avLst/>
          </a:prstGeom>
          <a:noFill/>
        </p:spPr>
        <p:txBody>
          <a:bodyPr wrap="square" lIns="0" rIns="0" tIns="0" bIns="0" anchor="t">
            <a:spAutoFit/>
          </a:bodyPr>
          <a:lstStyle/>
          <a:p>
            <a:pPr algn="l">
              <a:spcAft>
                <a:spcPts val="0"/>
              </a:spcAft>
            </a:pPr>
            <a:r>
              <a:rPr sz="3400" b="1" i="0">
                <a:solidFill>
                  <a:srgbClr val="2B2B2B"/>
                </a:solidFill>
                <a:latin typeface="Cambria"/>
              </a:rPr>
              <a:t>What the testing found</a:t>
            </a:r>
          </a:p>
        </p:txBody>
      </p:sp>
      <p:sp>
        <p:nvSpPr>
          <p:cNvPr id="3" name="TextBox 2"/>
          <p:cNvSpPr txBox="1"/>
          <p:nvPr/>
        </p:nvSpPr>
        <p:spPr>
          <a:xfrm>
            <a:off x="640080" y="1371600"/>
            <a:ext cx="10972800" cy="411480"/>
          </a:xfrm>
          <a:prstGeom prst="rect">
            <a:avLst/>
          </a:prstGeom>
          <a:noFill/>
        </p:spPr>
        <p:txBody>
          <a:bodyPr wrap="square" lIns="0" rIns="0" tIns="0" bIns="0" anchor="t">
            <a:spAutoFit/>
          </a:bodyPr>
          <a:lstStyle/>
          <a:p>
            <a:pPr algn="l">
              <a:spcAft>
                <a:spcPts val="0"/>
              </a:spcAft>
            </a:pPr>
            <a:r>
              <a:rPr sz="1500" b="0" i="0">
                <a:solidFill>
                  <a:srgbClr val="707070"/>
                </a:solidFill>
                <a:latin typeface="Calibri"/>
              </a:rPr>
              <a:t>A mistake that watching the robot could never have shown</a:t>
            </a:r>
          </a:p>
        </p:txBody>
      </p:sp>
      <p:sp>
        <p:nvSpPr>
          <p:cNvPr id="4" name="Rounded Rectangle 3"/>
          <p:cNvSpPr/>
          <p:nvPr/>
        </p:nvSpPr>
        <p:spPr>
          <a:xfrm>
            <a:off x="640080" y="2011680"/>
            <a:ext cx="5349240" cy="2697480"/>
          </a:xfrm>
          <a:prstGeom prst="roundRect">
            <a:avLst>
              <a:gd name="adj" fmla="val 6000"/>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05840" y="2331720"/>
            <a:ext cx="4663440" cy="2743200"/>
          </a:xfrm>
          <a:prstGeom prst="rect">
            <a:avLst/>
          </a:prstGeom>
          <a:noFill/>
        </p:spPr>
        <p:txBody>
          <a:bodyPr wrap="square" lIns="0" rIns="0" tIns="0" bIns="0" anchor="t">
            <a:spAutoFit/>
          </a:bodyPr>
          <a:lstStyle/>
          <a:p>
            <a:pPr algn="l">
              <a:spcAft>
                <a:spcPts val="1100"/>
              </a:spcAft>
            </a:pPr>
            <a:r>
              <a:rPr sz="1700" b="1" i="0">
                <a:solidFill>
                  <a:srgbClr val="C45A11"/>
                </a:solidFill>
                <a:latin typeface="Cambria"/>
              </a:rPr>
              <a:t>The mistake</a:t>
            </a:r>
          </a:p>
          <a:p>
            <a:pPr>
              <a:spcAft>
                <a:spcPts val="1100"/>
              </a:spcAft>
            </a:pPr>
            <a:r>
              <a:rPr sz="1550" b="1" i="0">
                <a:solidFill>
                  <a:srgbClr val="2B2B2B"/>
                </a:solidFill>
                <a:latin typeface="Calibri"/>
              </a:rPr>
              <a:t>The legs were pushing the robot backwards while the gait believed it was going forwards.</a:t>
            </a:r>
          </a:p>
          <a:p>
            <a:pPr>
              <a:spcAft>
                <a:spcPts val="0"/>
              </a:spcAft>
            </a:pPr>
            <a:r>
              <a:rPr sz="1450" b="0" i="0">
                <a:solidFill>
                  <a:srgbClr val="2B2B2B"/>
                </a:solidFill>
                <a:latin typeface="Calibri"/>
              </a:rPr>
              <a:t>Commanded 8 cm/s forward, the foot on the ground was being dragged at 16 cm/s the wrong way, on three legs at once.</a:t>
            </a:r>
          </a:p>
        </p:txBody>
      </p:sp>
      <p:sp>
        <p:nvSpPr>
          <p:cNvPr id="6" name="Rounded Rectangle 5"/>
          <p:cNvSpPr/>
          <p:nvPr/>
        </p:nvSpPr>
        <p:spPr>
          <a:xfrm>
            <a:off x="6263640" y="2011680"/>
            <a:ext cx="5257800" cy="2697480"/>
          </a:xfrm>
          <a:prstGeom prst="roundRect">
            <a:avLst>
              <a:gd name="adj" fmla="val 6000"/>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629400" y="2331720"/>
            <a:ext cx="4572000" cy="2743200"/>
          </a:xfrm>
          <a:prstGeom prst="rect">
            <a:avLst/>
          </a:prstGeom>
          <a:noFill/>
        </p:spPr>
        <p:txBody>
          <a:bodyPr wrap="square" lIns="0" rIns="0" tIns="0" bIns="0" anchor="t">
            <a:spAutoFit/>
          </a:bodyPr>
          <a:lstStyle/>
          <a:p>
            <a:pPr algn="l">
              <a:spcAft>
                <a:spcPts val="1100"/>
              </a:spcAft>
            </a:pPr>
            <a:r>
              <a:rPr sz="1700" b="1" i="0">
                <a:solidFill>
                  <a:srgbClr val="C45A11"/>
                </a:solidFill>
                <a:latin typeface="Cambria"/>
              </a:rPr>
              <a:t>Why our test missed it</a:t>
            </a:r>
          </a:p>
          <a:p>
            <a:pPr>
              <a:spcAft>
                <a:spcPts val="1100"/>
              </a:spcAft>
            </a:pPr>
            <a:r>
              <a:rPr sz="1550" b="0" i="0">
                <a:solidFill>
                  <a:srgbClr val="2B2B2B"/>
                </a:solidFill>
                <a:latin typeface="Calibri"/>
              </a:rPr>
              <a:t>It compared the distance the foot moved with the distance the body moved.</a:t>
            </a:r>
          </a:p>
          <a:p>
            <a:pPr>
              <a:spcAft>
                <a:spcPts val="0"/>
              </a:spcAft>
            </a:pPr>
            <a:r>
              <a:rPr sz="1450" b="0" i="0">
                <a:solidFill>
                  <a:srgbClr val="2B2B2B"/>
                </a:solidFill>
                <a:latin typeface="Calibri"/>
              </a:rPr>
              <a:t>Both are distances, and a distance has no direction. A backwards error is invisible to it. Fixed, and the test now checks direction too.</a:t>
            </a:r>
          </a:p>
        </p:txBody>
      </p:sp>
      <p:sp>
        <p:nvSpPr>
          <p:cNvPr id="8" name="TextBox 7"/>
          <p:cNvSpPr txBox="1"/>
          <p:nvPr/>
        </p:nvSpPr>
        <p:spPr>
          <a:xfrm>
            <a:off x="640080" y="4983480"/>
            <a:ext cx="10881360" cy="457200"/>
          </a:xfrm>
          <a:prstGeom prst="rect">
            <a:avLst/>
          </a:prstGeom>
          <a:noFill/>
        </p:spPr>
        <p:txBody>
          <a:bodyPr wrap="square" lIns="0" rIns="0" tIns="0" bIns="0" anchor="t">
            <a:spAutoFit/>
          </a:bodyPr>
          <a:lstStyle/>
          <a:p>
            <a:pPr algn="l">
              <a:spcAft>
                <a:spcPts val="0"/>
              </a:spcAft>
            </a:pPr>
            <a:r>
              <a:rPr sz="1350" b="0" i="1">
                <a:solidFill>
                  <a:srgbClr val="707070"/>
                </a:solidFill>
                <a:latin typeface="Calibri"/>
              </a:rPr>
              <a:t>Found by comparing our conventions against another team's hexapod code.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10972800" cy="868680"/>
          </a:xfrm>
          <a:prstGeom prst="rect">
            <a:avLst/>
          </a:prstGeom>
          <a:noFill/>
        </p:spPr>
        <p:txBody>
          <a:bodyPr wrap="square" lIns="0" rIns="0" tIns="0" bIns="0" anchor="t">
            <a:spAutoFit/>
          </a:bodyPr>
          <a:lstStyle/>
          <a:p>
            <a:pPr algn="l">
              <a:spcAft>
                <a:spcPts val="0"/>
              </a:spcAft>
            </a:pPr>
            <a:r>
              <a:rPr sz="3400" b="1" i="0">
                <a:solidFill>
                  <a:srgbClr val="2B2B2B"/>
                </a:solidFill>
                <a:latin typeface="Cambria"/>
              </a:rPr>
              <a:t>The simulation</a:t>
            </a:r>
          </a:p>
        </p:txBody>
      </p:sp>
      <p:sp>
        <p:nvSpPr>
          <p:cNvPr id="3" name="TextBox 2"/>
          <p:cNvSpPr txBox="1"/>
          <p:nvPr/>
        </p:nvSpPr>
        <p:spPr>
          <a:xfrm>
            <a:off x="640080" y="1371600"/>
            <a:ext cx="10972800" cy="411480"/>
          </a:xfrm>
          <a:prstGeom prst="rect">
            <a:avLst/>
          </a:prstGeom>
          <a:noFill/>
        </p:spPr>
        <p:txBody>
          <a:bodyPr wrap="square" lIns="0" rIns="0" tIns="0" bIns="0" anchor="t">
            <a:spAutoFit/>
          </a:bodyPr>
          <a:lstStyle/>
          <a:p>
            <a:pPr algn="l">
              <a:spcAft>
                <a:spcPts val="0"/>
              </a:spcAft>
            </a:pPr>
            <a:r>
              <a:rPr sz="1500" b="0" i="0">
                <a:solidFill>
                  <a:srgbClr val="707070"/>
                </a:solidFill>
                <a:latin typeface="Calibri"/>
              </a:rPr>
              <a:t>Gravity, friction and foot contact, at 1000 steps per second</a:t>
            </a:r>
          </a:p>
        </p:txBody>
      </p:sp>
      <p:sp>
        <p:nvSpPr>
          <p:cNvPr id="4" name="Rectangle 3"/>
          <p:cNvSpPr/>
          <p:nvPr/>
        </p:nvSpPr>
        <p:spPr>
          <a:xfrm>
            <a:off x="640080" y="1920240"/>
            <a:ext cx="5394960" cy="3657600"/>
          </a:xfrm>
          <a:prstGeom prst="rect">
            <a:avLst/>
          </a:prstGeom>
          <a:solidFill>
            <a:srgbClr val="F3F3F3"/>
          </a:solidFill>
          <a:ln w="15875">
            <a:solidFill>
              <a:srgbClr val="C8C8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3428999"/>
            <a:ext cx="4846320" cy="731520"/>
          </a:xfrm>
          <a:prstGeom prst="rect">
            <a:avLst/>
          </a:prstGeom>
          <a:noFill/>
        </p:spPr>
        <p:txBody>
          <a:bodyPr wrap="square" lIns="0" rIns="0" tIns="0" bIns="0" anchor="ctr">
            <a:spAutoFit/>
          </a:bodyPr>
          <a:lstStyle/>
          <a:p>
            <a:pPr algn="ctr">
              <a:spcAft>
                <a:spcPts val="0"/>
              </a:spcAft>
            </a:pPr>
            <a:r>
              <a:rPr sz="1400" b="0" i="1">
                <a:solidFill>
                  <a:srgbClr val="707070"/>
                </a:solidFill>
                <a:latin typeface="Calibri"/>
              </a:rPr>
              <a:t>Gazebo, robot standing in the world</a:t>
            </a:r>
          </a:p>
          <a:p>
            <a:pPr algn="ctr">
              <a:spcAft>
                <a:spcPts val="0"/>
              </a:spcAft>
            </a:pPr>
            <a:r>
              <a:rPr sz="1150" b="0" i="0">
                <a:solidFill>
                  <a:srgbClr val="A0A0A0"/>
                </a:solidFill>
                <a:latin typeface="Calibri"/>
              </a:rPr>
              <a:t>picture goes here</a:t>
            </a:r>
          </a:p>
        </p:txBody>
      </p:sp>
      <p:sp>
        <p:nvSpPr>
          <p:cNvPr id="6" name="Rectangle 5"/>
          <p:cNvSpPr/>
          <p:nvPr/>
        </p:nvSpPr>
        <p:spPr>
          <a:xfrm>
            <a:off x="6309360" y="1920240"/>
            <a:ext cx="5212080" cy="3657600"/>
          </a:xfrm>
          <a:prstGeom prst="rect">
            <a:avLst/>
          </a:prstGeom>
          <a:solidFill>
            <a:srgbClr val="F3F3F3"/>
          </a:solidFill>
          <a:ln w="15875">
            <a:solidFill>
              <a:srgbClr val="C8C8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0" y="3428999"/>
            <a:ext cx="4663440" cy="731520"/>
          </a:xfrm>
          <a:prstGeom prst="rect">
            <a:avLst/>
          </a:prstGeom>
          <a:noFill/>
        </p:spPr>
        <p:txBody>
          <a:bodyPr wrap="square" lIns="0" rIns="0" tIns="0" bIns="0" anchor="ctr">
            <a:spAutoFit/>
          </a:bodyPr>
          <a:lstStyle/>
          <a:p>
            <a:pPr algn="ctr">
              <a:spcAft>
                <a:spcPts val="0"/>
              </a:spcAft>
            </a:pPr>
            <a:r>
              <a:rPr sz="1400" b="0" i="1">
                <a:solidFill>
                  <a:srgbClr val="707070"/>
                </a:solidFill>
                <a:latin typeface="Calibri"/>
              </a:rPr>
              <a:t>RViz, model and coordinate frames</a:t>
            </a:r>
          </a:p>
          <a:p>
            <a:pPr algn="ctr">
              <a:spcAft>
                <a:spcPts val="0"/>
              </a:spcAft>
            </a:pPr>
            <a:r>
              <a:rPr sz="1150" b="0" i="0">
                <a:solidFill>
                  <a:srgbClr val="A0A0A0"/>
                </a:solidFill>
                <a:latin typeface="Calibri"/>
              </a:rPr>
              <a:t>picture goes here</a:t>
            </a:r>
          </a:p>
        </p:txBody>
      </p:sp>
      <p:sp>
        <p:nvSpPr>
          <p:cNvPr id="8" name="TextBox 7"/>
          <p:cNvSpPr txBox="1"/>
          <p:nvPr/>
        </p:nvSpPr>
        <p:spPr>
          <a:xfrm>
            <a:off x="640080" y="5760720"/>
            <a:ext cx="10881360" cy="457200"/>
          </a:xfrm>
          <a:prstGeom prst="rect">
            <a:avLst/>
          </a:prstGeom>
          <a:noFill/>
        </p:spPr>
        <p:txBody>
          <a:bodyPr wrap="square" lIns="0" rIns="0" tIns="0" bIns="0" anchor="t">
            <a:spAutoFit/>
          </a:bodyPr>
          <a:lstStyle/>
          <a:p>
            <a:pPr algn="l">
              <a:spcAft>
                <a:spcPts val="0"/>
              </a:spcAft>
            </a:pPr>
            <a:r>
              <a:rPr sz="1400" b="0" i="0">
                <a:solidFill>
                  <a:srgbClr val="707070"/>
                </a:solidFill>
                <a:latin typeface="Calibri"/>
              </a:rPr>
              <a:t>Controller runs at 200 Hz inside the simulator. Physics runs at 1000 Hz.</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10972800" cy="868680"/>
          </a:xfrm>
          <a:prstGeom prst="rect">
            <a:avLst/>
          </a:prstGeom>
          <a:noFill/>
        </p:spPr>
        <p:txBody>
          <a:bodyPr wrap="square" lIns="0" rIns="0" tIns="0" bIns="0" anchor="t">
            <a:spAutoFit/>
          </a:bodyPr>
          <a:lstStyle/>
          <a:p>
            <a:pPr algn="l">
              <a:spcAft>
                <a:spcPts val="0"/>
              </a:spcAft>
            </a:pPr>
            <a:r>
              <a:rPr sz="3400" b="1" i="0">
                <a:solidFill>
                  <a:srgbClr val="2B2B2B"/>
                </a:solidFill>
                <a:latin typeface="Cambria"/>
              </a:rPr>
              <a:t>Three ways of simulating, compared</a:t>
            </a:r>
          </a:p>
        </p:txBody>
      </p:sp>
      <p:sp>
        <p:nvSpPr>
          <p:cNvPr id="3" name="TextBox 2"/>
          <p:cNvSpPr txBox="1"/>
          <p:nvPr/>
        </p:nvSpPr>
        <p:spPr>
          <a:xfrm>
            <a:off x="640080" y="1371600"/>
            <a:ext cx="10972800" cy="411480"/>
          </a:xfrm>
          <a:prstGeom prst="rect">
            <a:avLst/>
          </a:prstGeom>
          <a:noFill/>
        </p:spPr>
        <p:txBody>
          <a:bodyPr wrap="square" lIns="0" rIns="0" tIns="0" bIns="0" anchor="t">
            <a:spAutoFit/>
          </a:bodyPr>
          <a:lstStyle/>
          <a:p>
            <a:pPr algn="l">
              <a:spcAft>
                <a:spcPts val="0"/>
              </a:spcAft>
            </a:pPr>
            <a:r>
              <a:rPr sz="1500" b="0" i="0">
                <a:solidFill>
                  <a:srgbClr val="707070"/>
                </a:solidFill>
                <a:latin typeface="Calibri"/>
              </a:rPr>
              <a:t>Same robot, same command, 20 seconds each</a:t>
            </a:r>
          </a:p>
        </p:txBody>
      </p:sp>
      <p:graphicFrame>
        <p:nvGraphicFramePr>
          <p:cNvPr id="4" name="Table 3"/>
          <p:cNvGraphicFramePr>
            <a:graphicFrameLocks noGrp="1"/>
          </p:cNvGraphicFramePr>
          <p:nvPr/>
        </p:nvGraphicFramePr>
        <p:xfrm>
          <a:off x="640080" y="2103120"/>
          <a:ext cx="10881360" cy="2194560"/>
        </p:xfrm>
        <a:graphic>
          <a:graphicData uri="http://schemas.openxmlformats.org/drawingml/2006/table">
            <a:tbl>
              <a:tblPr firstRow="1" bandRow="1">
                <a:tableStyleId>{5C22544A-7EE6-4342-B048-85BDC9FD1C3A}</a:tableStyleId>
              </a:tblPr>
              <a:tblGrid>
                <a:gridCol w="3840480"/>
                <a:gridCol w="2377440"/>
                <a:gridCol w="4663440"/>
              </a:tblGrid>
              <a:tr h="548640">
                <a:tc>
                  <a:txBody>
                    <a:bodyPr/>
                    <a:lstStyle/>
                    <a:p>
                      <a:r>
                        <a:rPr sz="1300" b="1">
                          <a:solidFill>
                            <a:srgbClr val="FFFFFF"/>
                          </a:solidFill>
                          <a:latin typeface="Calibri"/>
                        </a:rPr>
                        <a:t>Setup</a:t>
                      </a:r>
                    </a:p>
                  </a:txBody>
                  <a:tcPr marL="91440" marR="91440" anchor="ctr">
                    <a:solidFill>
                      <a:srgbClr val="33383D"/>
                    </a:solidFill>
                  </a:tcPr>
                </a:tc>
                <a:tc>
                  <a:txBody>
                    <a:bodyPr/>
                    <a:lstStyle/>
                    <a:p>
                      <a:r>
                        <a:rPr sz="1300" b="1">
                          <a:solidFill>
                            <a:srgbClr val="FFFFFF"/>
                          </a:solidFill>
                          <a:latin typeface="Calibri"/>
                        </a:rPr>
                        <a:t>Distance travelled</a:t>
                      </a:r>
                    </a:p>
                  </a:txBody>
                  <a:tcPr marL="91440" marR="91440" anchor="ctr">
                    <a:solidFill>
                      <a:srgbClr val="33383D"/>
                    </a:solidFill>
                  </a:tcPr>
                </a:tc>
                <a:tc>
                  <a:txBody>
                    <a:bodyPr/>
                    <a:lstStyle/>
                    <a:p>
                      <a:r>
                        <a:rPr sz="1300" b="1">
                          <a:solidFill>
                            <a:srgbClr val="FFFFFF"/>
                          </a:solidFill>
                          <a:latin typeface="Calibri"/>
                        </a:rPr>
                        <a:t>Result</a:t>
                      </a:r>
                    </a:p>
                  </a:txBody>
                  <a:tcPr marL="91440" marR="91440" anchor="ctr">
                    <a:solidFill>
                      <a:srgbClr val="33383D"/>
                    </a:solidFill>
                  </a:tcPr>
                </a:tc>
              </a:tr>
              <a:tr h="548640">
                <a:tc>
                  <a:txBody>
                    <a:bodyPr/>
                    <a:lstStyle/>
                    <a:p>
                      <a:r>
                        <a:rPr sz="1300" b="1">
                          <a:solidFill>
                            <a:srgbClr val="2B2B2B"/>
                          </a:solidFill>
                          <a:latin typeface="Calibri"/>
                        </a:rPr>
                        <a:t>Position control, real masses</a:t>
                      </a:r>
                    </a:p>
                  </a:txBody>
                  <a:tcPr marL="91440" marR="91440" anchor="ctr">
                    <a:solidFill>
                      <a:srgbClr val="FFFFFF"/>
                    </a:solidFill>
                  </a:tcPr>
                </a:tc>
                <a:tc>
                  <a:txBody>
                    <a:bodyPr/>
                    <a:lstStyle/>
                    <a:p>
                      <a:r>
                        <a:rPr sz="1300" b="0">
                          <a:solidFill>
                            <a:srgbClr val="2B2B2B"/>
                          </a:solidFill>
                          <a:latin typeface="Calibri"/>
                        </a:rPr>
                        <a:t>0.4 mm</a:t>
                      </a:r>
                    </a:p>
                  </a:txBody>
                  <a:tcPr marL="91440" marR="91440" anchor="ctr">
                    <a:solidFill>
                      <a:srgbClr val="FFFFFF"/>
                    </a:solidFill>
                  </a:tcPr>
                </a:tc>
                <a:tc>
                  <a:txBody>
                    <a:bodyPr/>
                    <a:lstStyle/>
                    <a:p>
                      <a:r>
                        <a:rPr sz="1300" b="0">
                          <a:solidFill>
                            <a:srgbClr val="2B2B2B"/>
                          </a:solidFill>
                          <a:latin typeface="Calibri"/>
                        </a:rPr>
                        <a:t>Legs move correctly, body does not</a:t>
                      </a:r>
                    </a:p>
                  </a:txBody>
                  <a:tcPr marL="91440" marR="91440" anchor="ctr">
                    <a:solidFill>
                      <a:srgbClr val="FFFFFF"/>
                    </a:solidFill>
                  </a:tcPr>
                </a:tc>
              </a:tr>
              <a:tr h="548640">
                <a:tc>
                  <a:txBody>
                    <a:bodyPr/>
                    <a:lstStyle/>
                    <a:p>
                      <a:r>
                        <a:rPr sz="1300" b="1">
                          <a:solidFill>
                            <a:srgbClr val="2B2B2B"/>
                          </a:solidFill>
                          <a:latin typeface="Calibri"/>
                        </a:rPr>
                        <a:t>Effort control, light model</a:t>
                      </a:r>
                    </a:p>
                  </a:txBody>
                  <a:tcPr marL="91440" marR="91440" anchor="ctr">
                    <a:solidFill>
                      <a:srgbClr val="F3F3F3"/>
                    </a:solidFill>
                  </a:tcPr>
                </a:tc>
                <a:tc>
                  <a:txBody>
                    <a:bodyPr/>
                    <a:lstStyle/>
                    <a:p>
                      <a:r>
                        <a:rPr sz="1300" b="0">
                          <a:solidFill>
                            <a:srgbClr val="2B2B2B"/>
                          </a:solidFill>
                          <a:latin typeface="Calibri"/>
                        </a:rPr>
                        <a:t>0.59 m</a:t>
                      </a:r>
                    </a:p>
                  </a:txBody>
                  <a:tcPr marL="91440" marR="91440" anchor="ctr">
                    <a:solidFill>
                      <a:srgbClr val="F3F3F3"/>
                    </a:solidFill>
                  </a:tcPr>
                </a:tc>
                <a:tc>
                  <a:txBody>
                    <a:bodyPr/>
                    <a:lstStyle/>
                    <a:p>
                      <a:r>
                        <a:rPr sz="1300" b="0">
                          <a:solidFill>
                            <a:srgbClr val="2B2B2B"/>
                          </a:solidFill>
                          <a:latin typeface="Calibri"/>
                        </a:rPr>
                        <a:t>Walks well, but it is not a realistic model</a:t>
                      </a:r>
                    </a:p>
                  </a:txBody>
                  <a:tcPr marL="91440" marR="91440" anchor="ctr">
                    <a:solidFill>
                      <a:srgbClr val="F3F3F3"/>
                    </a:solidFill>
                  </a:tcPr>
                </a:tc>
              </a:tr>
              <a:tr h="548640">
                <a:tc>
                  <a:txBody>
                    <a:bodyPr/>
                    <a:lstStyle/>
                    <a:p>
                      <a:r>
                        <a:rPr sz="1300" b="1">
                          <a:solidFill>
                            <a:srgbClr val="2B2B2B"/>
                          </a:solidFill>
                          <a:latin typeface="Calibri"/>
                        </a:rPr>
                        <a:t>Effort control, real masses</a:t>
                      </a:r>
                    </a:p>
                  </a:txBody>
                  <a:tcPr marL="91440" marR="91440" anchor="ctr">
                    <a:solidFill>
                      <a:srgbClr val="FFFFFF"/>
                    </a:solidFill>
                  </a:tcPr>
                </a:tc>
                <a:tc>
                  <a:txBody>
                    <a:bodyPr/>
                    <a:lstStyle/>
                    <a:p>
                      <a:r>
                        <a:rPr sz="1300" b="0">
                          <a:solidFill>
                            <a:srgbClr val="2B2B2B"/>
                          </a:solidFill>
                          <a:latin typeface="Calibri"/>
                        </a:rPr>
                        <a:t>not yet</a:t>
                      </a:r>
                    </a:p>
                  </a:txBody>
                  <a:tcPr marL="91440" marR="91440" anchor="ctr">
                    <a:solidFill>
                      <a:srgbClr val="FFFFFF"/>
                    </a:solidFill>
                  </a:tcPr>
                </a:tc>
                <a:tc>
                  <a:txBody>
                    <a:bodyPr/>
                    <a:lstStyle/>
                    <a:p>
                      <a:r>
                        <a:rPr sz="1300" b="0">
                          <a:solidFill>
                            <a:srgbClr val="2B2B2B"/>
                          </a:solidFill>
                          <a:latin typeface="Calibri"/>
                        </a:rPr>
                        <a:t>Still being investigated</a:t>
                      </a:r>
                    </a:p>
                  </a:txBody>
                  <a:tcPr marL="91440" marR="91440" anchor="ctr">
                    <a:solidFill>
                      <a:srgbClr val="FFFFFF"/>
                    </a:solidFill>
                  </a:tcPr>
                </a:tc>
              </a:tr>
            </a:tbl>
          </a:graphicData>
        </a:graphic>
      </p:graphicFrame>
      <p:sp>
        <p:nvSpPr>
          <p:cNvPr id="5" name="Rounded Rectangle 4"/>
          <p:cNvSpPr/>
          <p:nvPr/>
        </p:nvSpPr>
        <p:spPr>
          <a:xfrm>
            <a:off x="640080" y="4480560"/>
            <a:ext cx="10881360" cy="1508760"/>
          </a:xfrm>
          <a:prstGeom prst="roundRect">
            <a:avLst>
              <a:gd name="adj" fmla="val 6000"/>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4754880"/>
            <a:ext cx="10149840" cy="1097280"/>
          </a:xfrm>
          <a:prstGeom prst="rect">
            <a:avLst/>
          </a:prstGeom>
          <a:noFill/>
        </p:spPr>
        <p:txBody>
          <a:bodyPr wrap="square" lIns="0" rIns="0" tIns="0" bIns="0" anchor="t">
            <a:spAutoFit/>
          </a:bodyPr>
          <a:lstStyle/>
          <a:p>
            <a:pPr algn="l">
              <a:spcAft>
                <a:spcPts val="800"/>
              </a:spcAft>
            </a:pPr>
            <a:r>
              <a:rPr sz="1600" b="1" i="0">
                <a:solidFill>
                  <a:srgbClr val="C45A11"/>
                </a:solidFill>
                <a:latin typeface="Cambria"/>
              </a:rPr>
              <a:t>Why the first one cannot walk</a:t>
            </a:r>
          </a:p>
          <a:p>
            <a:pPr>
              <a:spcAft>
                <a:spcPts val="0"/>
              </a:spcAft>
            </a:pPr>
            <a:r>
              <a:rPr sz="1450" b="0" i="0">
                <a:solidFill>
                  <a:srgbClr val="2B2B2B"/>
                </a:solidFill>
                <a:latin typeface="Calibri"/>
              </a:rPr>
              <a:t>Gazebo moves the joint without giving it a speed. Friction is calculated from sliding speed, so the simulator sees a motionless foot and produces no push. The controller did exactly what it was told and the physics still produced nothing.</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33383D"/>
        </a:solidFill>
        <a:effectLst/>
      </p:bgPr>
    </p:bg>
    <p:spTree>
      <p:nvGrpSpPr>
        <p:cNvPr id="1" name=""/>
        <p:cNvGrpSpPr/>
        <p:nvPr/>
      </p:nvGrpSpPr>
      <p:grpSpPr/>
      <p:sp>
        <p:nvSpPr>
          <p:cNvPr id="2" name="TextBox 1"/>
          <p:cNvSpPr txBox="1"/>
          <p:nvPr/>
        </p:nvSpPr>
        <p:spPr>
          <a:xfrm>
            <a:off x="914400" y="2103120"/>
            <a:ext cx="10332720" cy="914400"/>
          </a:xfrm>
          <a:prstGeom prst="rect">
            <a:avLst/>
          </a:prstGeom>
          <a:noFill/>
        </p:spPr>
        <p:txBody>
          <a:bodyPr wrap="square" lIns="0" rIns="0" tIns="0" bIns="0" anchor="t">
            <a:spAutoFit/>
          </a:bodyPr>
          <a:lstStyle/>
          <a:p>
            <a:pPr algn="l">
              <a:spcAft>
                <a:spcPts val="0"/>
              </a:spcAft>
            </a:pPr>
            <a:r>
              <a:rPr sz="4000" b="1" i="0">
                <a:solidFill>
                  <a:srgbClr val="FFFFFF"/>
                </a:solidFill>
                <a:latin typeface="Cambria"/>
              </a:rPr>
              <a:t>Demonstration</a:t>
            </a:r>
          </a:p>
        </p:txBody>
      </p:sp>
      <p:sp>
        <p:nvSpPr>
          <p:cNvPr id="3" name="Rectangle 2"/>
          <p:cNvSpPr/>
          <p:nvPr/>
        </p:nvSpPr>
        <p:spPr>
          <a:xfrm>
            <a:off x="914400" y="3200400"/>
            <a:ext cx="10332720" cy="2377440"/>
          </a:xfrm>
          <a:prstGeom prst="rect">
            <a:avLst/>
          </a:prstGeom>
          <a:solidFill>
            <a:srgbClr val="F3F3F3"/>
          </a:solidFill>
          <a:ln w="15875">
            <a:solidFill>
              <a:srgbClr val="C8C8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188720" y="4069080"/>
            <a:ext cx="9784080" cy="731520"/>
          </a:xfrm>
          <a:prstGeom prst="rect">
            <a:avLst/>
          </a:prstGeom>
          <a:noFill/>
        </p:spPr>
        <p:txBody>
          <a:bodyPr wrap="square" lIns="0" rIns="0" tIns="0" bIns="0" anchor="ctr">
            <a:spAutoFit/>
          </a:bodyPr>
          <a:lstStyle/>
          <a:p>
            <a:pPr algn="ctr">
              <a:spcAft>
                <a:spcPts val="0"/>
              </a:spcAft>
            </a:pPr>
            <a:r>
              <a:rPr sz="1400" b="0" i="1">
                <a:solidFill>
                  <a:srgbClr val="707070"/>
                </a:solidFill>
                <a:latin typeface="Calibri"/>
              </a:rPr>
              <a:t>Video or screenshot of the robot walking</a:t>
            </a:r>
          </a:p>
          <a:p>
            <a:pPr algn="ctr">
              <a:spcAft>
                <a:spcPts val="0"/>
              </a:spcAft>
            </a:pPr>
            <a:r>
              <a:rPr sz="1150" b="0" i="0">
                <a:solidFill>
                  <a:srgbClr val="A0A0A0"/>
                </a:solidFill>
                <a:latin typeface="Calibri"/>
              </a:rPr>
              <a:t>picture goes here</a:t>
            </a:r>
          </a:p>
        </p:txBody>
      </p:sp>
      <p:sp>
        <p:nvSpPr>
          <p:cNvPr id="5" name="TextBox 4"/>
          <p:cNvSpPr txBox="1"/>
          <p:nvPr/>
        </p:nvSpPr>
        <p:spPr>
          <a:xfrm>
            <a:off x="914400" y="5806440"/>
            <a:ext cx="10332720" cy="548640"/>
          </a:xfrm>
          <a:prstGeom prst="rect">
            <a:avLst/>
          </a:prstGeom>
          <a:noFill/>
        </p:spPr>
        <p:txBody>
          <a:bodyPr wrap="square" lIns="0" rIns="0" tIns="0" bIns="0" anchor="t">
            <a:spAutoFit/>
          </a:bodyPr>
          <a:lstStyle/>
          <a:p>
            <a:pPr algn="l">
              <a:spcAft>
                <a:spcPts val="0"/>
              </a:spcAft>
            </a:pPr>
            <a:r>
              <a:rPr sz="1600" b="1" i="0">
                <a:solidFill>
                  <a:srgbClr val="E89A4F"/>
                </a:solidFill>
                <a:latin typeface="Calibri"/>
              </a:rPr>
              <a:t>Forward  ·  reverse  ·  sideways  ·  turning both ways  ·  arc</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10972800" cy="868680"/>
          </a:xfrm>
          <a:prstGeom prst="rect">
            <a:avLst/>
          </a:prstGeom>
          <a:noFill/>
        </p:spPr>
        <p:txBody>
          <a:bodyPr wrap="square" lIns="0" rIns="0" tIns="0" bIns="0" anchor="t">
            <a:spAutoFit/>
          </a:bodyPr>
          <a:lstStyle/>
          <a:p>
            <a:pPr algn="l">
              <a:spcAft>
                <a:spcPts val="0"/>
              </a:spcAft>
            </a:pPr>
            <a:r>
              <a:rPr sz="3400" b="1" i="0">
                <a:solidFill>
                  <a:srgbClr val="2B2B2B"/>
                </a:solidFill>
                <a:latin typeface="Cambria"/>
              </a:rPr>
              <a:t>Where we are</a:t>
            </a:r>
          </a:p>
        </p:txBody>
      </p:sp>
      <p:sp>
        <p:nvSpPr>
          <p:cNvPr id="3" name="Rounded Rectangle 2"/>
          <p:cNvSpPr/>
          <p:nvPr/>
        </p:nvSpPr>
        <p:spPr>
          <a:xfrm>
            <a:off x="640080" y="1965960"/>
            <a:ext cx="5349240" cy="3840480"/>
          </a:xfrm>
          <a:prstGeom prst="roundRect">
            <a:avLst>
              <a:gd name="adj" fmla="val 6000"/>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286000"/>
            <a:ext cx="4663440" cy="3383280"/>
          </a:xfrm>
          <a:prstGeom prst="rect">
            <a:avLst/>
          </a:prstGeom>
          <a:noFill/>
        </p:spPr>
        <p:txBody>
          <a:bodyPr wrap="square" lIns="0" rIns="0" tIns="0" bIns="0" anchor="t">
            <a:spAutoFit/>
          </a:bodyPr>
          <a:lstStyle/>
          <a:p>
            <a:pPr algn="l">
              <a:spcAft>
                <a:spcPts val="1200"/>
              </a:spcAft>
            </a:pPr>
            <a:r>
              <a:rPr sz="1800" b="1" i="0">
                <a:solidFill>
                  <a:srgbClr val="C45A11"/>
                </a:solidFill>
                <a:latin typeface="Cambria"/>
              </a:rPr>
              <a:t>Done</a:t>
            </a:r>
          </a:p>
          <a:p>
            <a:pPr>
              <a:spcAft>
                <a:spcPts val="900"/>
              </a:spcAft>
            </a:pPr>
            <a:r>
              <a:rPr sz="1500" b="0" i="0">
                <a:solidFill>
                  <a:srgbClr val="2B2B2B"/>
                </a:solidFill>
                <a:latin typeface="Calibri"/>
              </a:rPr>
              <a:t>•  CAD turned into a working robot model</a:t>
            </a:r>
          </a:p>
          <a:p>
            <a:pPr>
              <a:spcAft>
                <a:spcPts val="900"/>
              </a:spcAft>
            </a:pPr>
            <a:r>
              <a:rPr sz="1500" b="0" i="0">
                <a:solidFill>
                  <a:srgbClr val="2B2B2B"/>
                </a:solidFill>
                <a:latin typeface="Calibri"/>
              </a:rPr>
              <a:t>•  Real masses and inertia values</a:t>
            </a:r>
          </a:p>
          <a:p>
            <a:pPr>
              <a:spcAft>
                <a:spcPts val="900"/>
              </a:spcAft>
            </a:pPr>
            <a:r>
              <a:rPr sz="1500" b="0" i="0">
                <a:solidFill>
                  <a:srgbClr val="2B2B2B"/>
                </a:solidFill>
                <a:latin typeface="Calibri"/>
              </a:rPr>
              <a:t>•  Robot stands in Gazebo</a:t>
            </a:r>
          </a:p>
          <a:p>
            <a:pPr>
              <a:spcAft>
                <a:spcPts val="900"/>
              </a:spcAft>
            </a:pPr>
            <a:r>
              <a:rPr sz="1500" b="0" i="0">
                <a:solidFill>
                  <a:srgbClr val="2B2B2B"/>
                </a:solidFill>
                <a:latin typeface="Calibri"/>
              </a:rPr>
              <a:t>•  All 18 joints controlled and checked</a:t>
            </a:r>
          </a:p>
          <a:p>
            <a:pPr>
              <a:spcAft>
                <a:spcPts val="900"/>
              </a:spcAft>
            </a:pPr>
            <a:r>
              <a:rPr sz="1500" b="0" i="0">
                <a:solidFill>
                  <a:srgbClr val="2B2B2B"/>
                </a:solidFill>
                <a:latin typeface="Calibri"/>
              </a:rPr>
              <a:t>•  Leg maths solved and verified</a:t>
            </a:r>
          </a:p>
          <a:p>
            <a:pPr>
              <a:spcAft>
                <a:spcPts val="900"/>
              </a:spcAft>
            </a:pPr>
            <a:r>
              <a:rPr sz="1500" b="0" i="0">
                <a:solidFill>
                  <a:srgbClr val="2B2B2B"/>
                </a:solidFill>
                <a:latin typeface="Calibri"/>
              </a:rPr>
              <a:t>•  Walking gait built and verified</a:t>
            </a:r>
          </a:p>
          <a:p>
            <a:pPr>
              <a:spcAft>
                <a:spcPts val="900"/>
              </a:spcAft>
            </a:pPr>
            <a:r>
              <a:rPr sz="1500" b="0" i="0">
                <a:solidFill>
                  <a:srgbClr val="2B2B2B"/>
                </a:solidFill>
                <a:latin typeface="Calibri"/>
              </a:rPr>
              <a:t>•  Robot walks under our control</a:t>
            </a:r>
          </a:p>
        </p:txBody>
      </p:sp>
      <p:sp>
        <p:nvSpPr>
          <p:cNvPr id="5" name="Rounded Rectangle 4"/>
          <p:cNvSpPr/>
          <p:nvPr/>
        </p:nvSpPr>
        <p:spPr>
          <a:xfrm>
            <a:off x="6263640" y="1965960"/>
            <a:ext cx="5257800" cy="3840480"/>
          </a:xfrm>
          <a:prstGeom prst="roundRect">
            <a:avLst>
              <a:gd name="adj" fmla="val 6000"/>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629400" y="2286000"/>
            <a:ext cx="4572000" cy="3383280"/>
          </a:xfrm>
          <a:prstGeom prst="rect">
            <a:avLst/>
          </a:prstGeom>
          <a:noFill/>
        </p:spPr>
        <p:txBody>
          <a:bodyPr wrap="square" lIns="0" rIns="0" tIns="0" bIns="0" anchor="t">
            <a:spAutoFit/>
          </a:bodyPr>
          <a:lstStyle/>
          <a:p>
            <a:pPr algn="l">
              <a:spcAft>
                <a:spcPts val="1200"/>
              </a:spcAft>
            </a:pPr>
            <a:r>
              <a:rPr sz="1800" b="1" i="0">
                <a:solidFill>
                  <a:srgbClr val="C45A11"/>
                </a:solidFill>
                <a:latin typeface="Cambria"/>
              </a:rPr>
              <a:t>Still to do</a:t>
            </a:r>
          </a:p>
          <a:p>
            <a:pPr>
              <a:spcAft>
                <a:spcPts val="900"/>
              </a:spcAft>
            </a:pPr>
            <a:r>
              <a:rPr sz="1500" b="0" i="0">
                <a:solidFill>
                  <a:srgbClr val="2B2B2B"/>
                </a:solidFill>
                <a:latin typeface="Calibri"/>
              </a:rPr>
              <a:t>•  Walking under full realistic physics</a:t>
            </a:r>
          </a:p>
          <a:p>
            <a:pPr>
              <a:spcAft>
                <a:spcPts val="900"/>
              </a:spcAft>
            </a:pPr>
            <a:r>
              <a:rPr sz="1500" b="0" i="0">
                <a:solidFill>
                  <a:srgbClr val="2B2B2B"/>
                </a:solidFill>
                <a:latin typeface="Calibri"/>
              </a:rPr>
              <a:t>•  Tuning the joint controllers</a:t>
            </a:r>
          </a:p>
          <a:p>
            <a:pPr>
              <a:spcAft>
                <a:spcPts val="900"/>
              </a:spcAft>
            </a:pPr>
            <a:r>
              <a:rPr sz="1500" b="0" i="0">
                <a:solidFill>
                  <a:srgbClr val="2B2B2B"/>
                </a:solidFill>
                <a:latin typeface="Calibri"/>
              </a:rPr>
              <a:t>•  Measuring foot slip with contact sensors</a:t>
            </a:r>
          </a:p>
          <a:p>
            <a:pPr>
              <a:spcAft>
                <a:spcPts val="900"/>
              </a:spcAft>
            </a:pPr>
            <a:r>
              <a:rPr sz="1500" b="0" i="0">
                <a:solidFill>
                  <a:srgbClr val="2B2B2B"/>
                </a:solidFill>
                <a:latin typeface="Calibri"/>
              </a:rPr>
              <a:t>•  Writing the motor driver</a:t>
            </a:r>
          </a:p>
          <a:p>
            <a:pPr>
              <a:spcAft>
                <a:spcPts val="900"/>
              </a:spcAft>
            </a:pPr>
            <a:r>
              <a:rPr sz="1500" b="0" i="0">
                <a:solidFill>
                  <a:srgbClr val="2B2B2B"/>
                </a:solidFill>
                <a:latin typeface="Calibri"/>
              </a:rPr>
              <a:t>•  Building the physical robot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10972800" cy="868680"/>
          </a:xfrm>
          <a:prstGeom prst="rect">
            <a:avLst/>
          </a:prstGeom>
          <a:noFill/>
        </p:spPr>
        <p:txBody>
          <a:bodyPr wrap="square" lIns="0" rIns="0" tIns="0" bIns="0" anchor="t">
            <a:spAutoFit/>
          </a:bodyPr>
          <a:lstStyle/>
          <a:p>
            <a:pPr algn="l">
              <a:spcAft>
                <a:spcPts val="0"/>
              </a:spcAft>
            </a:pPr>
            <a:r>
              <a:rPr sz="3400" b="1" i="0">
                <a:solidFill>
                  <a:srgbClr val="2B2B2B"/>
                </a:solidFill>
                <a:latin typeface="Cambria"/>
              </a:rPr>
              <a:t>Next phase</a:t>
            </a:r>
          </a:p>
        </p:txBody>
      </p:sp>
      <p:sp>
        <p:nvSpPr>
          <p:cNvPr id="3" name="Rounded Rectangle 2"/>
          <p:cNvSpPr/>
          <p:nvPr/>
        </p:nvSpPr>
        <p:spPr>
          <a:xfrm>
            <a:off x="640080" y="2148840"/>
            <a:ext cx="10881360" cy="731520"/>
          </a:xfrm>
          <a:prstGeom prst="roundRect">
            <a:avLst>
              <a:gd name="adj" fmla="val 6000"/>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60120" y="2304288"/>
            <a:ext cx="457200" cy="457200"/>
          </a:xfrm>
          <a:prstGeom prst="rect">
            <a:avLst/>
          </a:prstGeom>
          <a:noFill/>
        </p:spPr>
        <p:txBody>
          <a:bodyPr wrap="square" lIns="0" rIns="0" tIns="0" bIns="0" anchor="t">
            <a:spAutoFit/>
          </a:bodyPr>
          <a:lstStyle/>
          <a:p>
            <a:pPr algn="l">
              <a:spcAft>
                <a:spcPts val="0"/>
              </a:spcAft>
            </a:pPr>
            <a:r>
              <a:rPr sz="2100" b="1" i="0">
                <a:solidFill>
                  <a:srgbClr val="C45A11"/>
                </a:solidFill>
                <a:latin typeface="Cambria"/>
              </a:rPr>
              <a:t>1</a:t>
            </a:r>
          </a:p>
        </p:txBody>
      </p:sp>
      <p:sp>
        <p:nvSpPr>
          <p:cNvPr id="5" name="TextBox 4"/>
          <p:cNvSpPr txBox="1"/>
          <p:nvPr/>
        </p:nvSpPr>
        <p:spPr>
          <a:xfrm>
            <a:off x="1645920" y="2331720"/>
            <a:ext cx="9509760" cy="457200"/>
          </a:xfrm>
          <a:prstGeom prst="rect">
            <a:avLst/>
          </a:prstGeom>
          <a:noFill/>
        </p:spPr>
        <p:txBody>
          <a:bodyPr wrap="square" lIns="0" rIns="0" tIns="0" bIns="0" anchor="t">
            <a:spAutoFit/>
          </a:bodyPr>
          <a:lstStyle/>
          <a:p>
            <a:pPr algn="l">
              <a:spcAft>
                <a:spcPts val="0"/>
              </a:spcAft>
            </a:pPr>
            <a:r>
              <a:rPr sz="1600" b="0" i="0">
                <a:solidFill>
                  <a:srgbClr val="2B2B2B"/>
                </a:solidFill>
                <a:latin typeface="Calibri"/>
              </a:rPr>
              <a:t>Find why the body does not move under realistic physics</a:t>
            </a:r>
          </a:p>
        </p:txBody>
      </p:sp>
      <p:sp>
        <p:nvSpPr>
          <p:cNvPr id="6" name="Rounded Rectangle 5"/>
          <p:cNvSpPr/>
          <p:nvPr/>
        </p:nvSpPr>
        <p:spPr>
          <a:xfrm>
            <a:off x="640080" y="3017520"/>
            <a:ext cx="10881360" cy="731520"/>
          </a:xfrm>
          <a:prstGeom prst="roundRect">
            <a:avLst>
              <a:gd name="adj" fmla="val 6000"/>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3172968"/>
            <a:ext cx="457200" cy="457200"/>
          </a:xfrm>
          <a:prstGeom prst="rect">
            <a:avLst/>
          </a:prstGeom>
          <a:noFill/>
        </p:spPr>
        <p:txBody>
          <a:bodyPr wrap="square" lIns="0" rIns="0" tIns="0" bIns="0" anchor="t">
            <a:spAutoFit/>
          </a:bodyPr>
          <a:lstStyle/>
          <a:p>
            <a:pPr algn="l">
              <a:spcAft>
                <a:spcPts val="0"/>
              </a:spcAft>
            </a:pPr>
            <a:r>
              <a:rPr sz="2100" b="1" i="0">
                <a:solidFill>
                  <a:srgbClr val="C45A11"/>
                </a:solidFill>
                <a:latin typeface="Cambria"/>
              </a:rPr>
              <a:t>2</a:t>
            </a:r>
          </a:p>
        </p:txBody>
      </p:sp>
      <p:sp>
        <p:nvSpPr>
          <p:cNvPr id="8" name="TextBox 7"/>
          <p:cNvSpPr txBox="1"/>
          <p:nvPr/>
        </p:nvSpPr>
        <p:spPr>
          <a:xfrm>
            <a:off x="1645920" y="3200400"/>
            <a:ext cx="9509760" cy="457200"/>
          </a:xfrm>
          <a:prstGeom prst="rect">
            <a:avLst/>
          </a:prstGeom>
          <a:noFill/>
        </p:spPr>
        <p:txBody>
          <a:bodyPr wrap="square" lIns="0" rIns="0" tIns="0" bIns="0" anchor="t">
            <a:spAutoFit/>
          </a:bodyPr>
          <a:lstStyle/>
          <a:p>
            <a:pPr algn="l">
              <a:spcAft>
                <a:spcPts val="0"/>
              </a:spcAft>
            </a:pPr>
            <a:r>
              <a:rPr sz="1600" b="0" i="0">
                <a:solidFill>
                  <a:srgbClr val="2B2B2B"/>
                </a:solidFill>
                <a:latin typeface="Calibri"/>
              </a:rPr>
              <a:t>Tune the joint controllers against our real masses</a:t>
            </a:r>
          </a:p>
        </p:txBody>
      </p:sp>
      <p:sp>
        <p:nvSpPr>
          <p:cNvPr id="9" name="Rounded Rectangle 8"/>
          <p:cNvSpPr/>
          <p:nvPr/>
        </p:nvSpPr>
        <p:spPr>
          <a:xfrm>
            <a:off x="640080" y="3886200"/>
            <a:ext cx="10881360" cy="731520"/>
          </a:xfrm>
          <a:prstGeom prst="roundRect">
            <a:avLst>
              <a:gd name="adj" fmla="val 6000"/>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0120" y="4041648"/>
            <a:ext cx="457200" cy="457200"/>
          </a:xfrm>
          <a:prstGeom prst="rect">
            <a:avLst/>
          </a:prstGeom>
          <a:noFill/>
        </p:spPr>
        <p:txBody>
          <a:bodyPr wrap="square" lIns="0" rIns="0" tIns="0" bIns="0" anchor="t">
            <a:spAutoFit/>
          </a:bodyPr>
          <a:lstStyle/>
          <a:p>
            <a:pPr algn="l">
              <a:spcAft>
                <a:spcPts val="0"/>
              </a:spcAft>
            </a:pPr>
            <a:r>
              <a:rPr sz="2100" b="1" i="0">
                <a:solidFill>
                  <a:srgbClr val="C45A11"/>
                </a:solidFill>
                <a:latin typeface="Cambria"/>
              </a:rPr>
              <a:t>3</a:t>
            </a:r>
          </a:p>
        </p:txBody>
      </p:sp>
      <p:sp>
        <p:nvSpPr>
          <p:cNvPr id="11" name="TextBox 10"/>
          <p:cNvSpPr txBox="1"/>
          <p:nvPr/>
        </p:nvSpPr>
        <p:spPr>
          <a:xfrm>
            <a:off x="1645920" y="4069080"/>
            <a:ext cx="9509760" cy="457200"/>
          </a:xfrm>
          <a:prstGeom prst="rect">
            <a:avLst/>
          </a:prstGeom>
          <a:noFill/>
        </p:spPr>
        <p:txBody>
          <a:bodyPr wrap="square" lIns="0" rIns="0" tIns="0" bIns="0" anchor="t">
            <a:spAutoFit/>
          </a:bodyPr>
          <a:lstStyle/>
          <a:p>
            <a:pPr algn="l">
              <a:spcAft>
                <a:spcPts val="0"/>
              </a:spcAft>
            </a:pPr>
            <a:r>
              <a:rPr sz="1600" b="0" i="0">
                <a:solidFill>
                  <a:srgbClr val="2B2B2B"/>
                </a:solidFill>
                <a:latin typeface="Calibri"/>
              </a:rPr>
              <a:t>Add foot sensors to measure slipping directly</a:t>
            </a:r>
          </a:p>
        </p:txBody>
      </p:sp>
      <p:sp>
        <p:nvSpPr>
          <p:cNvPr id="12" name="Rounded Rectangle 11"/>
          <p:cNvSpPr/>
          <p:nvPr/>
        </p:nvSpPr>
        <p:spPr>
          <a:xfrm>
            <a:off x="640080" y="4754880"/>
            <a:ext cx="10881360" cy="731520"/>
          </a:xfrm>
          <a:prstGeom prst="roundRect">
            <a:avLst>
              <a:gd name="adj" fmla="val 6000"/>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60120" y="4910328"/>
            <a:ext cx="457200" cy="457200"/>
          </a:xfrm>
          <a:prstGeom prst="rect">
            <a:avLst/>
          </a:prstGeom>
          <a:noFill/>
        </p:spPr>
        <p:txBody>
          <a:bodyPr wrap="square" lIns="0" rIns="0" tIns="0" bIns="0" anchor="t">
            <a:spAutoFit/>
          </a:bodyPr>
          <a:lstStyle/>
          <a:p>
            <a:pPr algn="l">
              <a:spcAft>
                <a:spcPts val="0"/>
              </a:spcAft>
            </a:pPr>
            <a:r>
              <a:rPr sz="2100" b="1" i="0">
                <a:solidFill>
                  <a:srgbClr val="C45A11"/>
                </a:solidFill>
                <a:latin typeface="Cambria"/>
              </a:rPr>
              <a:t>4</a:t>
            </a:r>
          </a:p>
        </p:txBody>
      </p:sp>
      <p:sp>
        <p:nvSpPr>
          <p:cNvPr id="14" name="TextBox 13"/>
          <p:cNvSpPr txBox="1"/>
          <p:nvPr/>
        </p:nvSpPr>
        <p:spPr>
          <a:xfrm>
            <a:off x="1645920" y="4937760"/>
            <a:ext cx="9509760" cy="457200"/>
          </a:xfrm>
          <a:prstGeom prst="rect">
            <a:avLst/>
          </a:prstGeom>
          <a:noFill/>
        </p:spPr>
        <p:txBody>
          <a:bodyPr wrap="square" lIns="0" rIns="0" tIns="0" bIns="0" anchor="t">
            <a:spAutoFit/>
          </a:bodyPr>
          <a:lstStyle/>
          <a:p>
            <a:pPr algn="l">
              <a:spcAft>
                <a:spcPts val="0"/>
              </a:spcAft>
            </a:pPr>
            <a:r>
              <a:rPr sz="1600" b="0" i="0">
                <a:solidFill>
                  <a:srgbClr val="2B2B2B"/>
                </a:solidFill>
                <a:latin typeface="Calibri"/>
              </a:rPr>
              <a:t>Write the motor driver and assemble the robot</a:t>
            </a:r>
          </a:p>
        </p:txBody>
      </p:sp>
      <p:sp>
        <p:nvSpPr>
          <p:cNvPr id="15" name="Rounded Rectangle 14"/>
          <p:cNvSpPr/>
          <p:nvPr/>
        </p:nvSpPr>
        <p:spPr>
          <a:xfrm>
            <a:off x="640080" y="5623560"/>
            <a:ext cx="10881360" cy="731520"/>
          </a:xfrm>
          <a:prstGeom prst="roundRect">
            <a:avLst>
              <a:gd name="adj" fmla="val 6000"/>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60120" y="5779008"/>
            <a:ext cx="457200" cy="457200"/>
          </a:xfrm>
          <a:prstGeom prst="rect">
            <a:avLst/>
          </a:prstGeom>
          <a:noFill/>
        </p:spPr>
        <p:txBody>
          <a:bodyPr wrap="square" lIns="0" rIns="0" tIns="0" bIns="0" anchor="t">
            <a:spAutoFit/>
          </a:bodyPr>
          <a:lstStyle/>
          <a:p>
            <a:pPr algn="l">
              <a:spcAft>
                <a:spcPts val="0"/>
              </a:spcAft>
            </a:pPr>
            <a:r>
              <a:rPr sz="2100" b="1" i="0">
                <a:solidFill>
                  <a:srgbClr val="C45A11"/>
                </a:solidFill>
                <a:latin typeface="Cambria"/>
              </a:rPr>
              <a:t>5</a:t>
            </a:r>
          </a:p>
        </p:txBody>
      </p:sp>
      <p:sp>
        <p:nvSpPr>
          <p:cNvPr id="17" name="TextBox 16"/>
          <p:cNvSpPr txBox="1"/>
          <p:nvPr/>
        </p:nvSpPr>
        <p:spPr>
          <a:xfrm>
            <a:off x="1645920" y="5806440"/>
            <a:ext cx="9509760" cy="457200"/>
          </a:xfrm>
          <a:prstGeom prst="rect">
            <a:avLst/>
          </a:prstGeom>
          <a:noFill/>
        </p:spPr>
        <p:txBody>
          <a:bodyPr wrap="square" lIns="0" rIns="0" tIns="0" bIns="0" anchor="t">
            <a:spAutoFit/>
          </a:bodyPr>
          <a:lstStyle/>
          <a:p>
            <a:pPr algn="l">
              <a:spcAft>
                <a:spcPts val="0"/>
              </a:spcAft>
            </a:pPr>
            <a:r>
              <a:rPr sz="1600" b="0" i="0">
                <a:solidFill>
                  <a:srgbClr val="2B2B2B"/>
                </a:solidFill>
                <a:latin typeface="Calibri"/>
              </a:rPr>
              <a:t>Add mapping and navigation</a:t>
            </a:r>
          </a:p>
        </p:txBody>
      </p:sp>
      <p:sp>
        <p:nvSpPr>
          <p:cNvPr id="18" name="TextBox 17"/>
          <p:cNvSpPr txBox="1"/>
          <p:nvPr/>
        </p:nvSpPr>
        <p:spPr>
          <a:xfrm>
            <a:off x="640080" y="6400800"/>
            <a:ext cx="10881360" cy="411480"/>
          </a:xfrm>
          <a:prstGeom prst="rect">
            <a:avLst/>
          </a:prstGeom>
          <a:noFill/>
        </p:spPr>
        <p:txBody>
          <a:bodyPr wrap="square" lIns="0" rIns="0" tIns="0" bIns="0" anchor="t">
            <a:spAutoFit/>
          </a:bodyPr>
          <a:lstStyle/>
          <a:p>
            <a:pPr algn="l">
              <a:spcAft>
                <a:spcPts val="0"/>
              </a:spcAft>
            </a:pPr>
            <a:r>
              <a:rPr sz="1350" b="0" i="1">
                <a:solidFill>
                  <a:srgbClr val="707070"/>
                </a:solidFill>
                <a:latin typeface="Calibri"/>
              </a:rPr>
              <a:t>None of this requires the gait, the leg maths or the robot model to change.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33383D"/>
        </a:solidFill>
        <a:effectLst/>
      </p:bgPr>
    </p:bg>
    <p:spTree>
      <p:nvGrpSpPr>
        <p:cNvPr id="1" name=""/>
        <p:cNvGrpSpPr/>
        <p:nvPr/>
      </p:nvGrpSpPr>
      <p:grpSpPr/>
      <p:sp>
        <p:nvSpPr>
          <p:cNvPr id="2" name="TextBox 1"/>
          <p:cNvSpPr txBox="1"/>
          <p:nvPr/>
        </p:nvSpPr>
        <p:spPr>
          <a:xfrm>
            <a:off x="914400" y="2834640"/>
            <a:ext cx="10332720" cy="914400"/>
          </a:xfrm>
          <a:prstGeom prst="rect">
            <a:avLst/>
          </a:prstGeom>
          <a:noFill/>
        </p:spPr>
        <p:txBody>
          <a:bodyPr wrap="square" lIns="0" rIns="0" tIns="0" bIns="0" anchor="t">
            <a:spAutoFit/>
          </a:bodyPr>
          <a:lstStyle/>
          <a:p>
            <a:pPr algn="l">
              <a:spcAft>
                <a:spcPts val="0"/>
              </a:spcAft>
            </a:pPr>
            <a:r>
              <a:rPr sz="4200" b="1" i="0">
                <a:solidFill>
                  <a:srgbClr val="FFFFFF"/>
                </a:solidFill>
                <a:latin typeface="Cambria"/>
              </a:rPr>
              <a:t>Thank you</a:t>
            </a:r>
          </a:p>
        </p:txBody>
      </p:sp>
      <p:sp>
        <p:nvSpPr>
          <p:cNvPr id="3" name="TextBox 2"/>
          <p:cNvSpPr txBox="1"/>
          <p:nvPr/>
        </p:nvSpPr>
        <p:spPr>
          <a:xfrm>
            <a:off x="914400" y="3840480"/>
            <a:ext cx="10332720" cy="548640"/>
          </a:xfrm>
          <a:prstGeom prst="rect">
            <a:avLst/>
          </a:prstGeom>
          <a:noFill/>
        </p:spPr>
        <p:txBody>
          <a:bodyPr wrap="square" lIns="0" rIns="0" tIns="0" bIns="0" anchor="t">
            <a:spAutoFit/>
          </a:bodyPr>
          <a:lstStyle/>
          <a:p>
            <a:pPr algn="l">
              <a:spcAft>
                <a:spcPts val="0"/>
              </a:spcAft>
            </a:pPr>
            <a:r>
              <a:rPr sz="2000" b="0" i="0">
                <a:solidFill>
                  <a:srgbClr val="E89A4F"/>
                </a:solidFill>
                <a:latin typeface="Calibri"/>
              </a:rPr>
              <a:t>Questions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