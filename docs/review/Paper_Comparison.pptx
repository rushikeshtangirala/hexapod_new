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slide, kept separate from the main deck.</a:t>
            </a:r>
          </a:p>
          <a:p/>
          <a:p>
            <a:r>
              <a:t>Why this paper: it is nearly the same machine. Six legs, three degrees of freedom each, tripod gait as the starting point, kinematics presented, simulation before hardware. So every difference is a real engineering choice rather than an accident of scale.</a:t>
            </a:r>
          </a:p>
          <a:p/>
          <a:p>
            <a:r>
              <a:t>Their contribution is a terrain-adaptive gait with two clearance modes, 6 cm marching and 18 cm step-over, so the robot climbs obstacles instead of walking around them. That saves 14.4 percent of the energy per obstacle.</a:t>
            </a:r>
          </a:p>
          <a:p/>
          <a:p>
            <a:r>
              <a:t>THE POINT TO MAKE. They deliberately avoid inverse kinematics at run time. The paper says computing landing points with IK generates many complex computations and costs time and energy, so they drive the joints with sinusoids instead. That objection applies to NUMERICAL IK, which iterates. Ours is closed form: a fixed handful of trigonometric calls, no iteration, no convergence risk. It is cheap, and it buys something their method cannot have. With sinusoids you select a gait mode. With analytic IK you command a body velocity and the stride for every leg follows from geometry, which is why walking, strafing and turning are one piece of code.</a:t>
            </a:r>
          </a:p>
          <a:p/>
          <a:p>
            <a:r>
              <a:t>Say it in one line: they trade commandability for computation, we trade computation for commandability, and closed form is what makes that trade affordable. Both are correct engineering. Theirs is right for a battery-limited scouting robot where cost of transport is the headline metric.</a:t>
            </a:r>
          </a:p>
          <a:p/>
          <a:p>
            <a:r>
              <a:t>Second point, validation. They validate empirically in the field, which needs hardware. We validate formally offline. Complementary, and ours caught a sign error that field testing would likely have dismissed as needing tuning.</a:t>
            </a:r>
          </a:p>
          <a:p/>
          <a:p>
            <a:r>
              <a:t>Do not imply parity of stage. Say plainly: this paper is where we intend to be at the end of the project.</a:t>
            </a:r>
          </a:p>
          <a:p/>
          <a:p>
            <a:r>
              <a:t>If asked what we would do differently after reading it: adopt cost of transport as a metric, we have no energy measure at all; add the IMU earlier; and reconsider using CNC aluminium for stressed parts rather than printing everything, which is how they reach 8 kg payload.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247120" cy="640080"/>
          </a:xfrm>
          <a:prstGeom prst="rect">
            <a:avLst/>
          </a:prstGeom>
          <a:noFill/>
        </p:spPr>
        <p:txBody>
          <a:bodyPr wrap="square" lIns="0" rIns="0" tIns="0" bIns="0">
            <a:spAutoFit/>
          </a:bodyPr>
          <a:lstStyle/>
          <a:p>
            <a:pPr algn="l">
              <a:spcAft>
                <a:spcPts val="0"/>
              </a:spcAft>
            </a:pPr>
            <a:r>
              <a:rPr sz="2700" b="1" i="0">
                <a:solidFill>
                  <a:srgbClr val="2B2B2B"/>
                </a:solidFill>
                <a:latin typeface="Cambria"/>
              </a:rPr>
              <a:t>Comparison with published work</a:t>
            </a:r>
          </a:p>
        </p:txBody>
      </p:sp>
      <p:sp>
        <p:nvSpPr>
          <p:cNvPr id="3" name="TextBox 2"/>
          <p:cNvSpPr txBox="1"/>
          <p:nvPr/>
        </p:nvSpPr>
        <p:spPr>
          <a:xfrm>
            <a:off x="502920" y="1024128"/>
            <a:ext cx="11247120" cy="411480"/>
          </a:xfrm>
          <a:prstGeom prst="rect">
            <a:avLst/>
          </a:prstGeom>
          <a:noFill/>
        </p:spPr>
        <p:txBody>
          <a:bodyPr wrap="square" lIns="0" rIns="0" tIns="0" bIns="0">
            <a:spAutoFit/>
          </a:bodyPr>
          <a:lstStyle/>
          <a:p>
            <a:pPr algn="l">
              <a:spcAft>
                <a:spcPts val="0"/>
              </a:spcAft>
            </a:pPr>
            <a:r>
              <a:rPr sz="1250" b="0" i="1">
                <a:solidFill>
                  <a:srgbClr val="707070"/>
                </a:solidFill>
                <a:latin typeface="Calibri"/>
              </a:rPr>
              <a:t>Xiang, L. et al. (2024). Development of a bionic hexapod robot with adaptive gait and clearance for enhanced agricultural field scouting. Frontiers in Robotics and AI, 11:1426269.</a:t>
            </a:r>
          </a:p>
        </p:txBody>
      </p:sp>
      <p:graphicFrame>
        <p:nvGraphicFramePr>
          <p:cNvPr id="4" name="Table 3"/>
          <p:cNvGraphicFramePr>
            <a:graphicFrameLocks noGrp="1"/>
          </p:cNvGraphicFramePr>
          <p:nvPr/>
        </p:nvGraphicFramePr>
        <p:xfrm>
          <a:off x="502920" y="1600200"/>
          <a:ext cx="11247120" cy="3246120"/>
        </p:xfrm>
        <a:graphic>
          <a:graphicData uri="http://schemas.openxmlformats.org/drawingml/2006/table">
            <a:tbl>
              <a:tblPr firstRow="1" bandRow="1">
                <a:tableStyleId>{5C22544A-7EE6-4342-B048-85BDC9FD1C3A}</a:tableStyleId>
              </a:tblPr>
              <a:tblGrid>
                <a:gridCol w="1554480"/>
                <a:gridCol w="4754880"/>
                <a:gridCol w="4937760"/>
              </a:tblGrid>
              <a:tr h="405765">
                <a:tc>
                  <a:txBody>
                    <a:bodyPr/>
                    <a:lstStyle/>
                    <a:p>
                      <a:r>
                        <a:rPr sz="1200" b="1">
                          <a:solidFill>
                            <a:srgbClr val="FFFFFF"/>
                          </a:solidFill>
                          <a:latin typeface="Calibri"/>
                        </a:rPr>
                        <a:t/>
                      </a:r>
                    </a:p>
                  </a:txBody>
                  <a:tcPr marL="82296" marR="82296" anchor="ctr">
                    <a:solidFill>
                      <a:srgbClr val="33383D"/>
                    </a:solidFill>
                  </a:tcPr>
                </a:tc>
                <a:tc>
                  <a:txBody>
                    <a:bodyPr/>
                    <a:lstStyle/>
                    <a:p>
                      <a:r>
                        <a:rPr sz="1200" b="1">
                          <a:solidFill>
                            <a:srgbClr val="FFFFFF"/>
                          </a:solidFill>
                          <a:latin typeface="Calibri"/>
                        </a:rPr>
                        <a:t>Xiang et al., 2024</a:t>
                      </a:r>
                    </a:p>
                  </a:txBody>
                  <a:tcPr marL="82296" marR="82296" anchor="ctr">
                    <a:solidFill>
                      <a:srgbClr val="33383D"/>
                    </a:solidFill>
                  </a:tcPr>
                </a:tc>
                <a:tc>
                  <a:txBody>
                    <a:bodyPr/>
                    <a:lstStyle/>
                    <a:p>
                      <a:r>
                        <a:rPr sz="1200" b="1">
                          <a:solidFill>
                            <a:srgbClr val="FFFFFF"/>
                          </a:solidFill>
                          <a:latin typeface="Calibri"/>
                        </a:rPr>
                        <a:t>Our project</a:t>
                      </a:r>
                    </a:p>
                  </a:txBody>
                  <a:tcPr marL="82296" marR="82296" anchor="ctr">
                    <a:solidFill>
                      <a:srgbClr val="33383D"/>
                    </a:solidFill>
                  </a:tcPr>
                </a:tc>
              </a:tr>
              <a:tr h="405765">
                <a:tc>
                  <a:txBody>
                    <a:bodyPr/>
                    <a:lstStyle/>
                    <a:p>
                      <a:r>
                        <a:rPr sz="1150" b="1">
                          <a:solidFill>
                            <a:srgbClr val="2B2B2B"/>
                          </a:solidFill>
                          <a:latin typeface="Calibri"/>
                        </a:rPr>
                        <a:t>Topology</a:t>
                      </a:r>
                    </a:p>
                  </a:txBody>
                  <a:tcPr marL="82296" marR="82296" anchor="ctr">
                    <a:solidFill>
                      <a:srgbClr val="FFFFFF"/>
                    </a:solidFill>
                  </a:tcPr>
                </a:tc>
                <a:tc>
                  <a:txBody>
                    <a:bodyPr/>
                    <a:lstStyle/>
                    <a:p>
                      <a:r>
                        <a:rPr sz="1150" b="0">
                          <a:solidFill>
                            <a:srgbClr val="2B2B2B"/>
                          </a:solidFill>
                          <a:latin typeface="Calibri"/>
                        </a:rPr>
                        <a:t>6 legs × 3 DOF, tripod gait as base</a:t>
                      </a:r>
                    </a:p>
                  </a:txBody>
                  <a:tcPr marL="82296" marR="82296" anchor="ctr">
                    <a:solidFill>
                      <a:srgbClr val="FFFFFF"/>
                    </a:solidFill>
                  </a:tcPr>
                </a:tc>
                <a:tc>
                  <a:txBody>
                    <a:bodyPr/>
                    <a:lstStyle/>
                    <a:p>
                      <a:r>
                        <a:rPr sz="1150" b="0">
                          <a:solidFill>
                            <a:srgbClr val="2B2B2B"/>
                          </a:solidFill>
                          <a:latin typeface="Calibri"/>
                        </a:rPr>
                        <a:t>Same</a:t>
                      </a:r>
                    </a:p>
                  </a:txBody>
                  <a:tcPr marL="82296" marR="82296" anchor="ctr">
                    <a:solidFill>
                      <a:srgbClr val="FFFFFF"/>
                    </a:solidFill>
                  </a:tcPr>
                </a:tc>
              </a:tr>
              <a:tr h="405765">
                <a:tc>
                  <a:txBody>
                    <a:bodyPr/>
                    <a:lstStyle/>
                    <a:p>
                      <a:r>
                        <a:rPr sz="1150" b="1">
                          <a:solidFill>
                            <a:srgbClr val="2B2B2B"/>
                          </a:solidFill>
                          <a:latin typeface="Calibri"/>
                        </a:rPr>
                        <a:t>Structure</a:t>
                      </a:r>
                    </a:p>
                  </a:txBody>
                  <a:tcPr marL="82296" marR="82296" anchor="ctr">
                    <a:solidFill>
                      <a:srgbClr val="F3F3F3"/>
                    </a:solidFill>
                  </a:tcPr>
                </a:tc>
                <a:tc>
                  <a:txBody>
                    <a:bodyPr/>
                    <a:lstStyle/>
                    <a:p>
                      <a:r>
                        <a:rPr sz="1150" b="0">
                          <a:solidFill>
                            <a:srgbClr val="2B2B2B"/>
                          </a:solidFill>
                          <a:latin typeface="Calibri"/>
                        </a:rPr>
                        <a:t>Carbon fibre and CNC aluminium, under 10 kg</a:t>
                      </a:r>
                    </a:p>
                  </a:txBody>
                  <a:tcPr marL="82296" marR="82296" anchor="ctr">
                    <a:solidFill>
                      <a:srgbClr val="F3F3F3"/>
                    </a:solidFill>
                  </a:tcPr>
                </a:tc>
                <a:tc>
                  <a:txBody>
                    <a:bodyPr/>
                    <a:lstStyle/>
                    <a:p>
                      <a:r>
                        <a:rPr sz="1150" b="0">
                          <a:solidFill>
                            <a:srgbClr val="2B2B2B"/>
                          </a:solidFill>
                          <a:latin typeface="Calibri"/>
                        </a:rPr>
                        <a:t>3D printed PLA, 3.39 kg</a:t>
                      </a:r>
                    </a:p>
                  </a:txBody>
                  <a:tcPr marL="82296" marR="82296" anchor="ctr">
                    <a:solidFill>
                      <a:srgbClr val="F3F3F3"/>
                    </a:solidFill>
                  </a:tcPr>
                </a:tc>
              </a:tr>
              <a:tr h="405765">
                <a:tc>
                  <a:txBody>
                    <a:bodyPr/>
                    <a:lstStyle/>
                    <a:p>
                      <a:r>
                        <a:rPr sz="1150" b="1">
                          <a:solidFill>
                            <a:srgbClr val="2B2B2B"/>
                          </a:solidFill>
                          <a:latin typeface="Calibri"/>
                        </a:rPr>
                        <a:t>Foot trajectory</a:t>
                      </a:r>
                    </a:p>
                  </a:txBody>
                  <a:tcPr marL="82296" marR="82296" anchor="ctr">
                    <a:solidFill>
                      <a:srgbClr val="FFFFFF"/>
                    </a:solidFill>
                  </a:tcPr>
                </a:tc>
                <a:tc>
                  <a:txBody>
                    <a:bodyPr/>
                    <a:lstStyle/>
                    <a:p>
                      <a:r>
                        <a:rPr sz="1150" b="0">
                          <a:solidFill>
                            <a:srgbClr val="2B2B2B"/>
                          </a:solidFill>
                          <a:latin typeface="Calibri"/>
                        </a:rPr>
                        <a:t>Sinusoidal joint modulation.</a:t>
                      </a:r>
                    </a:p>
                    <a:p>
                      <a:r>
                        <a:rPr sz="1150" b="0">
                          <a:solidFill>
                            <a:srgbClr val="2B2B2B"/>
                          </a:solidFill>
                          <a:latin typeface="Calibri"/>
                        </a:rPr>
                        <a:t>IK deliberately avoided at run time</a:t>
                      </a:r>
                    </a:p>
                  </a:txBody>
                  <a:tcPr marL="82296" marR="82296" anchor="ctr">
                    <a:solidFill>
                      <a:srgbClr val="FFFFFF"/>
                    </a:solidFill>
                  </a:tcPr>
                </a:tc>
                <a:tc>
                  <a:txBody>
                    <a:bodyPr/>
                    <a:lstStyle/>
                    <a:p>
                      <a:r>
                        <a:rPr sz="1150" b="0">
                          <a:solidFill>
                            <a:srgbClr val="2B2B2B"/>
                          </a:solidFill>
                          <a:latin typeface="Calibri"/>
                        </a:rPr>
                        <a:t>Closed-form analytic IK, solved at 50 Hz</a:t>
                      </a:r>
                    </a:p>
                  </a:txBody>
                  <a:tcPr marL="82296" marR="82296" anchor="ctr">
                    <a:solidFill>
                      <a:srgbClr val="FFFFFF"/>
                    </a:solidFill>
                  </a:tcPr>
                </a:tc>
              </a:tr>
              <a:tr h="405765">
                <a:tc>
                  <a:txBody>
                    <a:bodyPr/>
                    <a:lstStyle/>
                    <a:p>
                      <a:r>
                        <a:rPr sz="1150" b="1">
                          <a:solidFill>
                            <a:srgbClr val="2B2B2B"/>
                          </a:solidFill>
                          <a:latin typeface="Calibri"/>
                        </a:rPr>
                        <a:t>Commanding</a:t>
                      </a:r>
                    </a:p>
                  </a:txBody>
                  <a:tcPr marL="82296" marR="82296" anchor="ctr">
                    <a:solidFill>
                      <a:srgbClr val="F3F3F3"/>
                    </a:solidFill>
                  </a:tcPr>
                </a:tc>
                <a:tc>
                  <a:txBody>
                    <a:bodyPr/>
                    <a:lstStyle/>
                    <a:p>
                      <a:r>
                        <a:rPr sz="1150" b="0">
                          <a:solidFill>
                            <a:srgbClr val="2B2B2B"/>
                          </a:solidFill>
                          <a:latin typeface="Calibri"/>
                        </a:rPr>
                        <a:t>A gait mode is selected</a:t>
                      </a:r>
                    </a:p>
                  </a:txBody>
                  <a:tcPr marL="82296" marR="82296" anchor="ctr">
                    <a:solidFill>
                      <a:srgbClr val="F3F3F3"/>
                    </a:solidFill>
                  </a:tcPr>
                </a:tc>
                <a:tc>
                  <a:txBody>
                    <a:bodyPr/>
                    <a:lstStyle/>
                    <a:p>
                      <a:r>
                        <a:rPr sz="1150" b="0">
                          <a:solidFill>
                            <a:srgbClr val="2B2B2B"/>
                          </a:solidFill>
                          <a:latin typeface="Calibri"/>
                        </a:rPr>
                        <a:t>A body velocity is commanded,</a:t>
                      </a:r>
                    </a:p>
                    <a:p>
                      <a:r>
                        <a:rPr sz="1150" b="0">
                          <a:solidFill>
                            <a:srgbClr val="2B2B2B"/>
                          </a:solidFill>
                          <a:latin typeface="Calibri"/>
                        </a:rPr>
                        <a:t>stride is derived</a:t>
                      </a:r>
                    </a:p>
                  </a:txBody>
                  <a:tcPr marL="82296" marR="82296" anchor="ctr">
                    <a:solidFill>
                      <a:srgbClr val="F3F3F3"/>
                    </a:solidFill>
                  </a:tcPr>
                </a:tc>
              </a:tr>
              <a:tr h="405765">
                <a:tc>
                  <a:txBody>
                    <a:bodyPr/>
                    <a:lstStyle/>
                    <a:p>
                      <a:r>
                        <a:rPr sz="1150" b="1">
                          <a:solidFill>
                            <a:srgbClr val="2B2B2B"/>
                          </a:solidFill>
                          <a:latin typeface="Calibri"/>
                        </a:rPr>
                        <a:t>Simulation</a:t>
                      </a:r>
                    </a:p>
                  </a:txBody>
                  <a:tcPr marL="82296" marR="82296" anchor="ctr">
                    <a:solidFill>
                      <a:srgbClr val="FFFFFF"/>
                    </a:solidFill>
                  </a:tcPr>
                </a:tc>
                <a:tc>
                  <a:txBody>
                    <a:bodyPr/>
                    <a:lstStyle/>
                    <a:p>
                      <a:r>
                        <a:rPr sz="1150" b="0">
                          <a:solidFill>
                            <a:srgbClr val="2B2B2B"/>
                          </a:solidFill>
                          <a:latin typeface="Calibri"/>
                        </a:rPr>
                        <a:t>SolidWorks → Simulink Simscape</a:t>
                      </a:r>
                    </a:p>
                  </a:txBody>
                  <a:tcPr marL="82296" marR="82296" anchor="ctr">
                    <a:solidFill>
                      <a:srgbClr val="FFFFFF"/>
                    </a:solidFill>
                  </a:tcPr>
                </a:tc>
                <a:tc>
                  <a:txBody>
                    <a:bodyPr/>
                    <a:lstStyle/>
                    <a:p>
                      <a:r>
                        <a:rPr sz="1150" b="0">
                          <a:solidFill>
                            <a:srgbClr val="2B2B2B"/>
                          </a:solidFill>
                          <a:latin typeface="Calibri"/>
                        </a:rPr>
                        <a:t>AutoCAD → URDF → Gazebo, ros2_control</a:t>
                      </a:r>
                    </a:p>
                  </a:txBody>
                  <a:tcPr marL="82296" marR="82296" anchor="ctr">
                    <a:solidFill>
                      <a:srgbClr val="FFFFFF"/>
                    </a:solidFill>
                  </a:tcPr>
                </a:tc>
              </a:tr>
              <a:tr h="405765">
                <a:tc>
                  <a:txBody>
                    <a:bodyPr/>
                    <a:lstStyle/>
                    <a:p>
                      <a:r>
                        <a:rPr sz="1150" b="1">
                          <a:solidFill>
                            <a:srgbClr val="2B2B2B"/>
                          </a:solidFill>
                          <a:latin typeface="Calibri"/>
                        </a:rPr>
                        <a:t>Sensing</a:t>
                      </a:r>
                    </a:p>
                  </a:txBody>
                  <a:tcPr marL="82296" marR="82296" anchor="ctr">
                    <a:solidFill>
                      <a:srgbClr val="F3F3F3"/>
                    </a:solidFill>
                  </a:tcPr>
                </a:tc>
                <a:tc>
                  <a:txBody>
                    <a:bodyPr/>
                    <a:lstStyle/>
                    <a:p>
                      <a:r>
                        <a:rPr sz="1150" b="0">
                          <a:solidFill>
                            <a:srgbClr val="2B2B2B"/>
                          </a:solidFill>
                          <a:latin typeface="Calibri"/>
                        </a:rPr>
                        <a:t>IMU and one force sensor per foot</a:t>
                      </a:r>
                    </a:p>
                  </a:txBody>
                  <a:tcPr marL="82296" marR="82296" anchor="ctr">
                    <a:solidFill>
                      <a:srgbClr val="F3F3F3"/>
                    </a:solidFill>
                  </a:tcPr>
                </a:tc>
                <a:tc>
                  <a:txBody>
                    <a:bodyPr/>
                    <a:lstStyle/>
                    <a:p>
                      <a:r>
                        <a:rPr sz="1150" b="0">
                          <a:solidFill>
                            <a:srgbClr val="2B2B2B"/>
                          </a:solidFill>
                          <a:latin typeface="Calibri"/>
                        </a:rPr>
                        <a:t>Foot sensors modelled, currently disabled</a:t>
                      </a:r>
                    </a:p>
                  </a:txBody>
                  <a:tcPr marL="82296" marR="82296" anchor="ctr">
                    <a:solidFill>
                      <a:srgbClr val="F3F3F3"/>
                    </a:solidFill>
                  </a:tcPr>
                </a:tc>
              </a:tr>
              <a:tr h="405765">
                <a:tc>
                  <a:txBody>
                    <a:bodyPr/>
                    <a:lstStyle/>
                    <a:p>
                      <a:r>
                        <a:rPr sz="1150" b="1">
                          <a:solidFill>
                            <a:srgbClr val="2B2B2B"/>
                          </a:solidFill>
                          <a:latin typeface="Calibri"/>
                        </a:rPr>
                        <a:t>Validation</a:t>
                      </a:r>
                    </a:p>
                  </a:txBody>
                  <a:tcPr marL="82296" marR="82296" anchor="ctr">
                    <a:solidFill>
                      <a:srgbClr val="FFFFFF"/>
                    </a:solidFill>
                  </a:tcPr>
                </a:tc>
                <a:tc>
                  <a:txBody>
                    <a:bodyPr/>
                    <a:lstStyle/>
                    <a:p>
                      <a:r>
                        <a:rPr sz="1150" b="0">
                          <a:solidFill>
                            <a:srgbClr val="2B2B2B"/>
                          </a:solidFill>
                          <a:latin typeface="Calibri"/>
                        </a:rPr>
                        <a:t>Field trials: slopes to 17°, pitch −11.5° to 8.6°,</a:t>
                      </a:r>
                    </a:p>
                    <a:p>
                      <a:r>
                        <a:rPr sz="1150" b="0">
                          <a:solidFill>
                            <a:srgbClr val="2B2B2B"/>
                          </a:solidFill>
                          <a:latin typeface="Calibri"/>
                        </a:rPr>
                        <a:t>14.4 % energy saved per obstacle</a:t>
                      </a:r>
                    </a:p>
                  </a:txBody>
                  <a:tcPr marL="82296" marR="82296" anchor="ctr">
                    <a:solidFill>
                      <a:srgbClr val="FFFFFF"/>
                    </a:solidFill>
                  </a:tcPr>
                </a:tc>
                <a:tc>
                  <a:txBody>
                    <a:bodyPr/>
                    <a:lstStyle/>
                    <a:p>
                      <a:r>
                        <a:rPr sz="1150" b="0">
                          <a:solidFill>
                            <a:srgbClr val="2B2B2B"/>
                          </a:solidFill>
                          <a:latin typeface="Calibri"/>
                        </a:rPr>
                        <a:t>498 offline assertions, IK exact to 3.5×10⁻¹⁶ m</a:t>
                      </a:r>
                    </a:p>
                  </a:txBody>
                  <a:tcPr marL="82296" marR="82296" anchor="ctr">
                    <a:solidFill>
                      <a:srgbClr val="FFFFFF"/>
                    </a:solidFill>
                  </a:tcPr>
                </a:tc>
              </a:tr>
            </a:tbl>
          </a:graphicData>
        </a:graphic>
      </p:graphicFrame>
      <p:sp>
        <p:nvSpPr>
          <p:cNvPr id="5" name="Rounded Rectangle 4"/>
          <p:cNvSpPr/>
          <p:nvPr/>
        </p:nvSpPr>
        <p:spPr>
          <a:xfrm>
            <a:off x="502920" y="5029200"/>
            <a:ext cx="5532120" cy="160020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257800"/>
            <a:ext cx="4937760" cy="1280160"/>
          </a:xfrm>
          <a:prstGeom prst="rect">
            <a:avLst/>
          </a:prstGeom>
          <a:noFill/>
        </p:spPr>
        <p:txBody>
          <a:bodyPr wrap="square" lIns="0" rIns="0" tIns="0" bIns="0">
            <a:spAutoFit/>
          </a:bodyPr>
          <a:lstStyle/>
          <a:p>
            <a:pPr algn="l">
              <a:spcAft>
                <a:spcPts val="800"/>
              </a:spcAft>
            </a:pPr>
            <a:r>
              <a:rPr sz="1450" b="1" i="0">
                <a:solidFill>
                  <a:srgbClr val="C45A11"/>
                </a:solidFill>
                <a:latin typeface="Cambria"/>
              </a:rPr>
              <a:t>The key difference</a:t>
            </a:r>
          </a:p>
          <a:p>
            <a:pPr>
              <a:spcAft>
                <a:spcPts val="0"/>
              </a:spcAft>
            </a:pPr>
            <a:r>
              <a:rPr sz="1250" b="0" i="0">
                <a:solidFill>
                  <a:srgbClr val="2B2B2B"/>
                </a:solidFill>
                <a:latin typeface="Calibri"/>
              </a:rPr>
              <a:t>They avoid inverse kinematics at run time because numerical IK is expensive. Ours is closed form, so it costs a fixed handful of trigonometric calls and buys the ability to command a body velocity directly.</a:t>
            </a:r>
          </a:p>
        </p:txBody>
      </p:sp>
      <p:sp>
        <p:nvSpPr>
          <p:cNvPr id="7" name="Rounded Rectangle 6"/>
          <p:cNvSpPr/>
          <p:nvPr/>
        </p:nvSpPr>
        <p:spPr>
          <a:xfrm>
            <a:off x="6355080" y="5029200"/>
            <a:ext cx="5394960" cy="160020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5257800"/>
            <a:ext cx="4800600" cy="1280160"/>
          </a:xfrm>
          <a:prstGeom prst="rect">
            <a:avLst/>
          </a:prstGeom>
          <a:noFill/>
        </p:spPr>
        <p:txBody>
          <a:bodyPr wrap="square" lIns="0" rIns="0" tIns="0" bIns="0">
            <a:spAutoFit/>
          </a:bodyPr>
          <a:lstStyle/>
          <a:p>
            <a:pPr algn="l">
              <a:spcAft>
                <a:spcPts val="800"/>
              </a:spcAft>
            </a:pPr>
            <a:r>
              <a:rPr sz="1450" b="1" i="0">
                <a:solidFill>
                  <a:srgbClr val="C45A11"/>
                </a:solidFill>
                <a:latin typeface="Cambria"/>
              </a:rPr>
              <a:t>Where we sit</a:t>
            </a:r>
          </a:p>
          <a:p>
            <a:pPr>
              <a:spcAft>
                <a:spcPts val="0"/>
              </a:spcAft>
            </a:pPr>
            <a:r>
              <a:rPr sz="1250" b="0" i="0">
                <a:solidFill>
                  <a:srgbClr val="2B2B2B"/>
                </a:solidFill>
                <a:latin typeface="Calibri"/>
              </a:rPr>
              <a:t>They have hardware and field trials; we have complete simulation and proven mathematics. Their sensing package is essentially our next-phase list.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