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6" r:id="rId18"/>
    <p:sldId id="267" r:id="rId19"/>
    <p:sldId id="268" r:id="rId20"/>
    <p:sldId id="269" r:id="rId21"/>
    <p:sldId id="270" r:id="rId22"/>
    <p:sldId id="271" r:id="rId23"/>
    <p:sldId id="272" r:id="rId24"/>
    <p:sldId id="273" r:id="rId25"/>
    <p:sldId id="274" r:id="rId26"/>
    <p:sldId id="275" r:id="rId27"/>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9.xml"/><Relationship Id="rId35"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the first review of our final year project, an eighteen degree of freedom walking hexapod robot.</a:t>
            </a:r>
          </a:p>
          <a:p/>
          <a:p>
            <a:r>
              <a:t>We designed the robot in AutoCAD, analysed the parts in ANSYS, studied the foot trajectory in MATLAB, and built a full simulation in ROS 2 and Gazebo where it now walks under our control.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legs and not wheels. Wheels need continuous ground, legs only need places to put a foot.</a:t>
            </a:r>
          </a:p>
          <a:p/>
          <a:p>
            <a:r>
              <a:t>Why six legs. A robot is stable when its centre of mass sits inside the triangle of feet touching the ground. Three feet is the minimum for a triangle, so a hexapod can lift three legs and stay stable. Stability becomes something we CHECK with geometry rather than something we control every instant, like a biped must.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objectives. Read them, do not linger.</a:t>
            </a:r>
          </a:p>
          <a:p/>
          <a:p>
            <a:r>
              <a:t>Objective two is the mechanical core: an exact closed form solution for the leg, not a numerical one.</a:t>
            </a:r>
          </a:p>
          <a:p/>
          <a:p>
            <a:r>
              <a:t>Objective six is what matters for the next phase. The software is arranged so that moving to real servos is a settings change, not a rewrite.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leg. Three joints, named after insect anatomy, which is the convention in legged robotics.</a:t>
            </a:r>
          </a:p>
          <a:p/>
          <a:p>
            <a:r>
              <a:t>Coxa turns about a vertical axis and swings the leg sideways. Femur and tibia both turn about horizontal axes and move the foot in a vertical plane.</a:t>
            </a:r>
          </a:p>
          <a:p/>
          <a:p>
            <a:r>
              <a:t>Point at the CAD: the three pivots, and the servo mounting at each.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individual parts, all modelled by us in AutoCAD.</a:t>
            </a:r>
          </a:p>
          <a:p/>
          <a:p>
            <a:r>
              <a:t>The chassis is a hexagonal frame carrying six coxa servos, the battery and the electronics. The femur is a bracket. The tibia is the long reaching member that touches the ground.</a:t>
            </a:r>
          </a:p>
          <a:p/>
          <a:p>
            <a:r>
              <a:t>All parts are designed for 3D printing in PLA, which is what sets the masses we use in simulation.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Treating the leg as a mechanism. It is an open serial chain of three revolute joints, an RRR chain, so it has three degrees of freedom and can place its foot anywhere in a three dimensional workspace.</a:t>
            </a:r>
          </a:p>
          <a:p/>
          <a:p>
            <a:r>
              <a:t>The important structural point is the axis arrangement. The coxa axis is vertical. The femur and tibia axes are horizontal AND PARALLEL to each other. Because those two are parallel, everything beyond the coxa is confined to one vertical plane.</a:t>
            </a:r>
          </a:p>
          <a:p/>
          <a:p>
            <a:r>
              <a:t>In stance, three legs plus the ground and the body form closed kinematic chains, which is what carries the load.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Forward kinematics. Given the three joint angles, where is the foot.</a:t>
            </a:r>
          </a:p>
          <a:p/>
          <a:p>
            <a:r>
              <a:t>Work in the leg plane first. r is how far out the foot is from the coxa axis, z is how far down. Each term is one link projected onto that plane.</a:t>
            </a:r>
          </a:p>
          <a:p/>
          <a:p>
            <a:r>
              <a:t>Then lift it back into three dimensions by rotating through the coxa angle.</a:t>
            </a:r>
          </a:p>
          <a:p/>
          <a:p>
            <a:r>
              <a:t>The minus signs on z come from the axis convention: rotation about the positive Y axis carries the X direction toward negative Z, so a positive femur angle moves the foot DOWN. We kept the mathematically clean right handed axes and documented the consequence.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Inverse kinematics, the one that actually runs on the robot fifty times a second. Given where we want the foot, what should the joint angles be.</a:t>
            </a:r>
          </a:p>
          <a:p/>
          <a:p>
            <a:r>
              <a:t>Step one: the coxa is the only joint that can move the foot sideways, so its angle comes straight from the horizontal direction to the target.</a:t>
            </a:r>
          </a:p>
          <a:p/>
          <a:p>
            <a:r>
              <a:t>Step two: shift the origin out to the femur joint. Now it is two links reaching a point, and D is the straight line distance to it.</a:t>
            </a:r>
          </a:p>
          <a:p/>
          <a:p>
            <a:r>
              <a:t>Step three: the tibia angle from the law of cosines on the triangle made by the two link lengths and D.</a:t>
            </a:r>
          </a:p>
          <a:p/>
          <a:p>
            <a:r>
              <a:t>Step four: the femur angle is two angles added. Beta is the elevation of the target, psi is the angle between the femur and the line to the target.</a:t>
            </a:r>
          </a:p>
          <a:p/>
          <a:p>
            <a:r>
              <a:t>No iteration anywhere. Same number of operations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masses that go into the simulation. These are calculated from the measured volume of each CAD part at PLA density, then the servo masses added.</a:t>
            </a:r>
          </a:p>
          <a:p/>
          <a:p>
            <a:r>
              <a:t>One detail that is easy to get backwards: a servo's mass belongs to the part it is BOLTED TO, not the part it drives. The tibia servo sits on the femur. All six coxa servos sit on the body.</a:t>
            </a:r>
          </a:p>
          <a:p/>
          <a:p>
            <a:r>
              <a:t>What matters most is not the absolute mass but the RATIO across each joint, because the physics solver inverts the mass matrix every step and its conditioning depends on those ratios.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analysis in ANSYS on the loaded parts.</a:t>
            </a:r>
          </a:p>
          <a:p/>
          <a:p>
            <a:r>
              <a:t>The load case comes straight from the mass figure on the previous slide. The robot weighs 3.39 kg, it stands on three legs at a time, so each foot carries about 10.9 newtons.</a:t>
            </a:r>
          </a:p>
          <a:p/>
          <a:p>
            <a:r>
              <a:t>Give your peak stress and the factor of safety, then the maximum deflection. If the parts passed, say so plainly.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walking pattern. Six legs in two groups of three, exactly half a cycle apart. One group pushes while the other swings forward.</a:t>
            </a:r>
          </a:p>
          <a:p/>
          <a:p>
            <a:r>
              <a:t>The diagram: filled bars are feet on the ground. Read down any vertical line and you always cross exactly three filled bars. That is the stability condition, satisfied at every instant.</a:t>
            </a:r>
          </a:p>
          <a:p/>
          <a:p>
            <a:r>
              <a:t>The equation is the important part. We do not choose the step length. A foot on the ground must be still relative to the ground, so it has to travel backwards through the body frame at exactly the body's speed. That forces the stride.</a:t>
            </a:r>
          </a:p>
          <a:p/>
          <a:p>
            <a:r>
              <a:t>And because each leg sits at a different distance from the centre of rotation, each gets its own stride when turning. That single expression is why walking, strafing and turning are one piece of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path a foot follows through one full cycle, drawn in the leg plane.</a:t>
            </a:r>
          </a:p>
          <a:p/>
          <a:p>
            <a:r>
              <a:t>Orange is stance, a straight line along the ground, sweeping backwards to push the robot forwards. Blue is swing, lifting 45 mm clear and returning to the front.</a:t>
            </a:r>
          </a:p>
          <a:p/>
          <a:p>
            <a:r>
              <a:t>The equations define that shape. The vertical profile is a raised cosine, which arrives with zero downward speed. The horizontal profile is a cubic.</a:t>
            </a:r>
          </a:p>
          <a:p/>
          <a:p>
            <a:r>
              <a:t>The subtle part is the end slopes. We match them to the stance velocity, so the foot lands with zero speed relative to the GROUND. An earlier version landed with zero speed relative to the BODY, which sounds right but means the foot is moving at full body speed across the ground at the moment it touches.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plot is the proof that the gait is correct, and it is the one to dwell on.</a:t>
            </a:r>
          </a:p>
          <a:p/>
          <a:p>
            <a:r>
              <a:t>The vertical axis is the speed of the foot over the GROUND, not relative to the robot. During stance, shaded orange, it is exactly zero for the whole phase. The foot is planted and does not slide.</a:t>
            </a:r>
          </a:p>
          <a:p/>
          <a:p>
            <a:r>
              <a:t>During swing the foot moves, which is fine, it is in the air.</a:t>
            </a:r>
          </a:p>
          <a:p/>
          <a:p>
            <a:r>
              <a:t>If the stance part of this curve were not flat at zero, the robot would be scuffing its feet and losing energy and odometry. This is checked automatically at every phase, every time we change the code.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MATLAB study. Before implementing anything we modelled the foot trajectory as a Bezier curve and analysed it.</a:t>
            </a:r>
          </a:p>
          <a:p/>
          <a:p>
            <a:r>
              <a:t>These two views show the path of one foot through a complete step. The dashed blue curve is the trajectory, the red marker is the foot. The left view is the full three dimensional path, the right shows the fore and aft travel against the reference line.</a:t>
            </a:r>
          </a:p>
          <a:p/>
          <a:p>
            <a:r>
              <a:t>What we take from it: the path is smooth and closed, it returns exactly to where it started, and the lift height and stride are set by the control points of the curve.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Differentiating that path gives velocity and acceleration through the step.</a:t>
            </a:r>
          </a:p>
          <a:p/>
          <a:p>
            <a:r>
              <a:t>Velocity: 174 mm/s at the start, falling to 135 at mid phase, back to 174 at the end. So the foot is fastest at the transitions and slowest in the middle of the curve.</a:t>
            </a:r>
          </a:p>
          <a:p/>
          <a:p>
            <a:r>
              <a:t>Acceleration: the same U shape, 345 down to 300 and back, in mm per second squared.</a:t>
            </a:r>
          </a:p>
          <a:p/>
          <a:p>
            <a:r>
              <a:t>Why we care. The peak velocity sets the speed a servo must be able to deliver. The peak acceleration, times the moving mass, gives the inertial load the servo has to overcome on top of holding the robot up. Both curves are continuous with no spikes, which is what you want, because a discontinuity here would be an impulsive load on the gearbox.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Foot force through the step, from the same MATLAB model.</a:t>
            </a:r>
          </a:p>
          <a:p/>
          <a:p>
            <a:r>
              <a:t>The force is highest at the beginning and end of the phase and lowest in the middle, ranging from about 173 newtons down to 150.</a:t>
            </a:r>
          </a:p>
          <a:p/>
          <a:p>
            <a:r>
              <a:t>The shape follows the acceleration curve, which is what you expect: where the foot is being accelerated hardest, the force is largest.</a:t>
            </a:r>
          </a:p>
          <a:p/>
          <a:p>
            <a:r>
              <a:t>This is the number that sizes the joint. Combined with the link length it gives the torque the servo has to produce, and that is how we chose the servo class.</a:t>
            </a:r>
          </a:p>
          <a:p/>
          <a:p>
            <a:r>
              <a:t>If asked how the force is derived, say it is the loaded foot force through the trajectory from the MATLAB model, and that the static component is the 10.9 N per foot from the mass budget.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joint angles that produce that path. This is the inverse kinematics from earlier, applied along the whole trajectory.</a:t>
            </a:r>
          </a:p>
          <a:p/>
          <a:p>
            <a:r>
              <a:t>Top is the coxa, middle the femur, bottom the tibia, all in degrees against phase.</a:t>
            </a:r>
          </a:p>
          <a:p/>
          <a:p>
            <a:r>
              <a:t>The femur and tibia curves are smooth and stay within a modest range, roughly 30 degrees of travel, which is comfortably inside the joint limits.</a:t>
            </a:r>
          </a:p>
          <a:p/>
          <a:p>
            <a:r>
              <a:t>The coxa trace shows a change at mid phase where the leg switches from one side of its axis to the other. Note for us, not for the slide: that step is an angle wrap-around from atan2 and must be unwrapped before it is sent to a servo, or the joint would try to spin a full turn.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the mechanical design into something the simulator can use.</a:t>
            </a:r>
          </a:p>
          <a:p/>
          <a:p>
            <a:r>
              <a:t>The CAD parts were exported as STL meshes and assembled into a URDF, which is the standard robot description format. It carries the shape of every part, the position and axis of all eighteen joints, the masses and inertias, and the joint limits.</a:t>
            </a:r>
          </a:p>
          <a:p/>
          <a:p>
            <a:r>
              <a:t>One choice worth mentioning: the robot LOOKS like the CAD meshes, but for contact and inertia we use simple boxes and cylinders. Full mesh contact across twenty five links would be about a thousand times slower, and the chassis mesh is not watertight so its inertia is not even defined.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simulation running. Left, the robot standing in the Gazebo world under gravity, holding its stance. Right, walking, with the markers giving a sense of distance travelled.</a:t>
            </a:r>
          </a:p>
          <a:p/>
          <a:p>
            <a:r>
              <a:t>What we verified in simulation: all eighteen joints respond individually and correctly, the robot holds its stance under its own weight with about two degrees of sag, the controller tracks commanded joint angles closely, and the tripod pattern keeps three feet down throughout.</a:t>
            </a:r>
          </a:p>
          <a:p/>
          <a:p>
            <a:r>
              <a:t>The robot is driven by keyboard teleoperation, exactly as it would be on hardware.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know the maths is right, rather than merely believing it.</a:t>
            </a:r>
          </a:p>
          <a:p/>
          <a:p>
            <a:r>
              <a:t>We wrote the kinematics and the gait as plain Python with no connection to ROS or Gazebo. That means they can be tested in under a second instead of launching a whole simulation.</a:t>
            </a:r>
          </a:p>
          <a:p/>
          <a:p>
            <a:r>
              <a:t>The leg maths is accurate to sixteen decimal places, which is the computer's limit, not the method's. The gait passes 498 separate automatic checks.</a:t>
            </a:r>
          </a:p>
          <a:p/>
          <a:p>
            <a:r>
              <a:t>These run every time we change anything.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testing paid for itself. We found a real error that watching the robot could never have revealed.</a:t>
            </a:r>
          </a:p>
          <a:p/>
          <a:p>
            <a:r>
              <a:t>The stance phase was sweeping the foot the wrong way. Instead of pushing backwards to drive the robot forwards, it pushed forwards.</a:t>
            </a:r>
          </a:p>
          <a:p/>
          <a:p>
            <a:r>
              <a:t>Measured: commanded 8 cm/s forward, and the planted foot was being dragged across the ground at 16 cm/s in the wrong direction, on three legs at once.</a:t>
            </a:r>
          </a:p>
          <a:p/>
          <a:p>
            <a:r>
              <a:t>The more useful lesson is why our own test missed it. It compared the DISTANCE the foot moved with the DISTANCE the body moved. Both are distances, and a distance has no direction, so a backwards error was invisible to it. We fixed the code and the test.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we are. Left column is finished and demonstrated today.</a:t>
            </a:r>
          </a:p>
          <a:p/>
          <a:p>
            <a:r>
              <a:t>Right column is what remains. Do not skip it. A clear statement of what is not yet done reads as competence.</a:t>
            </a:r>
          </a:p>
          <a:p/>
          <a:p>
            <a:r>
              <a:t>The main outstanding item is walking under the full dynamic simulation with our measured masses. We have measured the behaviour precisely and are working through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Open for questions.</a:t>
            </a:r>
          </a:p>
          <a:p/>
          <a:p>
            <a:r>
              <a:t>The question to be ready for is whether the walking demonstration is real. Answer: the legs are driven by the real gait and the real inverse kinematics, nothing is animated, and the body moves by the amount those legs geometrically require, because we have proved the feet do not slip.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2.jp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1.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3383D"/>
        </a:solidFill>
        <a:effectLst/>
      </p:bgPr>
    </p:bg>
    <p:spTree>
      <p:nvGrpSpPr>
        <p:cNvPr id="1" name=""/>
        <p:cNvGrpSpPr/>
        <p:nvPr/>
      </p:nvGrpSpPr>
      <p:grpSpPr/>
      <p:sp>
        <p:nvSpPr>
          <p:cNvPr id="2" name="TextBox 1"/>
          <p:cNvSpPr txBox="1"/>
          <p:nvPr/>
        </p:nvSpPr>
        <p:spPr>
          <a:xfrm>
            <a:off x="914400" y="2103120"/>
            <a:ext cx="10332720" cy="1097280"/>
          </a:xfrm>
          <a:prstGeom prst="rect">
            <a:avLst/>
          </a:prstGeom>
          <a:noFill/>
        </p:spPr>
        <p:txBody>
          <a:bodyPr wrap="square" lIns="0" rIns="0" tIns="0" bIns="0" anchor="t">
            <a:spAutoFit/>
          </a:bodyPr>
          <a:lstStyle/>
          <a:p>
            <a:pPr algn="l">
              <a:spcAft>
                <a:spcPts val="0"/>
              </a:spcAft>
            </a:pPr>
            <a:r>
              <a:rPr sz="3800" b="1" i="0">
                <a:solidFill>
                  <a:srgbClr val="FFFFFF"/>
                </a:solidFill>
                <a:latin typeface="Cambria"/>
              </a:rPr>
              <a:t>18-DOF Walking Hexapod Robot</a:t>
            </a:r>
          </a:p>
        </p:txBody>
      </p:sp>
      <p:sp>
        <p:nvSpPr>
          <p:cNvPr id="3" name="TextBox 2"/>
          <p:cNvSpPr txBox="1"/>
          <p:nvPr/>
        </p:nvSpPr>
        <p:spPr>
          <a:xfrm>
            <a:off x="914400" y="3063240"/>
            <a:ext cx="10332720" cy="548640"/>
          </a:xfrm>
          <a:prstGeom prst="rect">
            <a:avLst/>
          </a:prstGeom>
          <a:noFill/>
        </p:spPr>
        <p:txBody>
          <a:bodyPr wrap="square" lIns="0" rIns="0" tIns="0" bIns="0" anchor="t">
            <a:spAutoFit/>
          </a:bodyPr>
          <a:lstStyle/>
          <a:p>
            <a:pPr algn="l">
              <a:spcAft>
                <a:spcPts val="0"/>
              </a:spcAft>
            </a:pPr>
            <a:r>
              <a:rPr sz="1700" b="0" i="0">
                <a:solidFill>
                  <a:srgbClr val="CFCFCF"/>
                </a:solidFill>
                <a:latin typeface="Calibri"/>
              </a:rPr>
              <a:t>Design, Kinematic Analysis and Simulation in ROS 2 and Gazebo</a:t>
            </a:r>
          </a:p>
        </p:txBody>
      </p:sp>
      <p:sp>
        <p:nvSpPr>
          <p:cNvPr id="4" name="TextBox 3"/>
          <p:cNvSpPr txBox="1"/>
          <p:nvPr/>
        </p:nvSpPr>
        <p:spPr>
          <a:xfrm>
            <a:off x="914400" y="3749039"/>
            <a:ext cx="10332720" cy="457200"/>
          </a:xfrm>
          <a:prstGeom prst="rect">
            <a:avLst/>
          </a:prstGeom>
          <a:noFill/>
        </p:spPr>
        <p:txBody>
          <a:bodyPr wrap="square" lIns="0" rIns="0" tIns="0" bIns="0" anchor="t">
            <a:spAutoFit/>
          </a:bodyPr>
          <a:lstStyle/>
          <a:p>
            <a:pPr algn="l">
              <a:spcAft>
                <a:spcPts val="0"/>
              </a:spcAft>
            </a:pPr>
            <a:r>
              <a:rPr sz="1400" b="0" i="0">
                <a:solidFill>
                  <a:srgbClr val="E89A4F"/>
                </a:solidFill>
                <a:latin typeface="Calibri"/>
              </a:rPr>
              <a:t>First Review</a:t>
            </a:r>
          </a:p>
        </p:txBody>
      </p:sp>
      <p:sp>
        <p:nvSpPr>
          <p:cNvPr id="5" name="TextBox 4"/>
          <p:cNvSpPr txBox="1"/>
          <p:nvPr/>
        </p:nvSpPr>
        <p:spPr>
          <a:xfrm>
            <a:off x="914400" y="4709160"/>
            <a:ext cx="10332720" cy="1554480"/>
          </a:xfrm>
          <a:prstGeom prst="rect">
            <a:avLst/>
          </a:prstGeom>
          <a:noFill/>
        </p:spPr>
        <p:txBody>
          <a:bodyPr wrap="square" lIns="0" rIns="0" tIns="0" bIns="0" anchor="t">
            <a:spAutoFit/>
          </a:bodyPr>
          <a:lstStyle/>
          <a:p>
            <a:pPr algn="l">
              <a:spcAft>
                <a:spcPts val="300"/>
              </a:spcAft>
            </a:pPr>
            <a:r>
              <a:rPr sz="1300" b="0" i="0">
                <a:solidFill>
                  <a:srgbClr val="DDDDDD"/>
                </a:solidFill>
                <a:latin typeface="Calibri"/>
              </a:rPr>
              <a:t>Pappu Sai Varun  (23BME7002)</a:t>
            </a:r>
          </a:p>
          <a:p>
            <a:pPr>
              <a:spcAft>
                <a:spcPts val="300"/>
              </a:spcAft>
            </a:pPr>
            <a:r>
              <a:rPr sz="1300" b="0" i="0">
                <a:solidFill>
                  <a:srgbClr val="DDDDDD"/>
                </a:solidFill>
                <a:latin typeface="Calibri"/>
              </a:rPr>
              <a:t>Akshay Veeranki  (23BME7009)</a:t>
            </a:r>
          </a:p>
          <a:p>
            <a:pPr>
              <a:spcAft>
                <a:spcPts val="300"/>
              </a:spcAft>
            </a:pPr>
            <a:r>
              <a:rPr sz="1300" b="0" i="0">
                <a:solidFill>
                  <a:srgbClr val="DDDDDD"/>
                </a:solidFill>
                <a:latin typeface="Calibri"/>
              </a:rPr>
              <a:t>Mohammed Shreyanshu Gumshi  (23BME7015)</a:t>
            </a:r>
          </a:p>
          <a:p>
            <a:pPr>
              <a:spcAft>
                <a:spcPts val="300"/>
              </a:spcAft>
            </a:pPr>
            <a:r>
              <a:rPr sz="1300" b="0" i="0">
                <a:solidFill>
                  <a:srgbClr val="DDDDDD"/>
                </a:solidFill>
                <a:latin typeface="Calibri"/>
              </a:rPr>
              <a:t>Tangirala Rushikesh  (23BME7073)</a:t>
            </a:r>
          </a:p>
          <a:p>
            <a:pPr>
              <a:spcAft>
                <a:spcPts val="300"/>
              </a:spcAft>
            </a:pPr>
            <a:r>
              <a:rPr sz="1300" b="1" i="0">
                <a:solidFill>
                  <a:srgbClr val="E89A4F"/>
                </a:solidFill>
                <a:latin typeface="Calibri"/>
              </a:rPr>
              <a:t>Guide: Dr Santosh Kumar Sahu</a:t>
            </a:r>
          </a:p>
          <a:p>
            <a:pPr>
              <a:spcAft>
                <a:spcPts val="0"/>
              </a:spcAft>
            </a:pPr>
            <a:r>
              <a:rPr sz="1200" b="0" i="0">
                <a:solidFill>
                  <a:srgbClr val="A5A5A5"/>
                </a:solidFill>
                <a:latin typeface="Calibri"/>
              </a:rPr>
              <a:t>Department of Mechanical Engineering, VIT-AP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Why a hexapod</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Six legs turn balancing into a geometry problem</a:t>
            </a:r>
          </a:p>
        </p:txBody>
      </p:sp>
      <p:sp>
        <p:nvSpPr>
          <p:cNvPr id="4" name="TextBox 3"/>
          <p:cNvSpPr txBox="1"/>
          <p:nvPr/>
        </p:nvSpPr>
        <p:spPr>
          <a:xfrm>
            <a:off x="566928" y="1920240"/>
            <a:ext cx="4937760" cy="4114800"/>
          </a:xfrm>
          <a:prstGeom prst="rect">
            <a:avLst/>
          </a:prstGeom>
          <a:noFill/>
        </p:spPr>
        <p:txBody>
          <a:bodyPr wrap="square" lIns="0" rIns="0" tIns="0" bIns="0" anchor="t">
            <a:spAutoFit/>
          </a:bodyPr>
          <a:lstStyle/>
          <a:p>
            <a:pPr algn="l">
              <a:spcAft>
                <a:spcPts val="1300"/>
              </a:spcAft>
            </a:pPr>
            <a:r>
              <a:rPr sz="1500" b="0" i="0">
                <a:solidFill>
                  <a:srgbClr val="2B2B2B"/>
                </a:solidFill>
                <a:latin typeface="Calibri"/>
              </a:rPr>
              <a:t>•  Wheels need continuous ground. Legs only need somewhere to place a foot.</a:t>
            </a:r>
          </a:p>
          <a:p>
            <a:pPr>
              <a:spcAft>
                <a:spcPts val="1300"/>
              </a:spcAft>
            </a:pPr>
            <a:r>
              <a:rPr sz="1500" b="0" i="0">
                <a:solidFill>
                  <a:srgbClr val="2B2B2B"/>
                </a:solidFill>
                <a:latin typeface="Calibri"/>
              </a:rPr>
              <a:t>•  Stable when the centre of mass sits inside the triangle of feet on the ground.</a:t>
            </a:r>
          </a:p>
          <a:p>
            <a:pPr>
              <a:spcAft>
                <a:spcPts val="1300"/>
              </a:spcAft>
            </a:pPr>
            <a:r>
              <a:rPr sz="1500" b="0" i="0">
                <a:solidFill>
                  <a:srgbClr val="2B2B2B"/>
                </a:solidFill>
                <a:latin typeface="Calibri"/>
              </a:rPr>
              <a:t>•  Three feet is the minimum for a triangle, so three legs can lift at once.</a:t>
            </a:r>
          </a:p>
          <a:p>
            <a:pPr>
              <a:spcAft>
                <a:spcPts val="1300"/>
              </a:spcAft>
            </a:pPr>
            <a:r>
              <a:rPr sz="1500" b="0" i="0">
                <a:solidFill>
                  <a:srgbClr val="2B2B2B"/>
                </a:solidFill>
                <a:latin typeface="Calibri"/>
              </a:rPr>
              <a:t>•  Stability is checked with geometry, not controlled continuously.</a:t>
            </a:r>
          </a:p>
        </p:txBody>
      </p:sp>
      <p:pic>
        <p:nvPicPr>
          <p:cNvPr id="5" name="Picture 4" descr="c_image2.png"/>
          <p:cNvPicPr>
            <a:picLocks noChangeAspect="1"/>
          </p:cNvPicPr>
          <p:nvPr/>
        </p:nvPicPr>
        <p:blipFill>
          <a:blip r:embed="rId3"/>
          <a:stretch>
            <a:fillRect/>
          </a:stretch>
        </p:blipFill>
        <p:spPr>
          <a:xfrm>
            <a:off x="5943600" y="2610611"/>
            <a:ext cx="5669280" cy="2551176"/>
          </a:xfrm>
          <a:prstGeom prst="rect">
            <a:avLst/>
          </a:prstGeom>
        </p:spPr>
      </p:pic>
      <p:sp>
        <p:nvSpPr>
          <p:cNvPr id="6" name="TextBox 5"/>
          <p:cNvSpPr txBox="1"/>
          <p:nvPr/>
        </p:nvSpPr>
        <p:spPr>
          <a:xfrm>
            <a:off x="5943600" y="6053328"/>
            <a:ext cx="566928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AutoCAD assembly, six legs about a hexagonal chassis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Objectives</a:t>
            </a:r>
          </a:p>
        </p:txBody>
      </p:sp>
      <p:sp>
        <p:nvSpPr>
          <p:cNvPr id="3" name="Rounded Rectangle 2"/>
          <p:cNvSpPr/>
          <p:nvPr/>
        </p:nvSpPr>
        <p:spPr>
          <a:xfrm>
            <a:off x="566928" y="1874519"/>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7" y="2130552"/>
            <a:ext cx="548640" cy="640080"/>
          </a:xfrm>
          <a:prstGeom prst="rect">
            <a:avLst/>
          </a:prstGeom>
          <a:noFill/>
        </p:spPr>
        <p:txBody>
          <a:bodyPr wrap="square" lIns="0" rIns="0" tIns="0" bIns="0" anchor="t">
            <a:spAutoFit/>
          </a:bodyPr>
          <a:lstStyle/>
          <a:p>
            <a:pPr algn="l">
              <a:spcAft>
                <a:spcPts val="0"/>
              </a:spcAft>
            </a:pPr>
            <a:r>
              <a:rPr sz="2300" b="1" i="0">
                <a:solidFill>
                  <a:srgbClr val="C45A11"/>
                </a:solidFill>
                <a:latin typeface="Cambria"/>
              </a:rPr>
              <a:t>1</a:t>
            </a:r>
          </a:p>
        </p:txBody>
      </p:sp>
      <p:sp>
        <p:nvSpPr>
          <p:cNvPr id="5" name="TextBox 4"/>
          <p:cNvSpPr txBox="1"/>
          <p:nvPr/>
        </p:nvSpPr>
        <p:spPr>
          <a:xfrm>
            <a:off x="1481328" y="2057400"/>
            <a:ext cx="4206240" cy="868680"/>
          </a:xfrm>
          <a:prstGeom prst="rect">
            <a:avLst/>
          </a:prstGeom>
          <a:noFill/>
        </p:spPr>
        <p:txBody>
          <a:bodyPr wrap="square" lIns="0" rIns="0" tIns="0" bIns="0" anchor="t">
            <a:spAutoFit/>
          </a:bodyPr>
          <a:lstStyle/>
          <a:p>
            <a:pPr algn="l">
              <a:spcAft>
                <a:spcPts val="400"/>
              </a:spcAft>
            </a:pPr>
            <a:r>
              <a:rPr sz="1500" b="1" i="0">
                <a:solidFill>
                  <a:srgbClr val="2B2B2B"/>
                </a:solidFill>
                <a:latin typeface="Calibri"/>
              </a:rPr>
              <a:t>Accurate model</a:t>
            </a:r>
          </a:p>
          <a:p>
            <a:pPr>
              <a:spcAft>
                <a:spcPts val="0"/>
              </a:spcAft>
            </a:pPr>
            <a:r>
              <a:rPr sz="1200" b="0" i="0">
                <a:solidFill>
                  <a:srgbClr val="707070"/>
                </a:solidFill>
                <a:latin typeface="Calibri"/>
              </a:rPr>
              <a:t>AutoCAD to ROS 2, with measured masses and inertia</a:t>
            </a:r>
          </a:p>
        </p:txBody>
      </p:sp>
      <p:sp>
        <p:nvSpPr>
          <p:cNvPr id="6" name="Rounded Rectangle 5"/>
          <p:cNvSpPr/>
          <p:nvPr/>
        </p:nvSpPr>
        <p:spPr>
          <a:xfrm>
            <a:off x="6236208" y="1874519"/>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10528" y="2130552"/>
            <a:ext cx="548640" cy="640080"/>
          </a:xfrm>
          <a:prstGeom prst="rect">
            <a:avLst/>
          </a:prstGeom>
          <a:noFill/>
        </p:spPr>
        <p:txBody>
          <a:bodyPr wrap="square" lIns="0" rIns="0" tIns="0" bIns="0" anchor="t">
            <a:spAutoFit/>
          </a:bodyPr>
          <a:lstStyle/>
          <a:p>
            <a:pPr algn="l">
              <a:spcAft>
                <a:spcPts val="0"/>
              </a:spcAft>
            </a:pPr>
            <a:r>
              <a:rPr sz="2300" b="1" i="0">
                <a:solidFill>
                  <a:srgbClr val="C45A11"/>
                </a:solidFill>
                <a:latin typeface="Cambria"/>
              </a:rPr>
              <a:t>2</a:t>
            </a:r>
          </a:p>
        </p:txBody>
      </p:sp>
      <p:sp>
        <p:nvSpPr>
          <p:cNvPr id="8" name="TextBox 7"/>
          <p:cNvSpPr txBox="1"/>
          <p:nvPr/>
        </p:nvSpPr>
        <p:spPr>
          <a:xfrm>
            <a:off x="7150608" y="2057400"/>
            <a:ext cx="4206240" cy="868680"/>
          </a:xfrm>
          <a:prstGeom prst="rect">
            <a:avLst/>
          </a:prstGeom>
          <a:noFill/>
        </p:spPr>
        <p:txBody>
          <a:bodyPr wrap="square" lIns="0" rIns="0" tIns="0" bIns="0" anchor="t">
            <a:spAutoFit/>
          </a:bodyPr>
          <a:lstStyle/>
          <a:p>
            <a:pPr algn="l">
              <a:spcAft>
                <a:spcPts val="400"/>
              </a:spcAft>
            </a:pPr>
            <a:r>
              <a:rPr sz="1500" b="1" i="0">
                <a:solidFill>
                  <a:srgbClr val="2B2B2B"/>
                </a:solidFill>
                <a:latin typeface="Calibri"/>
              </a:rPr>
              <a:t>Solve the leg exactly</a:t>
            </a:r>
          </a:p>
          <a:p>
            <a:pPr>
              <a:spcAft>
                <a:spcPts val="0"/>
              </a:spcAft>
            </a:pPr>
            <a:r>
              <a:rPr sz="1200" b="0" i="0">
                <a:solidFill>
                  <a:srgbClr val="707070"/>
                </a:solidFill>
                <a:latin typeface="Calibri"/>
              </a:rPr>
              <a:t>Closed form forward and inverse kinematics</a:t>
            </a:r>
          </a:p>
        </p:txBody>
      </p:sp>
      <p:sp>
        <p:nvSpPr>
          <p:cNvPr id="9" name="Rounded Rectangle 8"/>
          <p:cNvSpPr/>
          <p:nvPr/>
        </p:nvSpPr>
        <p:spPr>
          <a:xfrm>
            <a:off x="566928" y="3227832"/>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3483863"/>
            <a:ext cx="548640" cy="640080"/>
          </a:xfrm>
          <a:prstGeom prst="rect">
            <a:avLst/>
          </a:prstGeom>
          <a:noFill/>
        </p:spPr>
        <p:txBody>
          <a:bodyPr wrap="square" lIns="0" rIns="0" tIns="0" bIns="0" anchor="t">
            <a:spAutoFit/>
          </a:bodyPr>
          <a:lstStyle/>
          <a:p>
            <a:pPr algn="l">
              <a:spcAft>
                <a:spcPts val="0"/>
              </a:spcAft>
            </a:pPr>
            <a:r>
              <a:rPr sz="2300" b="1" i="0">
                <a:solidFill>
                  <a:srgbClr val="C45A11"/>
                </a:solidFill>
                <a:latin typeface="Cambria"/>
              </a:rPr>
              <a:t>3</a:t>
            </a:r>
          </a:p>
        </p:txBody>
      </p:sp>
      <p:sp>
        <p:nvSpPr>
          <p:cNvPr id="11" name="TextBox 10"/>
          <p:cNvSpPr txBox="1"/>
          <p:nvPr/>
        </p:nvSpPr>
        <p:spPr>
          <a:xfrm>
            <a:off x="1481328" y="3410712"/>
            <a:ext cx="4206240" cy="868680"/>
          </a:xfrm>
          <a:prstGeom prst="rect">
            <a:avLst/>
          </a:prstGeom>
          <a:noFill/>
        </p:spPr>
        <p:txBody>
          <a:bodyPr wrap="square" lIns="0" rIns="0" tIns="0" bIns="0" anchor="t">
            <a:spAutoFit/>
          </a:bodyPr>
          <a:lstStyle/>
          <a:p>
            <a:pPr algn="l">
              <a:spcAft>
                <a:spcPts val="400"/>
              </a:spcAft>
            </a:pPr>
            <a:r>
              <a:rPr sz="1500" b="1" i="0">
                <a:solidFill>
                  <a:srgbClr val="2B2B2B"/>
                </a:solidFill>
                <a:latin typeface="Calibri"/>
              </a:rPr>
              <a:t>Analyse the motion</a:t>
            </a:r>
          </a:p>
          <a:p>
            <a:pPr>
              <a:spcAft>
                <a:spcPts val="0"/>
              </a:spcAft>
            </a:pPr>
            <a:r>
              <a:rPr sz="1200" b="0" i="0">
                <a:solidFill>
                  <a:srgbClr val="707070"/>
                </a:solidFill>
                <a:latin typeface="Calibri"/>
              </a:rPr>
              <a:t>Foot path, velocity, acceleration and force in MATLAB</a:t>
            </a:r>
          </a:p>
        </p:txBody>
      </p:sp>
      <p:sp>
        <p:nvSpPr>
          <p:cNvPr id="12" name="Rounded Rectangle 11"/>
          <p:cNvSpPr/>
          <p:nvPr/>
        </p:nvSpPr>
        <p:spPr>
          <a:xfrm>
            <a:off x="6236208" y="3227832"/>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0528" y="3483863"/>
            <a:ext cx="548640" cy="640080"/>
          </a:xfrm>
          <a:prstGeom prst="rect">
            <a:avLst/>
          </a:prstGeom>
          <a:noFill/>
        </p:spPr>
        <p:txBody>
          <a:bodyPr wrap="square" lIns="0" rIns="0" tIns="0" bIns="0" anchor="t">
            <a:spAutoFit/>
          </a:bodyPr>
          <a:lstStyle/>
          <a:p>
            <a:pPr algn="l">
              <a:spcAft>
                <a:spcPts val="0"/>
              </a:spcAft>
            </a:pPr>
            <a:r>
              <a:rPr sz="2300" b="1" i="0">
                <a:solidFill>
                  <a:srgbClr val="C45A11"/>
                </a:solidFill>
                <a:latin typeface="Cambria"/>
              </a:rPr>
              <a:t>4</a:t>
            </a:r>
          </a:p>
        </p:txBody>
      </p:sp>
      <p:sp>
        <p:nvSpPr>
          <p:cNvPr id="14" name="TextBox 13"/>
          <p:cNvSpPr txBox="1"/>
          <p:nvPr/>
        </p:nvSpPr>
        <p:spPr>
          <a:xfrm>
            <a:off x="7150608" y="3410712"/>
            <a:ext cx="4206240" cy="868680"/>
          </a:xfrm>
          <a:prstGeom prst="rect">
            <a:avLst/>
          </a:prstGeom>
          <a:noFill/>
        </p:spPr>
        <p:txBody>
          <a:bodyPr wrap="square" lIns="0" rIns="0" tIns="0" bIns="0" anchor="t">
            <a:spAutoFit/>
          </a:bodyPr>
          <a:lstStyle/>
          <a:p>
            <a:pPr algn="l">
              <a:spcAft>
                <a:spcPts val="400"/>
              </a:spcAft>
            </a:pPr>
            <a:r>
              <a:rPr sz="1500" b="1" i="0">
                <a:solidFill>
                  <a:srgbClr val="2B2B2B"/>
                </a:solidFill>
                <a:latin typeface="Calibri"/>
              </a:rPr>
              <a:t>Check the structure</a:t>
            </a:r>
          </a:p>
          <a:p>
            <a:pPr>
              <a:spcAft>
                <a:spcPts val="0"/>
              </a:spcAft>
            </a:pPr>
            <a:r>
              <a:rPr sz="1200" b="0" i="0">
                <a:solidFill>
                  <a:srgbClr val="707070"/>
                </a:solidFill>
                <a:latin typeface="Calibri"/>
              </a:rPr>
              <a:t>ANSYS on the loaded parts</a:t>
            </a:r>
          </a:p>
        </p:txBody>
      </p:sp>
      <p:sp>
        <p:nvSpPr>
          <p:cNvPr id="15" name="Rounded Rectangle 14"/>
          <p:cNvSpPr/>
          <p:nvPr/>
        </p:nvSpPr>
        <p:spPr>
          <a:xfrm>
            <a:off x="566928" y="4581144"/>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4837176"/>
            <a:ext cx="548640" cy="640080"/>
          </a:xfrm>
          <a:prstGeom prst="rect">
            <a:avLst/>
          </a:prstGeom>
          <a:noFill/>
        </p:spPr>
        <p:txBody>
          <a:bodyPr wrap="square" lIns="0" rIns="0" tIns="0" bIns="0" anchor="t">
            <a:spAutoFit/>
          </a:bodyPr>
          <a:lstStyle/>
          <a:p>
            <a:pPr algn="l">
              <a:spcAft>
                <a:spcPts val="0"/>
              </a:spcAft>
            </a:pPr>
            <a:r>
              <a:rPr sz="2300" b="1" i="0">
                <a:solidFill>
                  <a:srgbClr val="C45A11"/>
                </a:solidFill>
                <a:latin typeface="Cambria"/>
              </a:rPr>
              <a:t>5</a:t>
            </a:r>
          </a:p>
        </p:txBody>
      </p:sp>
      <p:sp>
        <p:nvSpPr>
          <p:cNvPr id="17" name="TextBox 16"/>
          <p:cNvSpPr txBox="1"/>
          <p:nvPr/>
        </p:nvSpPr>
        <p:spPr>
          <a:xfrm>
            <a:off x="1481328" y="4764024"/>
            <a:ext cx="4206240" cy="868680"/>
          </a:xfrm>
          <a:prstGeom prst="rect">
            <a:avLst/>
          </a:prstGeom>
          <a:noFill/>
        </p:spPr>
        <p:txBody>
          <a:bodyPr wrap="square" lIns="0" rIns="0" tIns="0" bIns="0" anchor="t">
            <a:spAutoFit/>
          </a:bodyPr>
          <a:lstStyle/>
          <a:p>
            <a:pPr algn="l">
              <a:spcAft>
                <a:spcPts val="400"/>
              </a:spcAft>
            </a:pPr>
            <a:r>
              <a:rPr sz="1500" b="1" i="0">
                <a:solidFill>
                  <a:srgbClr val="2B2B2B"/>
                </a:solidFill>
                <a:latin typeface="Calibri"/>
              </a:rPr>
              <a:t>Make it walk</a:t>
            </a:r>
          </a:p>
          <a:p>
            <a:pPr>
              <a:spcAft>
                <a:spcPts val="0"/>
              </a:spcAft>
            </a:pPr>
            <a:r>
              <a:rPr sz="1200" b="0" i="0">
                <a:solidFill>
                  <a:srgbClr val="707070"/>
                </a:solidFill>
                <a:latin typeface="Calibri"/>
              </a:rPr>
              <a:t>Tripod gait from a velocity command, simulated in Gazebo</a:t>
            </a:r>
          </a:p>
        </p:txBody>
      </p:sp>
      <p:sp>
        <p:nvSpPr>
          <p:cNvPr id="18" name="Rounded Rectangle 17"/>
          <p:cNvSpPr/>
          <p:nvPr/>
        </p:nvSpPr>
        <p:spPr>
          <a:xfrm>
            <a:off x="6236208" y="4581144"/>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0528" y="4837176"/>
            <a:ext cx="548640" cy="640080"/>
          </a:xfrm>
          <a:prstGeom prst="rect">
            <a:avLst/>
          </a:prstGeom>
          <a:noFill/>
        </p:spPr>
        <p:txBody>
          <a:bodyPr wrap="square" lIns="0" rIns="0" tIns="0" bIns="0" anchor="t">
            <a:spAutoFit/>
          </a:bodyPr>
          <a:lstStyle/>
          <a:p>
            <a:pPr algn="l">
              <a:spcAft>
                <a:spcPts val="0"/>
              </a:spcAft>
            </a:pPr>
            <a:r>
              <a:rPr sz="2300" b="1" i="0">
                <a:solidFill>
                  <a:srgbClr val="C45A11"/>
                </a:solidFill>
                <a:latin typeface="Cambria"/>
              </a:rPr>
              <a:t>6</a:t>
            </a:r>
          </a:p>
        </p:txBody>
      </p:sp>
      <p:sp>
        <p:nvSpPr>
          <p:cNvPr id="20" name="TextBox 19"/>
          <p:cNvSpPr txBox="1"/>
          <p:nvPr/>
        </p:nvSpPr>
        <p:spPr>
          <a:xfrm>
            <a:off x="7150608" y="4764024"/>
            <a:ext cx="4206240" cy="868680"/>
          </a:xfrm>
          <a:prstGeom prst="rect">
            <a:avLst/>
          </a:prstGeom>
          <a:noFill/>
        </p:spPr>
        <p:txBody>
          <a:bodyPr wrap="square" lIns="0" rIns="0" tIns="0" bIns="0" anchor="t">
            <a:spAutoFit/>
          </a:bodyPr>
          <a:lstStyle/>
          <a:p>
            <a:pPr algn="l">
              <a:spcAft>
                <a:spcPts val="400"/>
              </a:spcAft>
            </a:pPr>
            <a:r>
              <a:rPr sz="1500" b="1" i="0">
                <a:solidFill>
                  <a:srgbClr val="2B2B2B"/>
                </a:solidFill>
                <a:latin typeface="Calibri"/>
              </a:rPr>
              <a:t>Stay hardware ready</a:t>
            </a:r>
          </a:p>
          <a:p>
            <a:pPr>
              <a:spcAft>
                <a:spcPts val="0"/>
              </a:spcAft>
            </a:pPr>
            <a:r>
              <a:rPr sz="1200" b="0" i="0">
                <a:solidFill>
                  <a:srgbClr val="707070"/>
                </a:solidFill>
                <a:latin typeface="Calibri"/>
              </a:rPr>
              <a:t>Moving to servos is a settings change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The leg</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Three joints per leg, eighteen in the robot</a:t>
            </a:r>
          </a:p>
        </p:txBody>
      </p:sp>
      <p:pic>
        <p:nvPicPr>
          <p:cNvPr id="4" name="Picture 3" descr="c_image1.png"/>
          <p:cNvPicPr>
            <a:picLocks noChangeAspect="1"/>
          </p:cNvPicPr>
          <p:nvPr/>
        </p:nvPicPr>
        <p:blipFill>
          <a:blip r:embed="rId3"/>
          <a:stretch>
            <a:fillRect/>
          </a:stretch>
        </p:blipFill>
        <p:spPr>
          <a:xfrm>
            <a:off x="566928" y="2407125"/>
            <a:ext cx="6766560" cy="2866708"/>
          </a:xfrm>
          <a:prstGeom prst="rect">
            <a:avLst/>
          </a:prstGeom>
        </p:spPr>
      </p:pic>
      <p:sp>
        <p:nvSpPr>
          <p:cNvPr id="5" name="TextBox 4"/>
          <p:cNvSpPr txBox="1"/>
          <p:nvPr/>
        </p:nvSpPr>
        <p:spPr>
          <a:xfrm>
            <a:off x="566928" y="5961888"/>
            <a:ext cx="676656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AutoCAD, single leg assembly</a:t>
            </a:r>
          </a:p>
        </p:txBody>
      </p:sp>
      <p:sp>
        <p:nvSpPr>
          <p:cNvPr id="6" name="TextBox 5"/>
          <p:cNvSpPr txBox="1"/>
          <p:nvPr/>
        </p:nvSpPr>
        <p:spPr>
          <a:xfrm>
            <a:off x="7680960" y="1874519"/>
            <a:ext cx="3931920" cy="2011680"/>
          </a:xfrm>
          <a:prstGeom prst="rect">
            <a:avLst/>
          </a:prstGeom>
          <a:noFill/>
        </p:spPr>
        <p:txBody>
          <a:bodyPr wrap="square" lIns="0" rIns="0" tIns="0" bIns="0" anchor="t">
            <a:spAutoFit/>
          </a:bodyPr>
          <a:lstStyle/>
          <a:p>
            <a:pPr algn="l">
              <a:spcAft>
                <a:spcPts val="1100"/>
              </a:spcAft>
            </a:pPr>
            <a:r>
              <a:rPr sz="1600" b="1" i="0">
                <a:solidFill>
                  <a:srgbClr val="C45A11"/>
                </a:solidFill>
                <a:latin typeface="Cambria"/>
              </a:rPr>
              <a:t>Joint functions</a:t>
            </a:r>
          </a:p>
          <a:p>
            <a:pPr>
              <a:spcAft>
                <a:spcPts val="800"/>
              </a:spcAft>
            </a:pPr>
            <a:r>
              <a:rPr sz="1400" b="0" i="0">
                <a:solidFill>
                  <a:srgbClr val="2B2B2B"/>
                </a:solidFill>
                <a:latin typeface="Calibri"/>
              </a:rPr>
              <a:t>Coxa  θ₁   swings the leg sideways, about a vertical axis</a:t>
            </a:r>
          </a:p>
          <a:p>
            <a:pPr>
              <a:spcAft>
                <a:spcPts val="800"/>
              </a:spcAft>
            </a:pPr>
            <a:r>
              <a:rPr sz="1400" b="0" i="0">
                <a:solidFill>
                  <a:srgbClr val="2B2B2B"/>
                </a:solidFill>
                <a:latin typeface="Calibri"/>
              </a:rPr>
              <a:t>Femur  θ₂   lifts and lowers, about a horizontal axis</a:t>
            </a:r>
          </a:p>
          <a:p>
            <a:pPr>
              <a:spcAft>
                <a:spcPts val="0"/>
              </a:spcAft>
            </a:pPr>
            <a:r>
              <a:rPr sz="1400" b="0" i="0">
                <a:solidFill>
                  <a:srgbClr val="2B2B2B"/>
                </a:solidFill>
                <a:latin typeface="Calibri"/>
              </a:rPr>
              <a:t>Tibia  θ₃   extends the foot, about a parallel axis</a:t>
            </a:r>
          </a:p>
        </p:txBody>
      </p:sp>
      <p:sp>
        <p:nvSpPr>
          <p:cNvPr id="7" name="TextBox 6"/>
          <p:cNvSpPr txBox="1"/>
          <p:nvPr/>
        </p:nvSpPr>
        <p:spPr>
          <a:xfrm>
            <a:off x="7680960" y="4206240"/>
            <a:ext cx="1828800" cy="640080"/>
          </a:xfrm>
          <a:prstGeom prst="rect">
            <a:avLst/>
          </a:prstGeom>
          <a:noFill/>
        </p:spPr>
        <p:txBody>
          <a:bodyPr wrap="square" lIns="0" rIns="0" tIns="0" bIns="0" anchor="t">
            <a:spAutoFit/>
          </a:bodyPr>
          <a:lstStyle/>
          <a:p>
            <a:pPr algn="ctr">
              <a:spcAft>
                <a:spcPts val="0"/>
              </a:spcAft>
            </a:pPr>
            <a:r>
              <a:rPr sz="3400" b="1" i="0">
                <a:solidFill>
                  <a:srgbClr val="C45A11"/>
                </a:solidFill>
                <a:latin typeface="Cambria"/>
              </a:rPr>
              <a:t>18</a:t>
            </a:r>
          </a:p>
        </p:txBody>
      </p:sp>
      <p:sp>
        <p:nvSpPr>
          <p:cNvPr id="8" name="TextBox 7"/>
          <p:cNvSpPr txBox="1"/>
          <p:nvPr/>
        </p:nvSpPr>
        <p:spPr>
          <a:xfrm>
            <a:off x="7680960" y="4773168"/>
            <a:ext cx="1828800" cy="548640"/>
          </a:xfrm>
          <a:prstGeom prst="rect">
            <a:avLst/>
          </a:prstGeom>
          <a:noFill/>
        </p:spPr>
        <p:txBody>
          <a:bodyPr wrap="square" lIns="0" rIns="0" tIns="0" bIns="0" anchor="t">
            <a:spAutoFit/>
          </a:bodyPr>
          <a:lstStyle/>
          <a:p>
            <a:pPr algn="ctr">
              <a:spcAft>
                <a:spcPts val="0"/>
              </a:spcAft>
            </a:pPr>
            <a:r>
              <a:rPr sz="1150" b="0" i="0">
                <a:solidFill>
                  <a:srgbClr val="707070"/>
                </a:solidFill>
                <a:latin typeface="Calibri"/>
              </a:rPr>
              <a:t>joints</a:t>
            </a:r>
          </a:p>
        </p:txBody>
      </p:sp>
      <p:sp>
        <p:nvSpPr>
          <p:cNvPr id="9" name="TextBox 8"/>
          <p:cNvSpPr txBox="1"/>
          <p:nvPr/>
        </p:nvSpPr>
        <p:spPr>
          <a:xfrm>
            <a:off x="9784080" y="4206240"/>
            <a:ext cx="1828800" cy="640080"/>
          </a:xfrm>
          <a:prstGeom prst="rect">
            <a:avLst/>
          </a:prstGeom>
          <a:noFill/>
        </p:spPr>
        <p:txBody>
          <a:bodyPr wrap="square" lIns="0" rIns="0" tIns="0" bIns="0" anchor="t">
            <a:spAutoFit/>
          </a:bodyPr>
          <a:lstStyle/>
          <a:p>
            <a:pPr algn="ctr">
              <a:spcAft>
                <a:spcPts val="0"/>
              </a:spcAft>
            </a:pPr>
            <a:r>
              <a:rPr sz="3400" b="1" i="0">
                <a:solidFill>
                  <a:srgbClr val="C45A11"/>
                </a:solidFill>
                <a:latin typeface="Cambria"/>
              </a:rPr>
              <a:t>6</a:t>
            </a:r>
          </a:p>
        </p:txBody>
      </p:sp>
      <p:sp>
        <p:nvSpPr>
          <p:cNvPr id="10" name="TextBox 9"/>
          <p:cNvSpPr txBox="1"/>
          <p:nvPr/>
        </p:nvSpPr>
        <p:spPr>
          <a:xfrm>
            <a:off x="9784080" y="4773168"/>
            <a:ext cx="1828800" cy="548640"/>
          </a:xfrm>
          <a:prstGeom prst="rect">
            <a:avLst/>
          </a:prstGeom>
          <a:noFill/>
        </p:spPr>
        <p:txBody>
          <a:bodyPr wrap="square" lIns="0" rIns="0" tIns="0" bIns="0" anchor="t">
            <a:spAutoFit/>
          </a:bodyPr>
          <a:lstStyle/>
          <a:p>
            <a:pPr algn="ctr">
              <a:spcAft>
                <a:spcPts val="0"/>
              </a:spcAft>
            </a:pPr>
            <a:r>
              <a:rPr sz="1150" b="0" i="0">
                <a:solidFill>
                  <a:srgbClr val="707070"/>
                </a:solidFill>
                <a:latin typeface="Calibri"/>
              </a:rPr>
              <a:t>legs</a:t>
            </a:r>
          </a:p>
        </p:txBody>
      </p:sp>
      <p:sp>
        <p:nvSpPr>
          <p:cNvPr id="11" name="TextBox 10"/>
          <p:cNvSpPr txBox="1"/>
          <p:nvPr/>
        </p:nvSpPr>
        <p:spPr>
          <a:xfrm>
            <a:off x="7680960" y="5257800"/>
            <a:ext cx="1828800" cy="640080"/>
          </a:xfrm>
          <a:prstGeom prst="rect">
            <a:avLst/>
          </a:prstGeom>
          <a:noFill/>
        </p:spPr>
        <p:txBody>
          <a:bodyPr wrap="square" lIns="0" rIns="0" tIns="0" bIns="0" anchor="t">
            <a:spAutoFit/>
          </a:bodyPr>
          <a:lstStyle/>
          <a:p>
            <a:pPr algn="ctr">
              <a:spcAft>
                <a:spcPts val="0"/>
              </a:spcAft>
            </a:pPr>
            <a:r>
              <a:rPr sz="3400" b="1" i="0">
                <a:solidFill>
                  <a:srgbClr val="C45A11"/>
                </a:solidFill>
                <a:latin typeface="Cambria"/>
              </a:rPr>
              <a:t>3.39</a:t>
            </a:r>
          </a:p>
        </p:txBody>
      </p:sp>
      <p:sp>
        <p:nvSpPr>
          <p:cNvPr id="12" name="TextBox 11"/>
          <p:cNvSpPr txBox="1"/>
          <p:nvPr/>
        </p:nvSpPr>
        <p:spPr>
          <a:xfrm>
            <a:off x="7680960" y="5824728"/>
            <a:ext cx="1828800" cy="548640"/>
          </a:xfrm>
          <a:prstGeom prst="rect">
            <a:avLst/>
          </a:prstGeom>
          <a:noFill/>
        </p:spPr>
        <p:txBody>
          <a:bodyPr wrap="square" lIns="0" rIns="0" tIns="0" bIns="0" anchor="t">
            <a:spAutoFit/>
          </a:bodyPr>
          <a:lstStyle/>
          <a:p>
            <a:pPr algn="ctr">
              <a:spcAft>
                <a:spcPts val="0"/>
              </a:spcAft>
            </a:pPr>
            <a:r>
              <a:rPr sz="1150" b="0" i="0">
                <a:solidFill>
                  <a:srgbClr val="707070"/>
                </a:solidFill>
                <a:latin typeface="Calibri"/>
              </a:rPr>
              <a:t>kg</a:t>
            </a:r>
          </a:p>
        </p:txBody>
      </p:sp>
      <p:sp>
        <p:nvSpPr>
          <p:cNvPr id="13" name="TextBox 12"/>
          <p:cNvSpPr txBox="1"/>
          <p:nvPr/>
        </p:nvSpPr>
        <p:spPr>
          <a:xfrm>
            <a:off x="9784080" y="5257800"/>
            <a:ext cx="1828800" cy="640080"/>
          </a:xfrm>
          <a:prstGeom prst="rect">
            <a:avLst/>
          </a:prstGeom>
          <a:noFill/>
        </p:spPr>
        <p:txBody>
          <a:bodyPr wrap="square" lIns="0" rIns="0" tIns="0" bIns="0" anchor="t">
            <a:spAutoFit/>
          </a:bodyPr>
          <a:lstStyle/>
          <a:p>
            <a:pPr algn="ctr">
              <a:spcAft>
                <a:spcPts val="0"/>
              </a:spcAft>
            </a:pPr>
            <a:r>
              <a:rPr sz="3400" b="1" i="0">
                <a:solidFill>
                  <a:srgbClr val="C45A11"/>
                </a:solidFill>
                <a:latin typeface="Cambria"/>
              </a:rPr>
              <a:t>25</a:t>
            </a:r>
          </a:p>
        </p:txBody>
      </p:sp>
      <p:sp>
        <p:nvSpPr>
          <p:cNvPr id="14" name="TextBox 13"/>
          <p:cNvSpPr txBox="1"/>
          <p:nvPr/>
        </p:nvSpPr>
        <p:spPr>
          <a:xfrm>
            <a:off x="9784080" y="5824728"/>
            <a:ext cx="1828800" cy="548640"/>
          </a:xfrm>
          <a:prstGeom prst="rect">
            <a:avLst/>
          </a:prstGeom>
          <a:noFill/>
        </p:spPr>
        <p:txBody>
          <a:bodyPr wrap="square" lIns="0" rIns="0" tIns="0" bIns="0" anchor="t">
            <a:spAutoFit/>
          </a:bodyPr>
          <a:lstStyle/>
          <a:p>
            <a:pPr algn="ctr">
              <a:spcAft>
                <a:spcPts val="0"/>
              </a:spcAft>
            </a:pPr>
            <a:r>
              <a:rPr sz="1150" b="0" i="0">
                <a:solidFill>
                  <a:srgbClr val="707070"/>
                </a:solidFill>
                <a:latin typeface="Calibri"/>
              </a:rPr>
              <a:t>links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Mechanical parts</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Every part modelled in AutoCAD and designed for 3D printing</a:t>
            </a:r>
          </a:p>
        </p:txBody>
      </p:sp>
      <p:pic>
        <p:nvPicPr>
          <p:cNvPr id="4" name="Picture 3" descr="c_image14.png"/>
          <p:cNvPicPr>
            <a:picLocks noChangeAspect="1"/>
          </p:cNvPicPr>
          <p:nvPr/>
        </p:nvPicPr>
        <p:blipFill>
          <a:blip r:embed="rId3"/>
          <a:stretch>
            <a:fillRect/>
          </a:stretch>
        </p:blipFill>
        <p:spPr>
          <a:xfrm>
            <a:off x="1080008" y="1783080"/>
            <a:ext cx="4368800" cy="1965960"/>
          </a:xfrm>
          <a:prstGeom prst="rect">
            <a:avLst/>
          </a:prstGeom>
        </p:spPr>
      </p:pic>
      <p:sp>
        <p:nvSpPr>
          <p:cNvPr id="5" name="TextBox 4"/>
          <p:cNvSpPr txBox="1"/>
          <p:nvPr/>
        </p:nvSpPr>
        <p:spPr>
          <a:xfrm>
            <a:off x="566928" y="3813048"/>
            <a:ext cx="539496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Chassis</a:t>
            </a:r>
          </a:p>
        </p:txBody>
      </p:sp>
      <p:pic>
        <p:nvPicPr>
          <p:cNvPr id="6" name="Picture 5" descr="c_image7.png"/>
          <p:cNvPicPr>
            <a:picLocks noChangeAspect="1"/>
          </p:cNvPicPr>
          <p:nvPr/>
        </p:nvPicPr>
        <p:blipFill>
          <a:blip r:embed="rId4"/>
          <a:stretch>
            <a:fillRect/>
          </a:stretch>
        </p:blipFill>
        <p:spPr>
          <a:xfrm>
            <a:off x="6776720" y="1783080"/>
            <a:ext cx="4368800" cy="1965960"/>
          </a:xfrm>
          <a:prstGeom prst="rect">
            <a:avLst/>
          </a:prstGeom>
        </p:spPr>
      </p:pic>
      <p:sp>
        <p:nvSpPr>
          <p:cNvPr id="7" name="TextBox 6"/>
          <p:cNvSpPr txBox="1"/>
          <p:nvPr/>
        </p:nvSpPr>
        <p:spPr>
          <a:xfrm>
            <a:off x="6263640" y="3813048"/>
            <a:ext cx="539496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Femur bracket</a:t>
            </a:r>
          </a:p>
        </p:txBody>
      </p:sp>
      <p:pic>
        <p:nvPicPr>
          <p:cNvPr id="8" name="Picture 7" descr="image9.png"/>
          <p:cNvPicPr>
            <a:picLocks noChangeAspect="1"/>
          </p:cNvPicPr>
          <p:nvPr/>
        </p:nvPicPr>
        <p:blipFill>
          <a:blip r:embed="rId5"/>
          <a:stretch>
            <a:fillRect/>
          </a:stretch>
        </p:blipFill>
        <p:spPr>
          <a:xfrm>
            <a:off x="1618866" y="4114800"/>
            <a:ext cx="3291082" cy="1965960"/>
          </a:xfrm>
          <a:prstGeom prst="rect">
            <a:avLst/>
          </a:prstGeom>
        </p:spPr>
      </p:pic>
      <p:sp>
        <p:nvSpPr>
          <p:cNvPr id="9" name="TextBox 8"/>
          <p:cNvSpPr txBox="1"/>
          <p:nvPr/>
        </p:nvSpPr>
        <p:spPr>
          <a:xfrm>
            <a:off x="566928" y="6144768"/>
            <a:ext cx="539496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Tibia</a:t>
            </a:r>
          </a:p>
        </p:txBody>
      </p:sp>
      <p:pic>
        <p:nvPicPr>
          <p:cNvPr id="10" name="Picture 9" descr="c_image15.png"/>
          <p:cNvPicPr>
            <a:picLocks noChangeAspect="1"/>
          </p:cNvPicPr>
          <p:nvPr/>
        </p:nvPicPr>
        <p:blipFill>
          <a:blip r:embed="rId6"/>
          <a:stretch>
            <a:fillRect/>
          </a:stretch>
        </p:blipFill>
        <p:spPr>
          <a:xfrm>
            <a:off x="6776720" y="4114800"/>
            <a:ext cx="4368800" cy="1965960"/>
          </a:xfrm>
          <a:prstGeom prst="rect">
            <a:avLst/>
          </a:prstGeom>
        </p:spPr>
      </p:pic>
      <p:sp>
        <p:nvSpPr>
          <p:cNvPr id="11" name="TextBox 10"/>
          <p:cNvSpPr txBox="1"/>
          <p:nvPr/>
        </p:nvSpPr>
        <p:spPr>
          <a:xfrm>
            <a:off x="6263640" y="6144768"/>
            <a:ext cx="539496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Battery housing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The leg as a mechanism</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An RRR serial chain, and one deliberate axis choice</a:t>
            </a:r>
          </a:p>
        </p:txBody>
      </p:sp>
      <p:sp>
        <p:nvSpPr>
          <p:cNvPr id="4" name="TextBox 3"/>
          <p:cNvSpPr txBox="1"/>
          <p:nvPr/>
        </p:nvSpPr>
        <p:spPr>
          <a:xfrm>
            <a:off x="566928" y="1920240"/>
            <a:ext cx="5943600" cy="4114800"/>
          </a:xfrm>
          <a:prstGeom prst="rect">
            <a:avLst/>
          </a:prstGeom>
          <a:noFill/>
        </p:spPr>
        <p:txBody>
          <a:bodyPr wrap="square" lIns="0" rIns="0" tIns="0" bIns="0" anchor="t">
            <a:spAutoFit/>
          </a:bodyPr>
          <a:lstStyle/>
          <a:p>
            <a:pPr algn="l">
              <a:spcAft>
                <a:spcPts val="1300"/>
              </a:spcAft>
            </a:pPr>
            <a:r>
              <a:rPr sz="1450" b="0" i="0">
                <a:solidFill>
                  <a:srgbClr val="2B2B2B"/>
                </a:solidFill>
                <a:latin typeface="Calibri"/>
              </a:rPr>
              <a:t>•  Three revolute joints in series, so three degrees of freedom per leg.</a:t>
            </a:r>
          </a:p>
          <a:p>
            <a:pPr>
              <a:spcAft>
                <a:spcPts val="1300"/>
              </a:spcAft>
            </a:pPr>
            <a:r>
              <a:rPr sz="1450" b="0" i="0">
                <a:solidFill>
                  <a:srgbClr val="2B2B2B"/>
                </a:solidFill>
                <a:latin typeface="Calibri"/>
              </a:rPr>
              <a:t>•  Coxa axis vertical. Femur and tibia axes horizontal and parallel to each other.</a:t>
            </a:r>
          </a:p>
          <a:p>
            <a:pPr>
              <a:spcAft>
                <a:spcPts val="1300"/>
              </a:spcAft>
            </a:pPr>
            <a:r>
              <a:rPr sz="1450" b="0" i="0">
                <a:solidFill>
                  <a:srgbClr val="2B2B2B"/>
                </a:solidFill>
                <a:latin typeface="Calibri"/>
              </a:rPr>
              <a:t>•  Because those two axes are parallel, the leg beyond the coxa stays in ONE vertical plane.</a:t>
            </a:r>
          </a:p>
          <a:p>
            <a:pPr>
              <a:spcAft>
                <a:spcPts val="1300"/>
              </a:spcAft>
            </a:pPr>
            <a:r>
              <a:rPr sz="1450" b="0" i="0">
                <a:solidFill>
                  <a:srgbClr val="2B2B2B"/>
                </a:solidFill>
                <a:latin typeface="Calibri"/>
              </a:rPr>
              <a:t>•  The coxa angle only selects which plane that is.</a:t>
            </a:r>
          </a:p>
          <a:p>
            <a:pPr>
              <a:spcAft>
                <a:spcPts val="1300"/>
              </a:spcAft>
            </a:pPr>
            <a:r>
              <a:rPr sz="1450" b="0" i="0">
                <a:solidFill>
                  <a:srgbClr val="2B2B2B"/>
                </a:solidFill>
                <a:latin typeface="Calibri"/>
              </a:rPr>
              <a:t>•  So a 3D positioning problem reduces to a 2D two-link problem, which has an exact solution.</a:t>
            </a:r>
          </a:p>
          <a:p>
            <a:pPr>
              <a:spcAft>
                <a:spcPts val="1300"/>
              </a:spcAft>
            </a:pPr>
            <a:r>
              <a:rPr sz="1450" b="0" i="0">
                <a:solidFill>
                  <a:srgbClr val="2B2B2B"/>
                </a:solidFill>
                <a:latin typeface="Calibri"/>
              </a:rPr>
              <a:t>•  In stance, the loaded legs plus the ground and body form closed chains.</a:t>
            </a:r>
          </a:p>
        </p:txBody>
      </p:sp>
      <p:sp>
        <p:nvSpPr>
          <p:cNvPr id="5" name="Rounded Rectangle 4"/>
          <p:cNvSpPr/>
          <p:nvPr/>
        </p:nvSpPr>
        <p:spPr>
          <a:xfrm>
            <a:off x="6858000" y="1874519"/>
            <a:ext cx="4754880" cy="32918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0" y="2194560"/>
            <a:ext cx="4023360" cy="2743200"/>
          </a:xfrm>
          <a:prstGeom prst="rect">
            <a:avLst/>
          </a:prstGeom>
          <a:noFill/>
        </p:spPr>
        <p:txBody>
          <a:bodyPr wrap="square" lIns="0" rIns="0" tIns="0" bIns="0" anchor="t">
            <a:spAutoFit/>
          </a:bodyPr>
          <a:lstStyle/>
          <a:p>
            <a:pPr algn="l">
              <a:spcAft>
                <a:spcPts val="1200"/>
              </a:spcAft>
            </a:pPr>
            <a:r>
              <a:rPr sz="1600" b="1" i="0">
                <a:solidFill>
                  <a:srgbClr val="C45A11"/>
                </a:solidFill>
                <a:latin typeface="Cambria"/>
              </a:rPr>
              <a:t>Why this matters</a:t>
            </a:r>
          </a:p>
          <a:p>
            <a:pPr>
              <a:spcAft>
                <a:spcPts val="1000"/>
              </a:spcAft>
            </a:pPr>
            <a:r>
              <a:rPr sz="1400" b="0" i="0">
                <a:solidFill>
                  <a:srgbClr val="2B2B2B"/>
                </a:solidFill>
                <a:latin typeface="Calibri"/>
              </a:rPr>
              <a:t>A general 3-DOF chain needs a numerical solver, which is slower and can fail to converge in the middle of a step.</a:t>
            </a:r>
          </a:p>
          <a:p>
            <a:pPr>
              <a:spcAft>
                <a:spcPts val="0"/>
              </a:spcAft>
            </a:pPr>
            <a:r>
              <a:rPr sz="1400" b="0" i="0">
                <a:solidFill>
                  <a:srgbClr val="2B2B2B"/>
                </a:solidFill>
                <a:latin typeface="Calibri"/>
              </a:rPr>
              <a:t>Our arrangement gives a closed form answer every time, in a fixed number of operations.</a:t>
            </a:r>
          </a:p>
        </p:txBody>
      </p:sp>
      <p:sp>
        <p:nvSpPr>
          <p:cNvPr id="7" name="TextBox 6"/>
          <p:cNvSpPr txBox="1"/>
          <p:nvPr/>
        </p:nvSpPr>
        <p:spPr>
          <a:xfrm>
            <a:off x="566928" y="6144768"/>
            <a:ext cx="11064240" cy="411480"/>
          </a:xfrm>
          <a:prstGeom prst="rect">
            <a:avLst/>
          </a:prstGeom>
          <a:noFill/>
        </p:spPr>
        <p:txBody>
          <a:bodyPr wrap="square" lIns="0" rIns="0" tIns="0" bIns="0" anchor="t">
            <a:spAutoFit/>
          </a:bodyPr>
          <a:lstStyle/>
          <a:p>
            <a:pPr algn="l">
              <a:spcAft>
                <a:spcPts val="0"/>
              </a:spcAft>
            </a:pPr>
            <a:r>
              <a:rPr sz="1250" b="0" i="1">
                <a:solidFill>
                  <a:srgbClr val="707070"/>
                </a:solidFill>
                <a:latin typeface="Calibri"/>
              </a:rPr>
              <a:t>Six identical legs, mounted at different yaw angles, so one solution serves all of them.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Forward kinematics</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Given the joint angles, where is the foot?</a:t>
            </a:r>
          </a:p>
        </p:txBody>
      </p:sp>
      <p:pic>
        <p:nvPicPr>
          <p:cNvPr id="4" name="Picture 3" descr="eq_fk.png"/>
          <p:cNvPicPr>
            <a:picLocks noChangeAspect="1"/>
          </p:cNvPicPr>
          <p:nvPr/>
        </p:nvPicPr>
        <p:blipFill>
          <a:blip r:embed="rId3"/>
          <a:stretch>
            <a:fillRect/>
          </a:stretch>
        </p:blipFill>
        <p:spPr>
          <a:xfrm>
            <a:off x="990712" y="1828800"/>
            <a:ext cx="6101871" cy="2377440"/>
          </a:xfrm>
          <a:prstGeom prst="rect">
            <a:avLst/>
          </a:prstGeom>
        </p:spPr>
      </p:pic>
      <p:sp>
        <p:nvSpPr>
          <p:cNvPr id="5" name="Rounded Rectangle 4"/>
          <p:cNvSpPr/>
          <p:nvPr/>
        </p:nvSpPr>
        <p:spPr>
          <a:xfrm>
            <a:off x="7863840" y="1828800"/>
            <a:ext cx="3749039" cy="31089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83879" y="2148840"/>
            <a:ext cx="3154680" cy="2651760"/>
          </a:xfrm>
          <a:prstGeom prst="rect">
            <a:avLst/>
          </a:prstGeom>
          <a:noFill/>
        </p:spPr>
        <p:txBody>
          <a:bodyPr wrap="square" lIns="0" rIns="0" tIns="0" bIns="0" anchor="t">
            <a:spAutoFit/>
          </a:bodyPr>
          <a:lstStyle/>
          <a:p>
            <a:pPr algn="l">
              <a:spcAft>
                <a:spcPts val="1100"/>
              </a:spcAft>
            </a:pPr>
            <a:r>
              <a:rPr sz="1550" b="1" i="0">
                <a:solidFill>
                  <a:srgbClr val="C45A11"/>
                </a:solidFill>
                <a:latin typeface="Cambria"/>
              </a:rPr>
              <a:t>Link lengths</a:t>
            </a:r>
          </a:p>
          <a:p>
            <a:pPr>
              <a:spcAft>
                <a:spcPts val="600"/>
              </a:spcAft>
            </a:pPr>
            <a:r>
              <a:rPr sz="1400" b="0" i="0">
                <a:solidFill>
                  <a:srgbClr val="2B2B2B"/>
                </a:solidFill>
                <a:latin typeface="Calibri"/>
              </a:rPr>
              <a:t>L₁ = 150.0 mm   coxa</a:t>
            </a:r>
          </a:p>
          <a:p>
            <a:pPr>
              <a:spcAft>
                <a:spcPts val="600"/>
              </a:spcAft>
            </a:pPr>
            <a:r>
              <a:rPr sz="1400" b="0" i="0">
                <a:solidFill>
                  <a:srgbClr val="2B2B2B"/>
                </a:solidFill>
                <a:latin typeface="Calibri"/>
              </a:rPr>
              <a:t>L₂ = 116.6 mm   femur</a:t>
            </a:r>
          </a:p>
          <a:p>
            <a:pPr>
              <a:spcAft>
                <a:spcPts val="1200"/>
              </a:spcAft>
            </a:pPr>
            <a:r>
              <a:rPr sz="1400" b="0" i="0">
                <a:solidFill>
                  <a:srgbClr val="2B2B2B"/>
                </a:solidFill>
                <a:latin typeface="Calibri"/>
              </a:rPr>
              <a:t>L₃ = 150.0 mm   tibia</a:t>
            </a:r>
          </a:p>
          <a:p>
            <a:pPr>
              <a:spcAft>
                <a:spcPts val="0"/>
              </a:spcAft>
            </a:pPr>
            <a:r>
              <a:rPr sz="1250" b="0" i="0">
                <a:solidFill>
                  <a:srgbClr val="707070"/>
                </a:solidFill>
                <a:latin typeface="Calibri"/>
              </a:rPr>
              <a:t>Positive θ₂ and θ₃ move the foot downward, from the right handed axis convention.</a:t>
            </a:r>
          </a:p>
        </p:txBody>
      </p:sp>
      <p:sp>
        <p:nvSpPr>
          <p:cNvPr id="7" name="TextBox 6"/>
          <p:cNvSpPr txBox="1"/>
          <p:nvPr/>
        </p:nvSpPr>
        <p:spPr>
          <a:xfrm>
            <a:off x="566928" y="6144768"/>
            <a:ext cx="11064240" cy="411480"/>
          </a:xfrm>
          <a:prstGeom prst="rect">
            <a:avLst/>
          </a:prstGeom>
          <a:noFill/>
        </p:spPr>
        <p:txBody>
          <a:bodyPr wrap="square" lIns="0" rIns="0" tIns="0" bIns="0" anchor="t">
            <a:spAutoFit/>
          </a:bodyPr>
          <a:lstStyle/>
          <a:p>
            <a:pPr algn="l">
              <a:spcAft>
                <a:spcPts val="0"/>
              </a:spcAft>
            </a:pPr>
            <a:r>
              <a:rPr sz="1250" b="0" i="1">
                <a:solidFill>
                  <a:srgbClr val="707070"/>
                </a:solidFill>
                <a:latin typeface="Calibri"/>
              </a:rPr>
              <a:t>Verified stance solution:  θ₁ = 0°,  θ₂ = 15.44°,  θ₃ = 67.82°,  giving a foot 0.280 m out and 0.180 m below the body.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Inverse kinematics</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Given the foot position, what should the joint angles be?</a:t>
            </a:r>
          </a:p>
        </p:txBody>
      </p:sp>
      <p:pic>
        <p:nvPicPr>
          <p:cNvPr id="4" name="Picture 3" descr="eq_ik.png"/>
          <p:cNvPicPr>
            <a:picLocks noChangeAspect="1"/>
          </p:cNvPicPr>
          <p:nvPr/>
        </p:nvPicPr>
        <p:blipFill>
          <a:blip r:embed="rId3"/>
          <a:stretch>
            <a:fillRect/>
          </a:stretch>
        </p:blipFill>
        <p:spPr>
          <a:xfrm>
            <a:off x="1016577" y="1737360"/>
            <a:ext cx="6598780" cy="4206240"/>
          </a:xfrm>
          <a:prstGeom prst="rect">
            <a:avLst/>
          </a:prstGeom>
        </p:spPr>
      </p:pic>
      <p:sp>
        <p:nvSpPr>
          <p:cNvPr id="5" name="Rounded Rectangle 4"/>
          <p:cNvSpPr/>
          <p:nvPr/>
        </p:nvSpPr>
        <p:spPr>
          <a:xfrm>
            <a:off x="8321040" y="1828800"/>
            <a:ext cx="3291840"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41080" y="2148840"/>
            <a:ext cx="2651760" cy="3108960"/>
          </a:xfrm>
          <a:prstGeom prst="rect">
            <a:avLst/>
          </a:prstGeom>
          <a:noFill/>
        </p:spPr>
        <p:txBody>
          <a:bodyPr wrap="square" lIns="0" rIns="0" tIns="0" bIns="0" anchor="t">
            <a:spAutoFit/>
          </a:bodyPr>
          <a:lstStyle/>
          <a:p>
            <a:pPr algn="l">
              <a:spcAft>
                <a:spcPts val="1100"/>
              </a:spcAft>
            </a:pPr>
            <a:r>
              <a:rPr sz="1550" b="1" i="0">
                <a:solidFill>
                  <a:srgbClr val="C45A11"/>
                </a:solidFill>
                <a:latin typeface="Cambria"/>
              </a:rPr>
              <a:t>Why it matters</a:t>
            </a:r>
          </a:p>
          <a:p>
            <a:pPr>
              <a:spcAft>
                <a:spcPts val="1000"/>
              </a:spcAft>
            </a:pPr>
            <a:r>
              <a:rPr sz="1350" b="0" i="0">
                <a:solidFill>
                  <a:srgbClr val="2B2B2B"/>
                </a:solidFill>
                <a:latin typeface="Calibri"/>
              </a:rPr>
              <a:t>This runs 50 times a second, for all six legs, every time the robot takes a step.</a:t>
            </a:r>
          </a:p>
          <a:p>
            <a:pPr>
              <a:spcAft>
                <a:spcPts val="0"/>
              </a:spcAft>
            </a:pPr>
            <a:r>
              <a:rPr sz="1350" b="0" i="0">
                <a:solidFill>
                  <a:srgbClr val="2B2B2B"/>
                </a:solidFill>
                <a:latin typeface="Calibri"/>
              </a:rPr>
              <a:t>Closed form means a fixed cost and no possibility of failing to converge part way through a step.</a:t>
            </a:r>
          </a:p>
        </p:txBody>
      </p:sp>
      <p:sp>
        <p:nvSpPr>
          <p:cNvPr id="7" name="TextBox 6"/>
          <p:cNvSpPr txBox="1"/>
          <p:nvPr/>
        </p:nvSpPr>
        <p:spPr>
          <a:xfrm>
            <a:off x="566928" y="6144768"/>
            <a:ext cx="11064240" cy="411480"/>
          </a:xfrm>
          <a:prstGeom prst="rect">
            <a:avLst/>
          </a:prstGeom>
          <a:noFill/>
        </p:spPr>
        <p:txBody>
          <a:bodyPr wrap="square" lIns="0" rIns="0" tIns="0" bIns="0" anchor="t">
            <a:spAutoFit/>
          </a:bodyPr>
          <a:lstStyle/>
          <a:p>
            <a:pPr algn="l">
              <a:spcAft>
                <a:spcPts val="0"/>
              </a:spcAft>
            </a:pPr>
            <a:r>
              <a:rPr sz="1250" b="0" i="1">
                <a:solidFill>
                  <a:srgbClr val="707070"/>
                </a:solidFill>
                <a:latin typeface="Calibri"/>
              </a:rPr>
              <a:t>Checked numerically: forward → inverse → forward closes to 3.5 × 10⁻¹⁶ m, the precision limit of the computer.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Mass and inertia</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Calculated from the CAD volumes, then the servos added</a:t>
            </a:r>
          </a:p>
        </p:txBody>
      </p:sp>
      <p:graphicFrame>
        <p:nvGraphicFramePr>
          <p:cNvPr id="4" name="Table 3"/>
          <p:cNvGraphicFramePr>
            <a:graphicFrameLocks noGrp="1"/>
          </p:cNvGraphicFramePr>
          <p:nvPr/>
        </p:nvGraphicFramePr>
        <p:xfrm>
          <a:off x="566928" y="1874519"/>
          <a:ext cx="6858000" cy="2377440"/>
        </p:xfrm>
        <a:graphic>
          <a:graphicData uri="http://schemas.openxmlformats.org/drawingml/2006/table">
            <a:tbl>
              <a:tblPr firstRow="1" bandRow="1">
                <a:tableStyleId>{5C22544A-7EE6-4342-B048-85BDC9FD1C3A}</a:tableStyleId>
              </a:tblPr>
              <a:tblGrid>
                <a:gridCol w="1234440"/>
                <a:gridCol w="1234440"/>
                <a:gridCol w="1234440"/>
                <a:gridCol w="3154680"/>
              </a:tblGrid>
              <a:tr h="475488">
                <a:tc>
                  <a:txBody>
                    <a:bodyPr/>
                    <a:lstStyle/>
                    <a:p>
                      <a:r>
                        <a:rPr sz="1250" b="1">
                          <a:solidFill>
                            <a:srgbClr val="FFFFFF"/>
                          </a:solidFill>
                          <a:latin typeface="Calibri"/>
                        </a:rPr>
                        <a:t>Part</a:t>
                      </a:r>
                    </a:p>
                  </a:txBody>
                  <a:tcPr marL="82296" marR="82296" anchor="ctr">
                    <a:solidFill>
                      <a:srgbClr val="33383D"/>
                    </a:solidFill>
                  </a:tcPr>
                </a:tc>
                <a:tc>
                  <a:txBody>
                    <a:bodyPr/>
                    <a:lstStyle/>
                    <a:p>
                      <a:r>
                        <a:rPr sz="1250" b="1">
                          <a:solidFill>
                            <a:srgbClr val="FFFFFF"/>
                          </a:solidFill>
                          <a:latin typeface="Calibri"/>
                        </a:rPr>
                        <a:t>Length</a:t>
                      </a:r>
                    </a:p>
                  </a:txBody>
                  <a:tcPr marL="82296" marR="82296" anchor="ctr">
                    <a:solidFill>
                      <a:srgbClr val="33383D"/>
                    </a:solidFill>
                  </a:tcPr>
                </a:tc>
                <a:tc>
                  <a:txBody>
                    <a:bodyPr/>
                    <a:lstStyle/>
                    <a:p>
                      <a:r>
                        <a:rPr sz="1250" b="1">
                          <a:solidFill>
                            <a:srgbClr val="FFFFFF"/>
                          </a:solidFill>
                          <a:latin typeface="Calibri"/>
                        </a:rPr>
                        <a:t>Mass</a:t>
                      </a:r>
                    </a:p>
                  </a:txBody>
                  <a:tcPr marL="82296" marR="82296" anchor="ctr">
                    <a:solidFill>
                      <a:srgbClr val="33383D"/>
                    </a:solidFill>
                  </a:tcPr>
                </a:tc>
                <a:tc>
                  <a:txBody>
                    <a:bodyPr/>
                    <a:lstStyle/>
                    <a:p>
                      <a:r>
                        <a:rPr sz="1250" b="1">
                          <a:solidFill>
                            <a:srgbClr val="FFFFFF"/>
                          </a:solidFill>
                          <a:latin typeface="Calibri"/>
                        </a:rPr>
                        <a:t>Made up of</a:t>
                      </a:r>
                    </a:p>
                  </a:txBody>
                  <a:tcPr marL="82296" marR="82296" anchor="ctr">
                    <a:solidFill>
                      <a:srgbClr val="33383D"/>
                    </a:solidFill>
                  </a:tcPr>
                </a:tc>
              </a:tr>
              <a:tr h="475488">
                <a:tc>
                  <a:txBody>
                    <a:bodyPr/>
                    <a:lstStyle/>
                    <a:p>
                      <a:r>
                        <a:rPr sz="1250" b="1">
                          <a:solidFill>
                            <a:srgbClr val="2B2B2B"/>
                          </a:solidFill>
                          <a:latin typeface="Calibri"/>
                        </a:rPr>
                        <a:t>Body</a:t>
                      </a:r>
                    </a:p>
                  </a:txBody>
                  <a:tcPr marL="82296" marR="82296" anchor="ctr">
                    <a:solidFill>
                      <a:srgbClr val="FFFFFF"/>
                    </a:solidFill>
                  </a:tcPr>
                </a:tc>
                <a:tc>
                  <a:txBody>
                    <a:bodyPr/>
                    <a:lstStyle/>
                    <a:p>
                      <a:r>
                        <a:rPr sz="1250" b="0">
                          <a:solidFill>
                            <a:srgbClr val="2B2B2B"/>
                          </a:solidFill>
                          <a:latin typeface="Calibri"/>
                        </a:rPr>
                        <a:t>312.7 mm</a:t>
                      </a:r>
                    </a:p>
                  </a:txBody>
                  <a:tcPr marL="82296" marR="82296" anchor="ctr">
                    <a:solidFill>
                      <a:srgbClr val="FFFFFF"/>
                    </a:solidFill>
                  </a:tcPr>
                </a:tc>
                <a:tc>
                  <a:txBody>
                    <a:bodyPr/>
                    <a:lstStyle/>
                    <a:p>
                      <a:r>
                        <a:rPr sz="1250" b="0">
                          <a:solidFill>
                            <a:srgbClr val="2B2B2B"/>
                          </a:solidFill>
                          <a:latin typeface="Calibri"/>
                        </a:rPr>
                        <a:t>1.310 kg</a:t>
                      </a:r>
                    </a:p>
                  </a:txBody>
                  <a:tcPr marL="82296" marR="82296" anchor="ctr">
                    <a:solidFill>
                      <a:srgbClr val="FFFFFF"/>
                    </a:solidFill>
                  </a:tcPr>
                </a:tc>
                <a:tc>
                  <a:txBody>
                    <a:bodyPr/>
                    <a:lstStyle/>
                    <a:p>
                      <a:r>
                        <a:rPr sz="1250" b="0">
                          <a:solidFill>
                            <a:srgbClr val="2B2B2B"/>
                          </a:solidFill>
                          <a:latin typeface="Calibri"/>
                        </a:rPr>
                        <a:t>frame, 6 coxa servos, battery, electronics</a:t>
                      </a:r>
                    </a:p>
                  </a:txBody>
                  <a:tcPr marL="82296" marR="82296" anchor="ctr">
                    <a:solidFill>
                      <a:srgbClr val="FFFFFF"/>
                    </a:solidFill>
                  </a:tcPr>
                </a:tc>
              </a:tr>
              <a:tr h="475488">
                <a:tc>
                  <a:txBody>
                    <a:bodyPr/>
                    <a:lstStyle/>
                    <a:p>
                      <a:r>
                        <a:rPr sz="1250" b="1">
                          <a:solidFill>
                            <a:srgbClr val="2B2B2B"/>
                          </a:solidFill>
                          <a:latin typeface="Calibri"/>
                        </a:rPr>
                        <a:t>Coxa</a:t>
                      </a:r>
                    </a:p>
                  </a:txBody>
                  <a:tcPr marL="82296" marR="82296" anchor="ctr">
                    <a:solidFill>
                      <a:srgbClr val="F3F3F3"/>
                    </a:solidFill>
                  </a:tcPr>
                </a:tc>
                <a:tc>
                  <a:txBody>
                    <a:bodyPr/>
                    <a:lstStyle/>
                    <a:p>
                      <a:r>
                        <a:rPr sz="1250" b="0">
                          <a:solidFill>
                            <a:srgbClr val="2B2B2B"/>
                          </a:solidFill>
                          <a:latin typeface="Calibri"/>
                        </a:rPr>
                        <a:t>150.0 mm</a:t>
                      </a:r>
                    </a:p>
                  </a:txBody>
                  <a:tcPr marL="82296" marR="82296" anchor="ctr">
                    <a:solidFill>
                      <a:srgbClr val="F3F3F3"/>
                    </a:solidFill>
                  </a:tcPr>
                </a:tc>
                <a:tc>
                  <a:txBody>
                    <a:bodyPr/>
                    <a:lstStyle/>
                    <a:p>
                      <a:r>
                        <a:rPr sz="1250" b="0">
                          <a:solidFill>
                            <a:srgbClr val="2B2B2B"/>
                          </a:solidFill>
                          <a:latin typeface="Calibri"/>
                        </a:rPr>
                        <a:t>0.201 kg</a:t>
                      </a:r>
                    </a:p>
                  </a:txBody>
                  <a:tcPr marL="82296" marR="82296" anchor="ctr">
                    <a:solidFill>
                      <a:srgbClr val="F3F3F3"/>
                    </a:solidFill>
                  </a:tcPr>
                </a:tc>
                <a:tc>
                  <a:txBody>
                    <a:bodyPr/>
                    <a:lstStyle/>
                    <a:p>
                      <a:r>
                        <a:rPr sz="1250" b="0">
                          <a:solidFill>
                            <a:srgbClr val="2B2B2B"/>
                          </a:solidFill>
                          <a:latin typeface="Calibri"/>
                        </a:rPr>
                        <a:t>printed 0.141 + femur servo 0.060</a:t>
                      </a:r>
                    </a:p>
                  </a:txBody>
                  <a:tcPr marL="82296" marR="82296" anchor="ctr">
                    <a:solidFill>
                      <a:srgbClr val="F3F3F3"/>
                    </a:solidFill>
                  </a:tcPr>
                </a:tc>
              </a:tr>
              <a:tr h="475488">
                <a:tc>
                  <a:txBody>
                    <a:bodyPr/>
                    <a:lstStyle/>
                    <a:p>
                      <a:r>
                        <a:rPr sz="1250" b="1">
                          <a:solidFill>
                            <a:srgbClr val="2B2B2B"/>
                          </a:solidFill>
                          <a:latin typeface="Calibri"/>
                        </a:rPr>
                        <a:t>Femur</a:t>
                      </a:r>
                    </a:p>
                  </a:txBody>
                  <a:tcPr marL="82296" marR="82296" anchor="ctr">
                    <a:solidFill>
                      <a:srgbClr val="FFFFFF"/>
                    </a:solidFill>
                  </a:tcPr>
                </a:tc>
                <a:tc>
                  <a:txBody>
                    <a:bodyPr/>
                    <a:lstStyle/>
                    <a:p>
                      <a:r>
                        <a:rPr sz="1250" b="0">
                          <a:solidFill>
                            <a:srgbClr val="2B2B2B"/>
                          </a:solidFill>
                          <a:latin typeface="Calibri"/>
                        </a:rPr>
                        <a:t>116.6 mm</a:t>
                      </a:r>
                    </a:p>
                  </a:txBody>
                  <a:tcPr marL="82296" marR="82296" anchor="ctr">
                    <a:solidFill>
                      <a:srgbClr val="FFFFFF"/>
                    </a:solidFill>
                  </a:tcPr>
                </a:tc>
                <a:tc>
                  <a:txBody>
                    <a:bodyPr/>
                    <a:lstStyle/>
                    <a:p>
                      <a:r>
                        <a:rPr sz="1250" b="0">
                          <a:solidFill>
                            <a:srgbClr val="2B2B2B"/>
                          </a:solidFill>
                          <a:latin typeface="Calibri"/>
                        </a:rPr>
                        <a:t>0.101 kg</a:t>
                      </a:r>
                    </a:p>
                  </a:txBody>
                  <a:tcPr marL="82296" marR="82296" anchor="ctr">
                    <a:solidFill>
                      <a:srgbClr val="FFFFFF"/>
                    </a:solidFill>
                  </a:tcPr>
                </a:tc>
                <a:tc>
                  <a:txBody>
                    <a:bodyPr/>
                    <a:lstStyle/>
                    <a:p>
                      <a:r>
                        <a:rPr sz="1250" b="0">
                          <a:solidFill>
                            <a:srgbClr val="2B2B2B"/>
                          </a:solidFill>
                          <a:latin typeface="Calibri"/>
                        </a:rPr>
                        <a:t>printed 0.041 + tibia servo 0.060</a:t>
                      </a:r>
                    </a:p>
                  </a:txBody>
                  <a:tcPr marL="82296" marR="82296" anchor="ctr">
                    <a:solidFill>
                      <a:srgbClr val="FFFFFF"/>
                    </a:solidFill>
                  </a:tcPr>
                </a:tc>
              </a:tr>
              <a:tr h="475488">
                <a:tc>
                  <a:txBody>
                    <a:bodyPr/>
                    <a:lstStyle/>
                    <a:p>
                      <a:r>
                        <a:rPr sz="1250" b="1">
                          <a:solidFill>
                            <a:srgbClr val="2B2B2B"/>
                          </a:solidFill>
                          <a:latin typeface="Calibri"/>
                        </a:rPr>
                        <a:t>Tibia</a:t>
                      </a:r>
                    </a:p>
                  </a:txBody>
                  <a:tcPr marL="82296" marR="82296" anchor="ctr">
                    <a:solidFill>
                      <a:srgbClr val="F3F3F3"/>
                    </a:solidFill>
                  </a:tcPr>
                </a:tc>
                <a:tc>
                  <a:txBody>
                    <a:bodyPr/>
                    <a:lstStyle/>
                    <a:p>
                      <a:r>
                        <a:rPr sz="1250" b="0">
                          <a:solidFill>
                            <a:srgbClr val="2B2B2B"/>
                          </a:solidFill>
                          <a:latin typeface="Calibri"/>
                        </a:rPr>
                        <a:t>150.0 mm</a:t>
                      </a:r>
                    </a:p>
                  </a:txBody>
                  <a:tcPr marL="82296" marR="82296" anchor="ctr">
                    <a:solidFill>
                      <a:srgbClr val="F3F3F3"/>
                    </a:solidFill>
                  </a:tcPr>
                </a:tc>
                <a:tc>
                  <a:txBody>
                    <a:bodyPr/>
                    <a:lstStyle/>
                    <a:p>
                      <a:r>
                        <a:rPr sz="1250" b="0">
                          <a:solidFill>
                            <a:srgbClr val="2B2B2B"/>
                          </a:solidFill>
                          <a:latin typeface="Calibri"/>
                        </a:rPr>
                        <a:t>0.035 kg</a:t>
                      </a:r>
                    </a:p>
                  </a:txBody>
                  <a:tcPr marL="82296" marR="82296" anchor="ctr">
                    <a:solidFill>
                      <a:srgbClr val="F3F3F3"/>
                    </a:solidFill>
                  </a:tcPr>
                </a:tc>
                <a:tc>
                  <a:txBody>
                    <a:bodyPr/>
                    <a:lstStyle/>
                    <a:p>
                      <a:r>
                        <a:rPr sz="1250" b="0">
                          <a:solidFill>
                            <a:srgbClr val="2B2B2B"/>
                          </a:solidFill>
                          <a:latin typeface="Calibri"/>
                        </a:rPr>
                        <a:t>printed part only</a:t>
                      </a:r>
                    </a:p>
                  </a:txBody>
                  <a:tcPr marL="82296" marR="82296" anchor="ctr">
                    <a:solidFill>
                      <a:srgbClr val="F3F3F3"/>
                    </a:solidFill>
                  </a:tcPr>
                </a:tc>
              </a:tr>
            </a:tbl>
          </a:graphicData>
        </a:graphic>
      </p:graphicFrame>
      <p:sp>
        <p:nvSpPr>
          <p:cNvPr id="5" name="Rounded Rectangle 4"/>
          <p:cNvSpPr/>
          <p:nvPr/>
        </p:nvSpPr>
        <p:spPr>
          <a:xfrm>
            <a:off x="7772400" y="1874519"/>
            <a:ext cx="3840480" cy="32918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0" y="2194560"/>
            <a:ext cx="3200400" cy="2834640"/>
          </a:xfrm>
          <a:prstGeom prst="rect">
            <a:avLst/>
          </a:prstGeom>
          <a:noFill/>
        </p:spPr>
        <p:txBody>
          <a:bodyPr wrap="square" lIns="0" rIns="0" tIns="0" bIns="0" anchor="t">
            <a:spAutoFit/>
          </a:bodyPr>
          <a:lstStyle/>
          <a:p>
            <a:pPr algn="l">
              <a:spcAft>
                <a:spcPts val="1100"/>
              </a:spcAft>
            </a:pPr>
            <a:r>
              <a:rPr sz="1550" b="1" i="0">
                <a:solidFill>
                  <a:srgbClr val="C45A11"/>
                </a:solidFill>
                <a:latin typeface="Cambria"/>
              </a:rPr>
              <a:t>Inertia tensors</a:t>
            </a:r>
          </a:p>
          <a:p>
            <a:pPr>
              <a:spcAft>
                <a:spcPts val="1000"/>
              </a:spcAft>
            </a:pPr>
            <a:r>
              <a:rPr sz="1350" b="0" i="0">
                <a:solidFill>
                  <a:srgbClr val="2B2B2B"/>
                </a:solidFill>
                <a:latin typeface="Calibri"/>
              </a:rPr>
              <a:t>Computed in closed form for a box and for cylinders, about each part's own centre of mass. These are exact, not estimates.</a:t>
            </a:r>
          </a:p>
          <a:p>
            <a:pPr>
              <a:spcAft>
                <a:spcPts val="0"/>
              </a:spcAft>
            </a:pPr>
            <a:r>
              <a:rPr sz="1350" b="1" i="0">
                <a:solidFill>
                  <a:srgbClr val="2B2B2B"/>
                </a:solidFill>
                <a:latin typeface="Calibri"/>
              </a:rPr>
              <a:t>Total mass 3.39 kg. Standing on three legs, each foot carries about 10.9 N.</a:t>
            </a:r>
          </a:p>
        </p:txBody>
      </p:sp>
      <p:sp>
        <p:nvSpPr>
          <p:cNvPr id="7" name="TextBox 6"/>
          <p:cNvSpPr txBox="1"/>
          <p:nvPr/>
        </p:nvSpPr>
        <p:spPr>
          <a:xfrm>
            <a:off x="566928" y="6144768"/>
            <a:ext cx="11064240" cy="411480"/>
          </a:xfrm>
          <a:prstGeom prst="rect">
            <a:avLst/>
          </a:prstGeom>
          <a:noFill/>
        </p:spPr>
        <p:txBody>
          <a:bodyPr wrap="square" lIns="0" rIns="0" tIns="0" bIns="0" anchor="t">
            <a:spAutoFit/>
          </a:bodyPr>
          <a:lstStyle/>
          <a:p>
            <a:pPr algn="l">
              <a:spcAft>
                <a:spcPts val="0"/>
              </a:spcAft>
            </a:pPr>
            <a:r>
              <a:rPr sz="1250" b="0" i="1">
                <a:solidFill>
                  <a:srgbClr val="707070"/>
                </a:solidFill>
                <a:latin typeface="Calibri"/>
              </a:rPr>
              <a:t>Servo mass belongs to the part it is bolted to, not the part it moves.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Structural analysis</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ANSYS on the parts that carry the standing load</a:t>
            </a:r>
          </a:p>
        </p:txBody>
      </p:sp>
      <p:pic>
        <p:nvPicPr>
          <p:cNvPr id="4" name="Picture 3" descr="image18.jpg"/>
          <p:cNvPicPr>
            <a:picLocks noChangeAspect="1"/>
          </p:cNvPicPr>
          <p:nvPr/>
        </p:nvPicPr>
        <p:blipFill>
          <a:blip r:embed="rId3"/>
          <a:stretch>
            <a:fillRect/>
          </a:stretch>
        </p:blipFill>
        <p:spPr>
          <a:xfrm>
            <a:off x="566928" y="2209190"/>
            <a:ext cx="5394960" cy="2805379"/>
          </a:xfrm>
          <a:prstGeom prst="rect">
            <a:avLst/>
          </a:prstGeom>
        </p:spPr>
      </p:pic>
      <p:sp>
        <p:nvSpPr>
          <p:cNvPr id="5" name="TextBox 4"/>
          <p:cNvSpPr txBox="1"/>
          <p:nvPr/>
        </p:nvSpPr>
        <p:spPr>
          <a:xfrm>
            <a:off x="566928" y="5504688"/>
            <a:ext cx="539496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Static structural, femur bracket</a:t>
            </a:r>
          </a:p>
        </p:txBody>
      </p:sp>
      <p:pic>
        <p:nvPicPr>
          <p:cNvPr id="6" name="Picture 5" descr="image12.png"/>
          <p:cNvPicPr>
            <a:picLocks noChangeAspect="1"/>
          </p:cNvPicPr>
          <p:nvPr/>
        </p:nvPicPr>
        <p:blipFill>
          <a:blip r:embed="rId4"/>
          <a:stretch>
            <a:fillRect/>
          </a:stretch>
        </p:blipFill>
        <p:spPr>
          <a:xfrm>
            <a:off x="6263640" y="2386984"/>
            <a:ext cx="5394960" cy="2449791"/>
          </a:xfrm>
          <a:prstGeom prst="rect">
            <a:avLst/>
          </a:prstGeom>
        </p:spPr>
      </p:pic>
      <p:sp>
        <p:nvSpPr>
          <p:cNvPr id="7" name="TextBox 6"/>
          <p:cNvSpPr txBox="1"/>
          <p:nvPr/>
        </p:nvSpPr>
        <p:spPr>
          <a:xfrm>
            <a:off x="6263640" y="5504688"/>
            <a:ext cx="539496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Total deformation, chassis</a:t>
            </a:r>
          </a:p>
        </p:txBody>
      </p:sp>
      <p:sp>
        <p:nvSpPr>
          <p:cNvPr id="8" name="TextBox 7"/>
          <p:cNvSpPr txBox="1"/>
          <p:nvPr/>
        </p:nvSpPr>
        <p:spPr>
          <a:xfrm>
            <a:off x="566928" y="5806440"/>
            <a:ext cx="11064240" cy="457200"/>
          </a:xfrm>
          <a:prstGeom prst="rect">
            <a:avLst/>
          </a:prstGeom>
          <a:noFill/>
        </p:spPr>
        <p:txBody>
          <a:bodyPr wrap="square" lIns="0" rIns="0" tIns="0" bIns="0" anchor="t">
            <a:spAutoFit/>
          </a:bodyPr>
          <a:lstStyle/>
          <a:p>
            <a:pPr algn="l">
              <a:spcAft>
                <a:spcPts val="0"/>
              </a:spcAft>
            </a:pPr>
            <a:r>
              <a:rPr sz="1300" b="0" i="0">
                <a:solidFill>
                  <a:srgbClr val="2B2B2B"/>
                </a:solidFill>
                <a:latin typeface="Calibri"/>
              </a:rPr>
              <a:t>Load case:  3.39 kg standing on three legs  →  about 10.9 N per foot        Peak stress [        ]        Max deformation [        ]        Factor of safety [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Tripod gait</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Three feet always down, and the stride follows from the speed</a:t>
            </a:r>
          </a:p>
        </p:txBody>
      </p:sp>
      <p:pic>
        <p:nvPicPr>
          <p:cNvPr id="4" name="Picture 3" descr="fig3_gait_diagram.png"/>
          <p:cNvPicPr>
            <a:picLocks noChangeAspect="1"/>
          </p:cNvPicPr>
          <p:nvPr/>
        </p:nvPicPr>
        <p:blipFill>
          <a:blip r:embed="rId3"/>
          <a:stretch>
            <a:fillRect/>
          </a:stretch>
        </p:blipFill>
        <p:spPr>
          <a:xfrm>
            <a:off x="566928" y="1838498"/>
            <a:ext cx="5852160" cy="3546763"/>
          </a:xfrm>
          <a:prstGeom prst="rect">
            <a:avLst/>
          </a:prstGeom>
        </p:spPr>
      </p:pic>
      <p:pic>
        <p:nvPicPr>
          <p:cNvPr id="5" name="Picture 4" descr="eq_stride.png"/>
          <p:cNvPicPr>
            <a:picLocks noChangeAspect="1"/>
          </p:cNvPicPr>
          <p:nvPr/>
        </p:nvPicPr>
        <p:blipFill>
          <a:blip r:embed="rId4"/>
          <a:stretch>
            <a:fillRect/>
          </a:stretch>
        </p:blipFill>
        <p:spPr>
          <a:xfrm>
            <a:off x="6583679" y="2469773"/>
            <a:ext cx="5029200" cy="2009893"/>
          </a:xfrm>
          <a:prstGeom prst="rect">
            <a:avLst/>
          </a:prstGeom>
        </p:spPr>
      </p:pic>
      <p:sp>
        <p:nvSpPr>
          <p:cNvPr id="6" name="TextBox 5"/>
          <p:cNvSpPr txBox="1"/>
          <p:nvPr/>
        </p:nvSpPr>
        <p:spPr>
          <a:xfrm>
            <a:off x="566928" y="5715000"/>
            <a:ext cx="11064240" cy="1005840"/>
          </a:xfrm>
          <a:prstGeom prst="rect">
            <a:avLst/>
          </a:prstGeom>
          <a:noFill/>
        </p:spPr>
        <p:txBody>
          <a:bodyPr wrap="square" lIns="0" rIns="0" tIns="0" bIns="0" anchor="t">
            <a:spAutoFit/>
          </a:bodyPr>
          <a:lstStyle/>
          <a:p>
            <a:pPr algn="l">
              <a:spcAft>
                <a:spcPts val="0"/>
              </a:spcAft>
            </a:pPr>
            <a:r>
              <a:rPr sz="1450" b="0" i="0">
                <a:solidFill>
                  <a:srgbClr val="2B2B2B"/>
                </a:solidFill>
                <a:latin typeface="Calibri"/>
              </a:rPr>
              <a:t>Step length is not a tuning knob. It is forced by the commanded speed and the time a foot spends on the ground. Choosing it freely would make the feet slide.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Swing trajectory</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The shape of one step, and why the ends matter</a:t>
            </a:r>
          </a:p>
        </p:txBody>
      </p:sp>
      <p:pic>
        <p:nvPicPr>
          <p:cNvPr id="4" name="Picture 3" descr="fig1_foot_path.png"/>
          <p:cNvPicPr>
            <a:picLocks noChangeAspect="1"/>
          </p:cNvPicPr>
          <p:nvPr/>
        </p:nvPicPr>
        <p:blipFill>
          <a:blip r:embed="rId3"/>
          <a:stretch>
            <a:fillRect/>
          </a:stretch>
        </p:blipFill>
        <p:spPr>
          <a:xfrm>
            <a:off x="566928" y="1792778"/>
            <a:ext cx="5852160" cy="3546763"/>
          </a:xfrm>
          <a:prstGeom prst="rect">
            <a:avLst/>
          </a:prstGeom>
        </p:spPr>
      </p:pic>
      <p:pic>
        <p:nvPicPr>
          <p:cNvPr id="5" name="Picture 4" descr="eq_swing.png"/>
          <p:cNvPicPr>
            <a:picLocks noChangeAspect="1"/>
          </p:cNvPicPr>
          <p:nvPr/>
        </p:nvPicPr>
        <p:blipFill>
          <a:blip r:embed="rId4"/>
          <a:stretch>
            <a:fillRect/>
          </a:stretch>
        </p:blipFill>
        <p:spPr>
          <a:xfrm>
            <a:off x="6583680" y="2530870"/>
            <a:ext cx="5029200" cy="1521938"/>
          </a:xfrm>
          <a:prstGeom prst="rect">
            <a:avLst/>
          </a:prstGeom>
        </p:spPr>
      </p:pic>
      <p:sp>
        <p:nvSpPr>
          <p:cNvPr id="6" name="TextBox 5"/>
          <p:cNvSpPr txBox="1"/>
          <p:nvPr/>
        </p:nvSpPr>
        <p:spPr>
          <a:xfrm>
            <a:off x="6583680" y="4800600"/>
            <a:ext cx="5029200" cy="1463040"/>
          </a:xfrm>
          <a:prstGeom prst="rect">
            <a:avLst/>
          </a:prstGeom>
          <a:noFill/>
        </p:spPr>
        <p:txBody>
          <a:bodyPr wrap="square" lIns="0" rIns="0" tIns="0" bIns="0" anchor="t">
            <a:spAutoFit/>
          </a:bodyPr>
          <a:lstStyle/>
          <a:p>
            <a:pPr algn="l">
              <a:spcAft>
                <a:spcPts val="0"/>
              </a:spcAft>
            </a:pPr>
            <a:r>
              <a:rPr sz="1350" b="0" i="0">
                <a:solidFill>
                  <a:srgbClr val="2B2B2B"/>
                </a:solidFill>
                <a:latin typeface="Calibri"/>
              </a:rPr>
              <a:t>The end slopes are matched to the stance, so the foot touches down with zero speed over the ground rather than zero speed relative to the moving body.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No-slip verification</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The stance foot does not move relative to the ground</a:t>
            </a:r>
          </a:p>
        </p:txBody>
      </p:sp>
      <p:pic>
        <p:nvPicPr>
          <p:cNvPr id="4" name="Picture 3" descr="fig5_nonslip.png"/>
          <p:cNvPicPr>
            <a:picLocks noChangeAspect="1"/>
          </p:cNvPicPr>
          <p:nvPr/>
        </p:nvPicPr>
        <p:blipFill>
          <a:blip r:embed="rId3"/>
          <a:stretch>
            <a:fillRect/>
          </a:stretch>
        </p:blipFill>
        <p:spPr>
          <a:xfrm>
            <a:off x="571499" y="1737360"/>
            <a:ext cx="6940296" cy="4206240"/>
          </a:xfrm>
          <a:prstGeom prst="rect">
            <a:avLst/>
          </a:prstGeom>
        </p:spPr>
      </p:pic>
      <p:sp>
        <p:nvSpPr>
          <p:cNvPr id="5" name="Rounded Rectangle 4"/>
          <p:cNvSpPr/>
          <p:nvPr/>
        </p:nvSpPr>
        <p:spPr>
          <a:xfrm>
            <a:off x="7863840" y="1920240"/>
            <a:ext cx="3749039"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83879" y="2240280"/>
            <a:ext cx="3108960" cy="3108960"/>
          </a:xfrm>
          <a:prstGeom prst="rect">
            <a:avLst/>
          </a:prstGeom>
          <a:noFill/>
        </p:spPr>
        <p:txBody>
          <a:bodyPr wrap="square" lIns="0" rIns="0" tIns="0" bIns="0" anchor="t">
            <a:spAutoFit/>
          </a:bodyPr>
          <a:lstStyle/>
          <a:p>
            <a:pPr algn="l">
              <a:spcAft>
                <a:spcPts val="1100"/>
              </a:spcAft>
            </a:pPr>
            <a:r>
              <a:rPr sz="1550" b="1" i="0">
                <a:solidFill>
                  <a:srgbClr val="C45A11"/>
                </a:solidFill>
                <a:latin typeface="Cambria"/>
              </a:rPr>
              <a:t>Why this is the key plot</a:t>
            </a:r>
          </a:p>
          <a:p>
            <a:pPr>
              <a:spcAft>
                <a:spcPts val="1000"/>
              </a:spcAft>
            </a:pPr>
            <a:r>
              <a:rPr sz="1350" b="0" i="0">
                <a:solidFill>
                  <a:srgbClr val="2B2B2B"/>
                </a:solidFill>
                <a:latin typeface="Calibri"/>
              </a:rPr>
              <a:t>A foot that slides while carrying load wastes energy, wears the contact surface and destroys odometry.</a:t>
            </a:r>
          </a:p>
          <a:p>
            <a:pPr>
              <a:spcAft>
                <a:spcPts val="1000"/>
              </a:spcAft>
            </a:pPr>
            <a:r>
              <a:rPr sz="1350" b="1" i="0">
                <a:solidFill>
                  <a:srgbClr val="2B2B2B"/>
                </a:solidFill>
                <a:latin typeface="Calibri"/>
              </a:rPr>
              <a:t>The flat zero through the whole stance is what says the gait geometry is right.</a:t>
            </a:r>
          </a:p>
          <a:p>
            <a:pPr>
              <a:spcAft>
                <a:spcPts val="0"/>
              </a:spcAft>
            </a:pPr>
            <a:r>
              <a:rPr sz="1350" b="0" i="0">
                <a:solidFill>
                  <a:srgbClr val="707070"/>
                </a:solidFill>
                <a:latin typeface="Calibri"/>
              </a:rPr>
              <a:t>Checked automatically at every phase, on every code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MATLAB study: the foot path</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Modelling one step as a Bézier curve before implementing it</a:t>
            </a:r>
          </a:p>
        </p:txBody>
      </p:sp>
      <p:pic>
        <p:nvPicPr>
          <p:cNvPr id="4" name="Picture 3" descr="c_image13.png"/>
          <p:cNvPicPr>
            <a:picLocks noChangeAspect="1"/>
          </p:cNvPicPr>
          <p:nvPr/>
        </p:nvPicPr>
        <p:blipFill>
          <a:blip r:embed="rId3"/>
          <a:stretch>
            <a:fillRect/>
          </a:stretch>
        </p:blipFill>
        <p:spPr>
          <a:xfrm>
            <a:off x="566928" y="1998927"/>
            <a:ext cx="5394960" cy="3225904"/>
          </a:xfrm>
          <a:prstGeom prst="rect">
            <a:avLst/>
          </a:prstGeom>
        </p:spPr>
      </p:pic>
      <p:sp>
        <p:nvSpPr>
          <p:cNvPr id="5" name="TextBox 4"/>
          <p:cNvSpPr txBox="1"/>
          <p:nvPr/>
        </p:nvSpPr>
        <p:spPr>
          <a:xfrm>
            <a:off x="566928" y="5504688"/>
            <a:ext cx="539496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Foot movement in XYZ</a:t>
            </a:r>
          </a:p>
        </p:txBody>
      </p:sp>
      <p:pic>
        <p:nvPicPr>
          <p:cNvPr id="6" name="Picture 5" descr="c_image4.png"/>
          <p:cNvPicPr>
            <a:picLocks noChangeAspect="1"/>
          </p:cNvPicPr>
          <p:nvPr/>
        </p:nvPicPr>
        <p:blipFill>
          <a:blip r:embed="rId4"/>
          <a:stretch>
            <a:fillRect/>
          </a:stretch>
        </p:blipFill>
        <p:spPr>
          <a:xfrm>
            <a:off x="6263640" y="1993391"/>
            <a:ext cx="5394960" cy="3236976"/>
          </a:xfrm>
          <a:prstGeom prst="rect">
            <a:avLst/>
          </a:prstGeom>
        </p:spPr>
      </p:pic>
      <p:sp>
        <p:nvSpPr>
          <p:cNvPr id="7" name="TextBox 6"/>
          <p:cNvSpPr txBox="1"/>
          <p:nvPr/>
        </p:nvSpPr>
        <p:spPr>
          <a:xfrm>
            <a:off x="6263640" y="5504688"/>
            <a:ext cx="539496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Fore and aft view of the same path</a:t>
            </a:r>
          </a:p>
        </p:txBody>
      </p:sp>
      <p:sp>
        <p:nvSpPr>
          <p:cNvPr id="8" name="TextBox 7"/>
          <p:cNvSpPr txBox="1"/>
          <p:nvPr/>
        </p:nvSpPr>
        <p:spPr>
          <a:xfrm>
            <a:off x="566928" y="5760720"/>
            <a:ext cx="11064240" cy="457200"/>
          </a:xfrm>
          <a:prstGeom prst="rect">
            <a:avLst/>
          </a:prstGeom>
          <a:noFill/>
        </p:spPr>
        <p:txBody>
          <a:bodyPr wrap="square" lIns="0" rIns="0" tIns="0" bIns="0" anchor="t">
            <a:spAutoFit/>
          </a:bodyPr>
          <a:lstStyle/>
          <a:p>
            <a:pPr algn="l">
              <a:spcAft>
                <a:spcPts val="0"/>
              </a:spcAft>
            </a:pPr>
            <a:r>
              <a:rPr sz="1400" b="0" i="0">
                <a:solidFill>
                  <a:srgbClr val="2B2B2B"/>
                </a:solidFill>
                <a:latin typeface="Calibri"/>
              </a:rPr>
              <a:t>The path is smooth and closed. Lift height and stride length are set by the control points of the curve.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MATLAB: velocity and acceleration</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Differentiating the path gives the servo requirements</a:t>
            </a:r>
          </a:p>
        </p:txBody>
      </p:sp>
      <p:pic>
        <p:nvPicPr>
          <p:cNvPr id="4" name="Picture 3" descr="c_image10.png"/>
          <p:cNvPicPr>
            <a:picLocks noChangeAspect="1"/>
          </p:cNvPicPr>
          <p:nvPr/>
        </p:nvPicPr>
        <p:blipFill>
          <a:blip r:embed="rId3"/>
          <a:stretch>
            <a:fillRect/>
          </a:stretch>
        </p:blipFill>
        <p:spPr>
          <a:xfrm>
            <a:off x="566928" y="1843159"/>
            <a:ext cx="5394960" cy="3263121"/>
          </a:xfrm>
          <a:prstGeom prst="rect">
            <a:avLst/>
          </a:prstGeom>
        </p:spPr>
      </p:pic>
      <p:sp>
        <p:nvSpPr>
          <p:cNvPr id="5" name="TextBox 4"/>
          <p:cNvSpPr txBox="1"/>
          <p:nvPr/>
        </p:nvSpPr>
        <p:spPr>
          <a:xfrm>
            <a:off x="566928" y="5230368"/>
            <a:ext cx="539496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Foot velocity through the step</a:t>
            </a:r>
          </a:p>
        </p:txBody>
      </p:sp>
      <p:pic>
        <p:nvPicPr>
          <p:cNvPr id="6" name="Picture 5" descr="c_image3.png"/>
          <p:cNvPicPr>
            <a:picLocks noChangeAspect="1"/>
          </p:cNvPicPr>
          <p:nvPr/>
        </p:nvPicPr>
        <p:blipFill>
          <a:blip r:embed="rId4"/>
          <a:stretch>
            <a:fillRect/>
          </a:stretch>
        </p:blipFill>
        <p:spPr>
          <a:xfrm>
            <a:off x="6263640" y="1847190"/>
            <a:ext cx="5394960" cy="3255059"/>
          </a:xfrm>
          <a:prstGeom prst="rect">
            <a:avLst/>
          </a:prstGeom>
        </p:spPr>
      </p:pic>
      <p:sp>
        <p:nvSpPr>
          <p:cNvPr id="7" name="TextBox 6"/>
          <p:cNvSpPr txBox="1"/>
          <p:nvPr/>
        </p:nvSpPr>
        <p:spPr>
          <a:xfrm>
            <a:off x="6263640" y="5230368"/>
            <a:ext cx="539496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Foot acceleration through the step</a:t>
            </a:r>
          </a:p>
        </p:txBody>
      </p:sp>
      <p:sp>
        <p:nvSpPr>
          <p:cNvPr id="8" name="Rounded Rectangle 7"/>
          <p:cNvSpPr/>
          <p:nvPr/>
        </p:nvSpPr>
        <p:spPr>
          <a:xfrm>
            <a:off x="566928" y="5394960"/>
            <a:ext cx="11064240" cy="10515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596128"/>
            <a:ext cx="10424160" cy="777240"/>
          </a:xfrm>
          <a:prstGeom prst="rect">
            <a:avLst/>
          </a:prstGeom>
          <a:noFill/>
        </p:spPr>
        <p:txBody>
          <a:bodyPr wrap="square" lIns="0" rIns="0" tIns="0" bIns="0" anchor="t">
            <a:spAutoFit/>
          </a:bodyPr>
          <a:lstStyle/>
          <a:p>
            <a:pPr algn="l">
              <a:spcAft>
                <a:spcPts val="0"/>
              </a:spcAft>
            </a:pPr>
            <a:r>
              <a:rPr sz="1350" b="0" i="0">
                <a:solidFill>
                  <a:srgbClr val="2B2B2B"/>
                </a:solidFill>
                <a:latin typeface="Calibri"/>
              </a:rPr>
              <a:t>Peak velocity sets the speed the servo must deliver. Peak acceleration times the moving mass gives the inertial load on top of holding the robot up. Both curves are smooth, so there is no impulsive load on the gearbox.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MATLAB: foot force</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What the leg has to carry through a step</a:t>
            </a:r>
          </a:p>
        </p:txBody>
      </p:sp>
      <p:pic>
        <p:nvPicPr>
          <p:cNvPr id="4" name="Picture 3" descr="c_image11.png"/>
          <p:cNvPicPr>
            <a:picLocks noChangeAspect="1"/>
          </p:cNvPicPr>
          <p:nvPr/>
        </p:nvPicPr>
        <p:blipFill>
          <a:blip r:embed="rId3"/>
          <a:stretch>
            <a:fillRect/>
          </a:stretch>
        </p:blipFill>
        <p:spPr>
          <a:xfrm>
            <a:off x="566928" y="1783506"/>
            <a:ext cx="6675120" cy="4022507"/>
          </a:xfrm>
          <a:prstGeom prst="rect">
            <a:avLst/>
          </a:prstGeom>
        </p:spPr>
      </p:pic>
      <p:sp>
        <p:nvSpPr>
          <p:cNvPr id="5" name="TextBox 4"/>
          <p:cNvSpPr txBox="1"/>
          <p:nvPr/>
        </p:nvSpPr>
        <p:spPr>
          <a:xfrm>
            <a:off x="566928" y="5870448"/>
            <a:ext cx="667512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Foot force against phase</a:t>
            </a:r>
          </a:p>
        </p:txBody>
      </p:sp>
      <p:sp>
        <p:nvSpPr>
          <p:cNvPr id="6" name="Rounded Rectangle 5"/>
          <p:cNvSpPr/>
          <p:nvPr/>
        </p:nvSpPr>
        <p:spPr>
          <a:xfrm>
            <a:off x="7589520" y="1920240"/>
            <a:ext cx="4023360"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2240280"/>
            <a:ext cx="3383280" cy="3108960"/>
          </a:xfrm>
          <a:prstGeom prst="rect">
            <a:avLst/>
          </a:prstGeom>
          <a:noFill/>
        </p:spPr>
        <p:txBody>
          <a:bodyPr wrap="square" lIns="0" rIns="0" tIns="0" bIns="0" anchor="t">
            <a:spAutoFit/>
          </a:bodyPr>
          <a:lstStyle/>
          <a:p>
            <a:pPr algn="l">
              <a:spcAft>
                <a:spcPts val="1100"/>
              </a:spcAft>
            </a:pPr>
            <a:r>
              <a:rPr sz="1550" b="1" i="0">
                <a:solidFill>
                  <a:srgbClr val="C45A11"/>
                </a:solidFill>
                <a:latin typeface="Cambria"/>
              </a:rPr>
              <a:t>Why this sizes the servo</a:t>
            </a:r>
          </a:p>
          <a:p>
            <a:pPr>
              <a:spcAft>
                <a:spcPts val="1000"/>
              </a:spcAft>
            </a:pPr>
            <a:r>
              <a:rPr sz="1350" b="0" i="0">
                <a:solidFill>
                  <a:srgbClr val="2B2B2B"/>
                </a:solidFill>
                <a:latin typeface="Calibri"/>
              </a:rPr>
              <a:t>Force is highest at the start and end of the phase, lowest in the middle. It follows the acceleration curve.</a:t>
            </a:r>
          </a:p>
          <a:p>
            <a:pPr>
              <a:spcAft>
                <a:spcPts val="1000"/>
              </a:spcAft>
            </a:pPr>
            <a:r>
              <a:rPr sz="1350" b="0" i="0">
                <a:solidFill>
                  <a:srgbClr val="2B2B2B"/>
                </a:solidFill>
                <a:latin typeface="Calibri"/>
              </a:rPr>
              <a:t>Force multiplied by the link length gives the torque the joint must produce, which is how the servo class was chosen.</a:t>
            </a:r>
          </a:p>
          <a:p>
            <a:pPr>
              <a:spcAft>
                <a:spcPts val="0"/>
              </a:spcAft>
            </a:pPr>
            <a:r>
              <a:rPr sz="1350" b="0" i="0">
                <a:solidFill>
                  <a:srgbClr val="707070"/>
                </a:solidFill>
                <a:latin typeface="Calibri"/>
              </a:rPr>
              <a:t>Static component: 10.9 N per foot from the mass budget.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MATLAB: joint angles</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The inverse kinematics applied along the whole path</a:t>
            </a:r>
          </a:p>
        </p:txBody>
      </p:sp>
      <p:pic>
        <p:nvPicPr>
          <p:cNvPr id="4" name="Picture 3" descr="c_image17.png"/>
          <p:cNvPicPr>
            <a:picLocks noChangeAspect="1"/>
          </p:cNvPicPr>
          <p:nvPr/>
        </p:nvPicPr>
        <p:blipFill>
          <a:blip r:embed="rId3"/>
          <a:stretch>
            <a:fillRect/>
          </a:stretch>
        </p:blipFill>
        <p:spPr>
          <a:xfrm>
            <a:off x="735555" y="1737360"/>
            <a:ext cx="6977944" cy="4206240"/>
          </a:xfrm>
          <a:prstGeom prst="rect">
            <a:avLst/>
          </a:prstGeom>
        </p:spPr>
      </p:pic>
      <p:sp>
        <p:nvSpPr>
          <p:cNvPr id="5" name="TextBox 4"/>
          <p:cNvSpPr txBox="1"/>
          <p:nvPr/>
        </p:nvSpPr>
        <p:spPr>
          <a:xfrm>
            <a:off x="566928" y="6007608"/>
            <a:ext cx="731520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θ₁ coxa, θ₂ femur, θ₃ tibia against phase</a:t>
            </a:r>
          </a:p>
        </p:txBody>
      </p:sp>
      <p:sp>
        <p:nvSpPr>
          <p:cNvPr id="6" name="Rounded Rectangle 5"/>
          <p:cNvSpPr/>
          <p:nvPr/>
        </p:nvSpPr>
        <p:spPr>
          <a:xfrm>
            <a:off x="8138160" y="1920240"/>
            <a:ext cx="3474720"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2240280"/>
            <a:ext cx="2834640" cy="3108960"/>
          </a:xfrm>
          <a:prstGeom prst="rect">
            <a:avLst/>
          </a:prstGeom>
          <a:noFill/>
        </p:spPr>
        <p:txBody>
          <a:bodyPr wrap="square" lIns="0" rIns="0" tIns="0" bIns="0" anchor="t">
            <a:spAutoFit/>
          </a:bodyPr>
          <a:lstStyle/>
          <a:p>
            <a:pPr algn="l">
              <a:spcAft>
                <a:spcPts val="1100"/>
              </a:spcAft>
            </a:pPr>
            <a:r>
              <a:rPr sz="1550" b="1" i="0">
                <a:solidFill>
                  <a:srgbClr val="C45A11"/>
                </a:solidFill>
                <a:latin typeface="Cambria"/>
              </a:rPr>
              <a:t>What it confirms</a:t>
            </a:r>
          </a:p>
          <a:p>
            <a:pPr>
              <a:spcAft>
                <a:spcPts val="1000"/>
              </a:spcAft>
            </a:pPr>
            <a:r>
              <a:rPr sz="1350" b="0" i="0">
                <a:solidFill>
                  <a:srgbClr val="2B2B2B"/>
                </a:solidFill>
                <a:latin typeface="Calibri"/>
              </a:rPr>
              <a:t>Femur and tibia move smoothly through roughly 30 degrees, well inside their limits.</a:t>
            </a:r>
          </a:p>
          <a:p>
            <a:pPr>
              <a:spcAft>
                <a:spcPts val="1000"/>
              </a:spcAft>
            </a:pPr>
            <a:r>
              <a:rPr sz="1350" b="0" i="0">
                <a:solidFill>
                  <a:srgbClr val="2B2B2B"/>
                </a:solidFill>
                <a:latin typeface="Calibri"/>
              </a:rPr>
              <a:t>The whole trajectory is reachable. No point on the path asks the leg for something it cannot do.</a:t>
            </a:r>
          </a:p>
          <a:p>
            <a:pPr>
              <a:spcAft>
                <a:spcPts val="0"/>
              </a:spcAft>
            </a:pPr>
            <a:r>
              <a:rPr sz="1350" b="0" i="0">
                <a:solidFill>
                  <a:srgbClr val="707070"/>
                </a:solidFill>
                <a:latin typeface="Calibri"/>
              </a:rPr>
              <a:t>These angles are what the controller receives.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From CAD to simulation model</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The same parts, in a form ROS 2 can use</a:t>
            </a:r>
          </a:p>
        </p:txBody>
      </p:sp>
      <p:pic>
        <p:nvPicPr>
          <p:cNvPr id="4" name="Picture 3" descr="image6.png"/>
          <p:cNvPicPr>
            <a:picLocks noChangeAspect="1"/>
          </p:cNvPicPr>
          <p:nvPr/>
        </p:nvPicPr>
        <p:blipFill>
          <a:blip r:embed="rId3"/>
          <a:stretch>
            <a:fillRect/>
          </a:stretch>
        </p:blipFill>
        <p:spPr>
          <a:xfrm>
            <a:off x="566928" y="2050018"/>
            <a:ext cx="6675120" cy="3489483"/>
          </a:xfrm>
          <a:prstGeom prst="rect">
            <a:avLst/>
          </a:prstGeom>
        </p:spPr>
      </p:pic>
      <p:sp>
        <p:nvSpPr>
          <p:cNvPr id="5" name="TextBox 4"/>
          <p:cNvSpPr txBox="1"/>
          <p:nvPr/>
        </p:nvSpPr>
        <p:spPr>
          <a:xfrm>
            <a:off x="566928" y="5870448"/>
            <a:ext cx="667512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RViz, the assembled model with all 18 joints</a:t>
            </a:r>
          </a:p>
        </p:txBody>
      </p:sp>
      <p:sp>
        <p:nvSpPr>
          <p:cNvPr id="6" name="TextBox 5"/>
          <p:cNvSpPr txBox="1"/>
          <p:nvPr/>
        </p:nvSpPr>
        <p:spPr>
          <a:xfrm>
            <a:off x="7589520" y="1920240"/>
            <a:ext cx="4023360" cy="3840480"/>
          </a:xfrm>
          <a:prstGeom prst="rect">
            <a:avLst/>
          </a:prstGeom>
          <a:noFill/>
        </p:spPr>
        <p:txBody>
          <a:bodyPr wrap="square" lIns="0" rIns="0" tIns="0" bIns="0" anchor="t">
            <a:spAutoFit/>
          </a:bodyPr>
          <a:lstStyle/>
          <a:p>
            <a:pPr algn="l">
              <a:spcAft>
                <a:spcPts val="1200"/>
              </a:spcAft>
            </a:pPr>
            <a:r>
              <a:rPr sz="1600" b="1" i="0">
                <a:solidFill>
                  <a:srgbClr val="C45A11"/>
                </a:solidFill>
                <a:latin typeface="Cambria"/>
              </a:rPr>
              <a:t>What the model carries</a:t>
            </a:r>
          </a:p>
          <a:p>
            <a:pPr>
              <a:spcAft>
                <a:spcPts val="900"/>
              </a:spcAft>
            </a:pPr>
            <a:r>
              <a:rPr sz="1400" b="0" i="0">
                <a:solidFill>
                  <a:srgbClr val="2B2B2B"/>
                </a:solidFill>
                <a:latin typeface="Calibri"/>
              </a:rPr>
              <a:t>•  Shape of every part, from the CAD meshes</a:t>
            </a:r>
          </a:p>
          <a:p>
            <a:pPr>
              <a:spcAft>
                <a:spcPts val="900"/>
              </a:spcAft>
            </a:pPr>
            <a:r>
              <a:rPr sz="1400" b="0" i="0">
                <a:solidFill>
                  <a:srgbClr val="2B2B2B"/>
                </a:solidFill>
                <a:latin typeface="Calibri"/>
              </a:rPr>
              <a:t>•  Position and axis of all 18 joints</a:t>
            </a:r>
          </a:p>
          <a:p>
            <a:pPr>
              <a:spcAft>
                <a:spcPts val="900"/>
              </a:spcAft>
            </a:pPr>
            <a:r>
              <a:rPr sz="1400" b="0" i="0">
                <a:solidFill>
                  <a:srgbClr val="2B2B2B"/>
                </a:solidFill>
                <a:latin typeface="Calibri"/>
              </a:rPr>
              <a:t>•  Mass and inertia of each link</a:t>
            </a:r>
          </a:p>
          <a:p>
            <a:pPr>
              <a:spcAft>
                <a:spcPts val="900"/>
              </a:spcAft>
            </a:pPr>
            <a:r>
              <a:rPr sz="1400" b="0" i="0">
                <a:solidFill>
                  <a:srgbClr val="2B2B2B"/>
                </a:solidFill>
                <a:latin typeface="Calibri"/>
              </a:rPr>
              <a:t>•  Joint limits, friction and damping</a:t>
            </a:r>
          </a:p>
          <a:p>
            <a:pPr>
              <a:spcAft>
                <a:spcPts val="0"/>
              </a:spcAft>
            </a:pPr>
            <a:r>
              <a:rPr sz="1300" b="0" i="0">
                <a:solidFill>
                  <a:srgbClr val="707070"/>
                </a:solidFill>
                <a:latin typeface="Calibri"/>
              </a:rPr>
              <a:t>Appearance uses the meshes. Contact and inertia use boxes and cylinders, which is far faster and, for the chassis, actually more correct.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Gazebo simulation</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The robot standing and walking under gravity and friction</a:t>
            </a:r>
          </a:p>
        </p:txBody>
      </p:sp>
      <p:pic>
        <p:nvPicPr>
          <p:cNvPr id="4" name="Picture 3" descr="image5.png"/>
          <p:cNvPicPr>
            <a:picLocks noChangeAspect="1"/>
          </p:cNvPicPr>
          <p:nvPr/>
        </p:nvPicPr>
        <p:blipFill>
          <a:blip r:embed="rId3"/>
          <a:stretch>
            <a:fillRect/>
          </a:stretch>
        </p:blipFill>
        <p:spPr>
          <a:xfrm>
            <a:off x="1489867" y="1737359"/>
            <a:ext cx="3640520" cy="3291840"/>
          </a:xfrm>
          <a:prstGeom prst="rect">
            <a:avLst/>
          </a:prstGeom>
        </p:spPr>
      </p:pic>
      <p:sp>
        <p:nvSpPr>
          <p:cNvPr id="5" name="TextBox 4"/>
          <p:cNvSpPr txBox="1"/>
          <p:nvPr/>
        </p:nvSpPr>
        <p:spPr>
          <a:xfrm>
            <a:off x="566928" y="5093208"/>
            <a:ext cx="548640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Standing in the world</a:t>
            </a:r>
          </a:p>
        </p:txBody>
      </p:sp>
      <p:pic>
        <p:nvPicPr>
          <p:cNvPr id="6" name="Picture 5" descr="image8.png"/>
          <p:cNvPicPr>
            <a:picLocks noChangeAspect="1"/>
          </p:cNvPicPr>
          <p:nvPr/>
        </p:nvPicPr>
        <p:blipFill>
          <a:blip r:embed="rId4"/>
          <a:stretch>
            <a:fillRect/>
          </a:stretch>
        </p:blipFill>
        <p:spPr>
          <a:xfrm>
            <a:off x="6309360" y="2013039"/>
            <a:ext cx="5303520" cy="2740480"/>
          </a:xfrm>
          <a:prstGeom prst="rect">
            <a:avLst/>
          </a:prstGeom>
        </p:spPr>
      </p:pic>
      <p:sp>
        <p:nvSpPr>
          <p:cNvPr id="7" name="TextBox 6"/>
          <p:cNvSpPr txBox="1"/>
          <p:nvPr/>
        </p:nvSpPr>
        <p:spPr>
          <a:xfrm>
            <a:off x="6309360" y="5093208"/>
            <a:ext cx="5303520" cy="320040"/>
          </a:xfrm>
          <a:prstGeom prst="rect">
            <a:avLst/>
          </a:prstGeom>
          <a:noFill/>
        </p:spPr>
        <p:txBody>
          <a:bodyPr wrap="square" lIns="0" rIns="0" tIns="0" bIns="0" anchor="t">
            <a:spAutoFit/>
          </a:bodyPr>
          <a:lstStyle/>
          <a:p>
            <a:pPr algn="ctr">
              <a:spcAft>
                <a:spcPts val="0"/>
              </a:spcAft>
            </a:pPr>
            <a:r>
              <a:rPr sz="1150" b="0" i="1">
                <a:solidFill>
                  <a:srgbClr val="707070"/>
                </a:solidFill>
                <a:latin typeface="Calibri"/>
              </a:rPr>
              <a:t>Walking, distance markers for scale</a:t>
            </a:r>
          </a:p>
        </p:txBody>
      </p:sp>
      <p:sp>
        <p:nvSpPr>
          <p:cNvPr id="8" name="Rounded Rectangle 7"/>
          <p:cNvSpPr/>
          <p:nvPr/>
        </p:nvSpPr>
        <p:spPr>
          <a:xfrm>
            <a:off x="566928" y="5349240"/>
            <a:ext cx="11064240" cy="10972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559552"/>
            <a:ext cx="10424160" cy="822960"/>
          </a:xfrm>
          <a:prstGeom prst="rect">
            <a:avLst/>
          </a:prstGeom>
          <a:noFill/>
        </p:spPr>
        <p:txBody>
          <a:bodyPr wrap="square" lIns="0" rIns="0" tIns="0" bIns="0" anchor="t">
            <a:spAutoFit/>
          </a:bodyPr>
          <a:lstStyle/>
          <a:p>
            <a:pPr algn="l">
              <a:spcAft>
                <a:spcPts val="0"/>
              </a:spcAft>
            </a:pPr>
            <a:r>
              <a:rPr sz="1350" b="0" i="0">
                <a:solidFill>
                  <a:srgbClr val="2B2B2B"/>
                </a:solidFill>
                <a:latin typeface="Calibri"/>
              </a:rPr>
              <a:t>All 18 joints respond individually.  The robot holds its stance under its own weight.  The controller tracks commanded angles closely.  Three feet stay on the ground throughout the cycle.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Verification before simulation</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The maths is tested on its own, in under a second</a:t>
            </a:r>
          </a:p>
        </p:txBody>
      </p:sp>
      <p:sp>
        <p:nvSpPr>
          <p:cNvPr id="4" name="TextBox 3"/>
          <p:cNvSpPr txBox="1"/>
          <p:nvPr/>
        </p:nvSpPr>
        <p:spPr>
          <a:xfrm>
            <a:off x="731520" y="2194560"/>
            <a:ext cx="3291840" cy="640080"/>
          </a:xfrm>
          <a:prstGeom prst="rect">
            <a:avLst/>
          </a:prstGeom>
          <a:noFill/>
        </p:spPr>
        <p:txBody>
          <a:bodyPr wrap="square" lIns="0" rIns="0" tIns="0" bIns="0" anchor="t">
            <a:spAutoFit/>
          </a:bodyPr>
          <a:lstStyle/>
          <a:p>
            <a:pPr algn="ctr">
              <a:spcAft>
                <a:spcPts val="0"/>
              </a:spcAft>
            </a:pPr>
            <a:r>
              <a:rPr sz="3000" b="1" i="0">
                <a:solidFill>
                  <a:srgbClr val="C45A11"/>
                </a:solidFill>
                <a:latin typeface="Cambria"/>
              </a:rPr>
              <a:t>3.5 × 10⁻¹⁶ m</a:t>
            </a:r>
          </a:p>
        </p:txBody>
      </p:sp>
      <p:sp>
        <p:nvSpPr>
          <p:cNvPr id="5" name="TextBox 4"/>
          <p:cNvSpPr txBox="1"/>
          <p:nvPr/>
        </p:nvSpPr>
        <p:spPr>
          <a:xfrm>
            <a:off x="731520" y="2761488"/>
            <a:ext cx="3291840" cy="548640"/>
          </a:xfrm>
          <a:prstGeom prst="rect">
            <a:avLst/>
          </a:prstGeom>
          <a:noFill/>
        </p:spPr>
        <p:txBody>
          <a:bodyPr wrap="square" lIns="0" rIns="0" tIns="0" bIns="0" anchor="t">
            <a:spAutoFit/>
          </a:bodyPr>
          <a:lstStyle/>
          <a:p>
            <a:pPr algn="ctr">
              <a:spcAft>
                <a:spcPts val="0"/>
              </a:spcAft>
            </a:pPr>
            <a:r>
              <a:rPr sz="1150" b="0" i="0">
                <a:solidFill>
                  <a:srgbClr val="707070"/>
                </a:solidFill>
                <a:latin typeface="Calibri"/>
              </a:rPr>
              <a:t>inverse kinematics round trip error</a:t>
            </a:r>
          </a:p>
        </p:txBody>
      </p:sp>
      <p:sp>
        <p:nvSpPr>
          <p:cNvPr id="6" name="TextBox 5"/>
          <p:cNvSpPr txBox="1"/>
          <p:nvPr/>
        </p:nvSpPr>
        <p:spPr>
          <a:xfrm>
            <a:off x="4434840" y="2194560"/>
            <a:ext cx="3291840" cy="640080"/>
          </a:xfrm>
          <a:prstGeom prst="rect">
            <a:avLst/>
          </a:prstGeom>
          <a:noFill/>
        </p:spPr>
        <p:txBody>
          <a:bodyPr wrap="square" lIns="0" rIns="0" tIns="0" bIns="0" anchor="t">
            <a:spAutoFit/>
          </a:bodyPr>
          <a:lstStyle/>
          <a:p>
            <a:pPr algn="ctr">
              <a:spcAft>
                <a:spcPts val="0"/>
              </a:spcAft>
            </a:pPr>
            <a:r>
              <a:rPr sz="3800" b="1" i="0">
                <a:solidFill>
                  <a:srgbClr val="C45A11"/>
                </a:solidFill>
                <a:latin typeface="Cambria"/>
              </a:rPr>
              <a:t>498</a:t>
            </a:r>
          </a:p>
        </p:txBody>
      </p:sp>
      <p:sp>
        <p:nvSpPr>
          <p:cNvPr id="7" name="TextBox 6"/>
          <p:cNvSpPr txBox="1"/>
          <p:nvPr/>
        </p:nvSpPr>
        <p:spPr>
          <a:xfrm>
            <a:off x="4434840" y="2761488"/>
            <a:ext cx="3291840" cy="548640"/>
          </a:xfrm>
          <a:prstGeom prst="rect">
            <a:avLst/>
          </a:prstGeom>
          <a:noFill/>
        </p:spPr>
        <p:txBody>
          <a:bodyPr wrap="square" lIns="0" rIns="0" tIns="0" bIns="0" anchor="t">
            <a:spAutoFit/>
          </a:bodyPr>
          <a:lstStyle/>
          <a:p>
            <a:pPr algn="ctr">
              <a:spcAft>
                <a:spcPts val="0"/>
              </a:spcAft>
            </a:pPr>
            <a:r>
              <a:rPr sz="1150" b="0" i="0">
                <a:solidFill>
                  <a:srgbClr val="707070"/>
                </a:solidFill>
                <a:latin typeface="Calibri"/>
              </a:rPr>
              <a:t>automatic gait checks passing</a:t>
            </a:r>
          </a:p>
        </p:txBody>
      </p:sp>
      <p:sp>
        <p:nvSpPr>
          <p:cNvPr id="8" name="TextBox 7"/>
          <p:cNvSpPr txBox="1"/>
          <p:nvPr/>
        </p:nvSpPr>
        <p:spPr>
          <a:xfrm>
            <a:off x="8138160" y="2194560"/>
            <a:ext cx="3291840" cy="640080"/>
          </a:xfrm>
          <a:prstGeom prst="rect">
            <a:avLst/>
          </a:prstGeom>
          <a:noFill/>
        </p:spPr>
        <p:txBody>
          <a:bodyPr wrap="square" lIns="0" rIns="0" tIns="0" bIns="0" anchor="t">
            <a:spAutoFit/>
          </a:bodyPr>
          <a:lstStyle/>
          <a:p>
            <a:pPr algn="ctr">
              <a:spcAft>
                <a:spcPts val="0"/>
              </a:spcAft>
            </a:pPr>
            <a:r>
              <a:rPr sz="3000" b="1" i="0">
                <a:solidFill>
                  <a:srgbClr val="C45A11"/>
                </a:solidFill>
                <a:latin typeface="Cambria"/>
              </a:rPr>
              <a:t>under 1 s</a:t>
            </a:r>
          </a:p>
        </p:txBody>
      </p:sp>
      <p:sp>
        <p:nvSpPr>
          <p:cNvPr id="9" name="TextBox 8"/>
          <p:cNvSpPr txBox="1"/>
          <p:nvPr/>
        </p:nvSpPr>
        <p:spPr>
          <a:xfrm>
            <a:off x="8138160" y="2761488"/>
            <a:ext cx="3291840" cy="548640"/>
          </a:xfrm>
          <a:prstGeom prst="rect">
            <a:avLst/>
          </a:prstGeom>
          <a:noFill/>
        </p:spPr>
        <p:txBody>
          <a:bodyPr wrap="square" lIns="0" rIns="0" tIns="0" bIns="0" anchor="t">
            <a:spAutoFit/>
          </a:bodyPr>
          <a:lstStyle/>
          <a:p>
            <a:pPr algn="ctr">
              <a:spcAft>
                <a:spcPts val="0"/>
              </a:spcAft>
            </a:pPr>
            <a:r>
              <a:rPr sz="1150" b="0" i="0">
                <a:solidFill>
                  <a:srgbClr val="707070"/>
                </a:solidFill>
                <a:latin typeface="Calibri"/>
              </a:rPr>
              <a:t>to run the whole suite</a:t>
            </a:r>
          </a:p>
        </p:txBody>
      </p:sp>
      <p:sp>
        <p:nvSpPr>
          <p:cNvPr id="10" name="Rounded Rectangle 9"/>
          <p:cNvSpPr/>
          <p:nvPr/>
        </p:nvSpPr>
        <p:spPr>
          <a:xfrm>
            <a:off x="731520" y="4114800"/>
            <a:ext cx="10698480" cy="17830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89120"/>
            <a:ext cx="9966960" cy="1371600"/>
          </a:xfrm>
          <a:prstGeom prst="rect">
            <a:avLst/>
          </a:prstGeom>
          <a:noFill/>
        </p:spPr>
        <p:txBody>
          <a:bodyPr wrap="square" lIns="0" rIns="0" tIns="0" bIns="0" anchor="t">
            <a:spAutoFit/>
          </a:bodyPr>
          <a:lstStyle/>
          <a:p>
            <a:pPr algn="l">
              <a:spcAft>
                <a:spcPts val="900"/>
              </a:spcAft>
            </a:pPr>
            <a:r>
              <a:rPr sz="1550" b="1" i="0">
                <a:solidFill>
                  <a:srgbClr val="C45A11"/>
                </a:solidFill>
                <a:latin typeface="Cambria"/>
              </a:rPr>
              <a:t>What the checks cover</a:t>
            </a:r>
          </a:p>
          <a:p>
            <a:pPr>
              <a:spcAft>
                <a:spcPts val="0"/>
              </a:spcAft>
            </a:pPr>
            <a:r>
              <a:rPr sz="1400" b="0" i="0">
                <a:solidFill>
                  <a:srgbClr val="2B2B2B"/>
                </a:solidFill>
                <a:latin typeface="Calibri"/>
              </a:rPr>
              <a:t>Exactly three feet on the ground at every phase.  The two leg groups exactly half a cycle apart.  No jump in a foot's path at the stance-to-swing handover.  Zero foot speed over the ground during stance.  Full 45 mm clearance in swing.  Every commanded velocity reachable within the joint limits.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What the verification found</a:t>
            </a:r>
          </a:p>
        </p:txBody>
      </p:sp>
      <p:sp>
        <p:nvSpPr>
          <p:cNvPr id="3" name="TextBox 2"/>
          <p:cNvSpPr txBox="1"/>
          <p:nvPr/>
        </p:nvSpPr>
        <p:spPr>
          <a:xfrm>
            <a:off x="566928" y="1225296"/>
            <a:ext cx="11064240" cy="384048"/>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An error that watching the robot could not have shown</a:t>
            </a:r>
          </a:p>
        </p:txBody>
      </p:sp>
      <p:sp>
        <p:nvSpPr>
          <p:cNvPr id="4" name="Rounded Rectangle 3"/>
          <p:cNvSpPr/>
          <p:nvPr/>
        </p:nvSpPr>
        <p:spPr>
          <a:xfrm>
            <a:off x="566928" y="1874519"/>
            <a:ext cx="5394960" cy="28346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194560"/>
            <a:ext cx="4709160" cy="2377440"/>
          </a:xfrm>
          <a:prstGeom prst="rect">
            <a:avLst/>
          </a:prstGeom>
          <a:noFill/>
        </p:spPr>
        <p:txBody>
          <a:bodyPr wrap="square" lIns="0" rIns="0" tIns="0" bIns="0" anchor="t">
            <a:spAutoFit/>
          </a:bodyPr>
          <a:lstStyle/>
          <a:p>
            <a:pPr algn="l">
              <a:spcAft>
                <a:spcPts val="1100"/>
              </a:spcAft>
            </a:pPr>
            <a:r>
              <a:rPr sz="1600" b="1" i="0">
                <a:solidFill>
                  <a:srgbClr val="C45A11"/>
                </a:solidFill>
                <a:latin typeface="Cambria"/>
              </a:rPr>
              <a:t>The error</a:t>
            </a:r>
          </a:p>
          <a:p>
            <a:pPr>
              <a:spcAft>
                <a:spcPts val="1000"/>
              </a:spcAft>
            </a:pPr>
            <a:r>
              <a:rPr sz="1450" b="1" i="0">
                <a:solidFill>
                  <a:srgbClr val="2B2B2B"/>
                </a:solidFill>
                <a:latin typeface="Calibri"/>
              </a:rPr>
              <a:t>The legs were pushing the robot backwards while the gait believed it was going forwards.</a:t>
            </a:r>
          </a:p>
          <a:p>
            <a:pPr>
              <a:spcAft>
                <a:spcPts val="0"/>
              </a:spcAft>
            </a:pPr>
            <a:r>
              <a:rPr sz="1400" b="0" i="0">
                <a:solidFill>
                  <a:srgbClr val="2B2B2B"/>
                </a:solidFill>
                <a:latin typeface="Calibri"/>
              </a:rPr>
              <a:t>Commanded 8 cm/s forward, the planted foot was dragged at 16 cm/s the wrong way, on three legs at once.</a:t>
            </a:r>
          </a:p>
        </p:txBody>
      </p:sp>
      <p:sp>
        <p:nvSpPr>
          <p:cNvPr id="6" name="Rounded Rectangle 5"/>
          <p:cNvSpPr/>
          <p:nvPr/>
        </p:nvSpPr>
        <p:spPr>
          <a:xfrm>
            <a:off x="6263640" y="1874519"/>
            <a:ext cx="5349240" cy="28346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11112" y="2194560"/>
            <a:ext cx="4663440" cy="2377440"/>
          </a:xfrm>
          <a:prstGeom prst="rect">
            <a:avLst/>
          </a:prstGeom>
          <a:noFill/>
        </p:spPr>
        <p:txBody>
          <a:bodyPr wrap="square" lIns="0" rIns="0" tIns="0" bIns="0" anchor="t">
            <a:spAutoFit/>
          </a:bodyPr>
          <a:lstStyle/>
          <a:p>
            <a:pPr algn="l">
              <a:spcAft>
                <a:spcPts val="1100"/>
              </a:spcAft>
            </a:pPr>
            <a:r>
              <a:rPr sz="1600" b="1" i="0">
                <a:solidFill>
                  <a:srgbClr val="C45A11"/>
                </a:solidFill>
                <a:latin typeface="Cambria"/>
              </a:rPr>
              <a:t>Why our test missed it</a:t>
            </a:r>
          </a:p>
          <a:p>
            <a:pPr>
              <a:spcAft>
                <a:spcPts val="1000"/>
              </a:spcAft>
            </a:pPr>
            <a:r>
              <a:rPr sz="1450" b="0" i="0">
                <a:solidFill>
                  <a:srgbClr val="2B2B2B"/>
                </a:solidFill>
                <a:latin typeface="Calibri"/>
              </a:rPr>
              <a:t>It compared the distance the foot moved with the distance the body moved.</a:t>
            </a:r>
          </a:p>
          <a:p>
            <a:pPr>
              <a:spcAft>
                <a:spcPts val="0"/>
              </a:spcAft>
            </a:pPr>
            <a:r>
              <a:rPr sz="1400" b="0" i="0">
                <a:solidFill>
                  <a:srgbClr val="2B2B2B"/>
                </a:solidFill>
                <a:latin typeface="Calibri"/>
              </a:rPr>
              <a:t>Both are distances, and a distance has no direction. The test now checks direction as well, and both are fixed.</a:t>
            </a:r>
          </a:p>
        </p:txBody>
      </p:sp>
      <p:sp>
        <p:nvSpPr>
          <p:cNvPr id="8" name="TextBox 7"/>
          <p:cNvSpPr txBox="1"/>
          <p:nvPr/>
        </p:nvSpPr>
        <p:spPr>
          <a:xfrm>
            <a:off x="566928" y="4937760"/>
            <a:ext cx="11064240" cy="411480"/>
          </a:xfrm>
          <a:prstGeom prst="rect">
            <a:avLst/>
          </a:prstGeom>
          <a:noFill/>
        </p:spPr>
        <p:txBody>
          <a:bodyPr wrap="square" lIns="0" rIns="0" tIns="0" bIns="0" anchor="t">
            <a:spAutoFit/>
          </a:bodyPr>
          <a:lstStyle/>
          <a:p>
            <a:pPr algn="l">
              <a:spcAft>
                <a:spcPts val="0"/>
              </a:spcAft>
            </a:pPr>
            <a:r>
              <a:rPr sz="1250" b="0" i="1">
                <a:solidFill>
                  <a:srgbClr val="707070"/>
                </a:solidFill>
                <a:latin typeface="Calibri"/>
              </a:rPr>
              <a:t>Found by comparing our sign conventions against an independently written hexapod stack.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rIns="0" tIns="0" bIns="0" anchor="t">
            <a:spAutoFit/>
          </a:bodyPr>
          <a:lstStyle/>
          <a:p>
            <a:pPr algn="l">
              <a:spcAft>
                <a:spcPts val="0"/>
              </a:spcAft>
            </a:pPr>
            <a:r>
              <a:rPr sz="3100" b="1" i="0">
                <a:solidFill>
                  <a:srgbClr val="2B2B2B"/>
                </a:solidFill>
                <a:latin typeface="Cambria"/>
              </a:rPr>
              <a:t>Where we are</a:t>
            </a:r>
          </a:p>
        </p:txBody>
      </p:sp>
      <p:sp>
        <p:nvSpPr>
          <p:cNvPr id="3" name="Rounded Rectangle 2"/>
          <p:cNvSpPr/>
          <p:nvPr/>
        </p:nvSpPr>
        <p:spPr>
          <a:xfrm>
            <a:off x="566928" y="1874519"/>
            <a:ext cx="5394960" cy="38862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4709160" cy="3474720"/>
          </a:xfrm>
          <a:prstGeom prst="rect">
            <a:avLst/>
          </a:prstGeom>
          <a:noFill/>
        </p:spPr>
        <p:txBody>
          <a:bodyPr wrap="square" lIns="0" rIns="0" tIns="0" bIns="0" anchor="t">
            <a:spAutoFit/>
          </a:bodyPr>
          <a:lstStyle/>
          <a:p>
            <a:pPr algn="l">
              <a:spcAft>
                <a:spcPts val="1200"/>
              </a:spcAft>
            </a:pPr>
            <a:r>
              <a:rPr sz="1700" b="1" i="0">
                <a:solidFill>
                  <a:srgbClr val="C45A11"/>
                </a:solidFill>
                <a:latin typeface="Cambria"/>
              </a:rPr>
              <a:t>Completed</a:t>
            </a:r>
          </a:p>
          <a:p>
            <a:pPr>
              <a:spcAft>
                <a:spcPts val="800"/>
              </a:spcAft>
            </a:pPr>
            <a:r>
              <a:rPr sz="1400" b="0" i="0">
                <a:solidFill>
                  <a:srgbClr val="2B2B2B"/>
                </a:solidFill>
                <a:latin typeface="Calibri"/>
              </a:rPr>
              <a:t>•  All parts modelled in AutoCAD</a:t>
            </a:r>
          </a:p>
          <a:p>
            <a:pPr>
              <a:spcAft>
                <a:spcPts val="800"/>
              </a:spcAft>
            </a:pPr>
            <a:r>
              <a:rPr sz="1400" b="0" i="0">
                <a:solidFill>
                  <a:srgbClr val="2B2B2B"/>
                </a:solidFill>
                <a:latin typeface="Calibri"/>
              </a:rPr>
              <a:t>•  Structural analysis in ANSYS</a:t>
            </a:r>
          </a:p>
          <a:p>
            <a:pPr>
              <a:spcAft>
                <a:spcPts val="800"/>
              </a:spcAft>
            </a:pPr>
            <a:r>
              <a:rPr sz="1400" b="0" i="0">
                <a:solidFill>
                  <a:srgbClr val="2B2B2B"/>
                </a:solidFill>
                <a:latin typeface="Calibri"/>
              </a:rPr>
              <a:t>•  Foot trajectory studied in MATLAB</a:t>
            </a:r>
          </a:p>
          <a:p>
            <a:pPr>
              <a:spcAft>
                <a:spcPts val="800"/>
              </a:spcAft>
            </a:pPr>
            <a:r>
              <a:rPr sz="1400" b="0" i="0">
                <a:solidFill>
                  <a:srgbClr val="2B2B2B"/>
                </a:solidFill>
                <a:latin typeface="Calibri"/>
              </a:rPr>
              <a:t>•  Closed form kinematics, verified numerically</a:t>
            </a:r>
          </a:p>
          <a:p>
            <a:pPr>
              <a:spcAft>
                <a:spcPts val="800"/>
              </a:spcAft>
            </a:pPr>
            <a:r>
              <a:rPr sz="1400" b="0" i="0">
                <a:solidFill>
                  <a:srgbClr val="2B2B2B"/>
                </a:solidFill>
                <a:latin typeface="Calibri"/>
              </a:rPr>
              <a:t>•  Tripod gait, verified by 498 checks</a:t>
            </a:r>
          </a:p>
          <a:p>
            <a:pPr>
              <a:spcAft>
                <a:spcPts val="800"/>
              </a:spcAft>
            </a:pPr>
            <a:r>
              <a:rPr sz="1400" b="0" i="0">
                <a:solidFill>
                  <a:srgbClr val="2B2B2B"/>
                </a:solidFill>
                <a:latin typeface="Calibri"/>
              </a:rPr>
              <a:t>•  Full ROS 2 and Gazebo simulation</a:t>
            </a:r>
          </a:p>
          <a:p>
            <a:pPr>
              <a:spcAft>
                <a:spcPts val="800"/>
              </a:spcAft>
            </a:pPr>
            <a:r>
              <a:rPr sz="1400" b="0" i="0">
                <a:solidFill>
                  <a:srgbClr val="2B2B2B"/>
                </a:solidFill>
                <a:latin typeface="Calibri"/>
              </a:rPr>
              <a:t>•  Robot walks under our control</a:t>
            </a:r>
          </a:p>
        </p:txBody>
      </p:sp>
      <p:sp>
        <p:nvSpPr>
          <p:cNvPr id="5" name="Rounded Rectangle 4"/>
          <p:cNvSpPr/>
          <p:nvPr/>
        </p:nvSpPr>
        <p:spPr>
          <a:xfrm>
            <a:off x="6263640" y="1874519"/>
            <a:ext cx="5349240" cy="38862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11112" y="2194560"/>
            <a:ext cx="4663440" cy="3474720"/>
          </a:xfrm>
          <a:prstGeom prst="rect">
            <a:avLst/>
          </a:prstGeom>
          <a:noFill/>
        </p:spPr>
        <p:txBody>
          <a:bodyPr wrap="square" lIns="0" rIns="0" tIns="0" bIns="0" anchor="t">
            <a:spAutoFit/>
          </a:bodyPr>
          <a:lstStyle/>
          <a:p>
            <a:pPr algn="l">
              <a:spcAft>
                <a:spcPts val="1200"/>
              </a:spcAft>
            </a:pPr>
            <a:r>
              <a:rPr sz="1700" b="1" i="0">
                <a:solidFill>
                  <a:srgbClr val="C45A11"/>
                </a:solidFill>
                <a:latin typeface="Cambria"/>
              </a:rPr>
              <a:t>Next phase</a:t>
            </a:r>
          </a:p>
          <a:p>
            <a:pPr>
              <a:spcAft>
                <a:spcPts val="800"/>
              </a:spcAft>
            </a:pPr>
            <a:r>
              <a:rPr sz="1400" b="0" i="0">
                <a:solidFill>
                  <a:srgbClr val="2B2B2B"/>
                </a:solidFill>
                <a:latin typeface="Calibri"/>
              </a:rPr>
              <a:t>•  Walking under the full dynamic simulation</a:t>
            </a:r>
          </a:p>
          <a:p>
            <a:pPr>
              <a:spcAft>
                <a:spcPts val="800"/>
              </a:spcAft>
            </a:pPr>
            <a:r>
              <a:rPr sz="1400" b="0" i="0">
                <a:solidFill>
                  <a:srgbClr val="2B2B2B"/>
                </a:solidFill>
                <a:latin typeface="Calibri"/>
              </a:rPr>
              <a:t>•  Tuning the joint controllers</a:t>
            </a:r>
          </a:p>
          <a:p>
            <a:pPr>
              <a:spcAft>
                <a:spcPts val="800"/>
              </a:spcAft>
            </a:pPr>
            <a:r>
              <a:rPr sz="1400" b="0" i="0">
                <a:solidFill>
                  <a:srgbClr val="2B2B2B"/>
                </a:solidFill>
                <a:latin typeface="Calibri"/>
              </a:rPr>
              <a:t>•  Foot contact sensors to measure slip directly</a:t>
            </a:r>
          </a:p>
          <a:p>
            <a:pPr>
              <a:spcAft>
                <a:spcPts val="800"/>
              </a:spcAft>
            </a:pPr>
            <a:r>
              <a:rPr sz="1400" b="0" i="0">
                <a:solidFill>
                  <a:srgbClr val="2B2B2B"/>
                </a:solidFill>
                <a:latin typeface="Calibri"/>
              </a:rPr>
              <a:t>•  Writing the servo driver</a:t>
            </a:r>
          </a:p>
          <a:p>
            <a:pPr>
              <a:spcAft>
                <a:spcPts val="800"/>
              </a:spcAft>
            </a:pPr>
            <a:r>
              <a:rPr sz="1400" b="0" i="0">
                <a:solidFill>
                  <a:srgbClr val="2B2B2B"/>
                </a:solidFill>
                <a:latin typeface="Calibri"/>
              </a:rPr>
              <a:t>•  Assembling the physical robot</a:t>
            </a:r>
          </a:p>
          <a:p>
            <a:pPr>
              <a:spcAft>
                <a:spcPts val="800"/>
              </a:spcAft>
            </a:pPr>
            <a:r>
              <a:rPr sz="1400" b="0" i="0">
                <a:solidFill>
                  <a:srgbClr val="2B2B2B"/>
                </a:solidFill>
                <a:latin typeface="Calibri"/>
              </a:rPr>
              <a:t>•  Mapping and navigation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33383D"/>
        </a:solidFill>
        <a:effectLst/>
      </p:bgPr>
    </p:bg>
    <p:spTree>
      <p:nvGrpSpPr>
        <p:cNvPr id="1" name=""/>
        <p:cNvGrpSpPr/>
        <p:nvPr/>
      </p:nvGrpSpPr>
      <p:grpSpPr/>
      <p:sp>
        <p:nvSpPr>
          <p:cNvPr id="2" name="TextBox 1"/>
          <p:cNvSpPr txBox="1"/>
          <p:nvPr/>
        </p:nvSpPr>
        <p:spPr>
          <a:xfrm>
            <a:off x="914400" y="2743200"/>
            <a:ext cx="10332720" cy="914400"/>
          </a:xfrm>
          <a:prstGeom prst="rect">
            <a:avLst/>
          </a:prstGeom>
          <a:noFill/>
        </p:spPr>
        <p:txBody>
          <a:bodyPr wrap="square" lIns="0" rIns="0" tIns="0" bIns="0" anchor="t">
            <a:spAutoFit/>
          </a:bodyPr>
          <a:lstStyle/>
          <a:p>
            <a:pPr algn="l">
              <a:spcAft>
                <a:spcPts val="0"/>
              </a:spcAft>
            </a:pPr>
            <a:r>
              <a:rPr sz="4000" b="1" i="0">
                <a:solidFill>
                  <a:srgbClr val="FFFFFF"/>
                </a:solidFill>
                <a:latin typeface="Cambria"/>
              </a:rPr>
              <a:t>Thank you</a:t>
            </a:r>
          </a:p>
        </p:txBody>
      </p:sp>
      <p:sp>
        <p:nvSpPr>
          <p:cNvPr id="3" name="TextBox 2"/>
          <p:cNvSpPr txBox="1"/>
          <p:nvPr/>
        </p:nvSpPr>
        <p:spPr>
          <a:xfrm>
            <a:off x="914400" y="3749039"/>
            <a:ext cx="10332720" cy="548640"/>
          </a:xfrm>
          <a:prstGeom prst="rect">
            <a:avLst/>
          </a:prstGeom>
          <a:noFill/>
        </p:spPr>
        <p:txBody>
          <a:bodyPr wrap="square" lIns="0" rIns="0" tIns="0" bIns="0" anchor="t">
            <a:spAutoFit/>
          </a:bodyPr>
          <a:lstStyle/>
          <a:p>
            <a:pPr algn="l">
              <a:spcAft>
                <a:spcPts val="0"/>
              </a:spcAft>
            </a:pPr>
            <a:r>
              <a:rPr sz="1900" b="0" i="0">
                <a:solidFill>
                  <a:srgbClr val="E89A4F"/>
                </a:solidFill>
                <a:latin typeface="Calibr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