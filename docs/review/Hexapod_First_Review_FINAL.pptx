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6" r:id="rId12"/>
    <p:sldId id="267" r:id="rId13"/>
    <p:sldId id="268" r:id="rId14"/>
    <p:sldId id="269" r:id="rId15"/>
    <p:sldId id="270" r:id="rId16"/>
    <p:sldId id="271" r:id="rId17"/>
    <p:sldId id="272" r:id="rId18"/>
    <p:sldId id="273" r:id="rId19"/>
    <p:sldId id="274" r:id="rId20"/>
    <p:sldId id="275" r:id="rId21"/>
    <p:sldId id="279" r:id="rId22"/>
    <p:sldId id="282" r:id="rId23"/>
    <p:sldId id="283" r:id="rId24"/>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morning. We are presenting the first review of our final year project, an eighteen degree of freedom walking hexapod robot.</a:t>
            </a:r>
          </a:p>
          <a:p/>
          <a:p>
            <a:r>
              <a:t>We designed the robot in AutoCAD, analysed the parts in ANSYS, studied the foot trajectory in MATLAB, and built a full simulation in ROS 2 and Gazebo where it now walks under our control.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Why legs and not wheels. Wheels need continuous ground, legs only need places to put a foot.</a:t>
            </a:r>
          </a:p>
          <a:p/>
          <a:p>
            <a:r>
              <a:t>Why six legs. A robot is stable when its centre of mass sits inside the triangle of feet touching the ground. Three feet is the minimum for a triangle, so a hexapod can lift three legs and stay stable. Stability becomes something we CHECK with geometry rather than something we control every instant, like a biped must.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Our objectives. Read them, do not linger.</a:t>
            </a:r>
          </a:p>
          <a:p/>
          <a:p>
            <a:r>
              <a:t>Objective two is the mechanical core: an exact closed form solution for the leg, not a numerical one.</a:t>
            </a:r>
          </a:p>
          <a:p/>
          <a:p>
            <a:r>
              <a:t>Objective six is what matters for the next phase. The software is arranged so that moving to real servos is a settings change, not a rewrite.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is one leg. Three joints, named after insect anatomy, which is the convention in legged robotics.</a:t>
            </a:r>
          </a:p>
          <a:p/>
          <a:p>
            <a:r>
              <a:t>Coxa turns about a vertical axis and swings the leg sideways. Femur and tibia both turn about horizontal axes and move the foot in a vertical plane.</a:t>
            </a:r>
          </a:p>
          <a:p/>
          <a:p>
            <a:r>
              <a:t>Point at the CAD: the three pivots, and the servo mounting at each.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individual parts, all modelled by us in AutoCAD.</a:t>
            </a:r>
          </a:p>
          <a:p/>
          <a:p>
            <a:r>
              <a:t>The chassis is a hexagonal frame carrying six coxa servos, the battery and the electronics. The femur is a bracket. The tibia is the long reaching member that touches the ground.</a:t>
            </a:r>
          </a:p>
          <a:p/>
          <a:p>
            <a:r>
              <a:t>All parts are designed for 3D printing in PLA, which is what sets the masses we use in simulation.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Treating the leg as a mechanism. It is an open serial chain of three revolute joints, an RRR chain, so it has three degrees of freedom and can place its foot anywhere in a three dimensional workspace.</a:t>
            </a:r>
          </a:p>
          <a:p/>
          <a:p>
            <a:r>
              <a:t>The important structural point is the axis arrangement. The coxa axis is vertical. The femur and tibia axes are horizontal AND PARALLEL to each other. Because those two are parallel, everything beyond the coxa is confined to one vertical plane.</a:t>
            </a:r>
          </a:p>
          <a:p/>
          <a:p>
            <a:r>
              <a:t>In stance, three legs plus the ground and the body form closed kinematic chains, which is what carries the load.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Forward kinematics. Given the three joint angles, where is the foot.</a:t>
            </a:r>
          </a:p>
          <a:p/>
          <a:p>
            <a:r>
              <a:t>Work in the leg plane first. r is how far out the foot is from the coxa axis, z is how far down. Each term is one link projected onto that plane.</a:t>
            </a:r>
          </a:p>
          <a:p/>
          <a:p>
            <a:r>
              <a:t>Then lift it back into three dimensions by rotating through the coxa angle.</a:t>
            </a:r>
          </a:p>
          <a:p/>
          <a:p>
            <a:r>
              <a:t>The minus signs on z come from the axis convention: rotation about the positive Y axis carries the X direction toward negative Z, so a positive femur angle moves the foot DOWN. We kept the mathematically clean right handed axes and documented the consequence.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Inverse kinematics, the one that actually runs on the robot fifty times a second. Given where we want the foot, what should the joint angles be.</a:t>
            </a:r>
          </a:p>
          <a:p/>
          <a:p>
            <a:r>
              <a:t>Step one: the coxa is the only joint that can move the foot sideways, so its angle comes straight from the horizontal direction to the target.</a:t>
            </a:r>
          </a:p>
          <a:p/>
          <a:p>
            <a:r>
              <a:t>Step two: shift the origin out to the femur joint. Now it is two links reaching a point, and D is the straight line distance to it.</a:t>
            </a:r>
          </a:p>
          <a:p/>
          <a:p>
            <a:r>
              <a:t>Step three: the tibia angle from the law of cosines on the triangle made by the two link lengths and D.</a:t>
            </a:r>
          </a:p>
          <a:p/>
          <a:p>
            <a:r>
              <a:t>Step four: the femur angle is two angles added. Beta is the elevation of the target, psi is the angle between the femur and the line to the target.</a:t>
            </a:r>
          </a:p>
          <a:p/>
          <a:p>
            <a:r>
              <a:t>No iteration anywhere. Same number of operations every time.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masses that go into the simulation. These are calculated from the measured volume of each CAD part at PLA density, then the servo masses added.</a:t>
            </a:r>
          </a:p>
          <a:p/>
          <a:p>
            <a:r>
              <a:t>One detail that is easy to get backwards: a servo's mass belongs to the part it is BOLTED TO, not the part it drives. The tibia servo sits on the femur. All six coxa servos sit on the body.</a:t>
            </a:r>
          </a:p>
          <a:p/>
          <a:p>
            <a:r>
              <a:t>What matters most is not the absolute mass but the RATIO across each joint, because the physics solver inverts the mass matrix every step and its conditioning depends on those ratios.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Structural analysis in ANSYS on the loaded parts.</a:t>
            </a:r>
          </a:p>
          <a:p/>
          <a:p>
            <a:r>
              <a:t>The load case comes straight from the mass figure on the previous slide. The robot weighs 3.39 kg, it stands on three legs at a time, so each foot carries about 10.9 newtons.</a:t>
            </a:r>
          </a:p>
          <a:p/>
          <a:p>
            <a:r>
              <a:t>Give your peak stress and the factor of safety, then the maximum deflection. If the parts passed, say so plainly.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walking pattern. Six legs in two groups of three, exactly half a cycle apart. One group pushes while the other swings forward.</a:t>
            </a:r>
          </a:p>
          <a:p/>
          <a:p>
            <a:r>
              <a:t>The diagram: filled bars are feet on the ground. Read down any vertical line and you always cross exactly three filled bars. That is the stability condition, satisfied at every instant.</a:t>
            </a:r>
          </a:p>
          <a:p/>
          <a:p>
            <a:r>
              <a:t>The equation is the important part. We do not choose the step length. A foot on the ground must be still relative to the ground, so it has to travel backwards through the body frame at exactly the body's speed. That forces the stride.</a:t>
            </a:r>
          </a:p>
          <a:p/>
          <a:p>
            <a:r>
              <a:t>And because each leg sits at a different distance from the centre of rotation, each gets its own stride when turning. That single expression is why walking, strafing and turning are one piece of code.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path a foot follows through one full cycle, drawn in the leg plane.</a:t>
            </a:r>
          </a:p>
          <a:p/>
          <a:p>
            <a:r>
              <a:t>Orange is stance, a straight line along the ground, sweeping backwards to push the robot forwards. Blue is swing, lifting 45 mm clear and returning to the front.</a:t>
            </a:r>
          </a:p>
          <a:p/>
          <a:p>
            <a:r>
              <a:t>The equations define that shape. The vertical profile is a raised cosine, which arrives with zero downward speed. The horizontal profile is a cubic.</a:t>
            </a:r>
          </a:p>
          <a:p/>
          <a:p>
            <a:r>
              <a:t>The subtle part is the end slopes. We match them to the stance velocity, so the foot lands with zero speed relative to the GROUND. An earlier version landed with zero speed relative to the BODY, which sounds right but means the foot is moving at full body speed across the ground at the moment it touches.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plot is the proof that the gait is correct, and it is the one to dwell on.</a:t>
            </a:r>
          </a:p>
          <a:p/>
          <a:p>
            <a:r>
              <a:t>The vertical axis is the speed of the foot over the GROUND, not relative to the robot. During stance, shaded orange, it is exactly zero for the whole phase. The foot is planted and does not slide.</a:t>
            </a:r>
          </a:p>
          <a:p/>
          <a:p>
            <a:r>
              <a:t>During swing the foot moves, which is fine, it is in the air.</a:t>
            </a:r>
          </a:p>
          <a:p/>
          <a:p>
            <a:r>
              <a:t>If the stance part of this curve were not flat at zero, the robot would be scuffing its feet and losing energy and odometry. This is checked automatically at every phase, every time we change the code.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Now the MATLAB study. Before implementing anything we modelled the foot trajectory as a Bezier curve and analysed it.</a:t>
            </a:r>
          </a:p>
          <a:p/>
          <a:p>
            <a:r>
              <a:t>These two views show the path of one foot through a complete step. The dashed blue curve is the trajectory, the red marker is the foot. The left view is the full three dimensional path, the right shows the fore and aft travel against the reference line.</a:t>
            </a:r>
          </a:p>
          <a:p/>
          <a:p>
            <a:r>
              <a:t>What we take from it: the path is smooth and closed, it returns exactly to where it started, and the lift height and stride are set by the control points of the curve.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Differentiating that path gives velocity and acceleration through the step.</a:t>
            </a:r>
          </a:p>
          <a:p/>
          <a:p>
            <a:r>
              <a:t>Velocity: 174 mm/s at the start, falling to 135 at mid phase, back to 174 at the end. So the foot is fastest at the transitions and slowest in the middle of the curve.</a:t>
            </a:r>
          </a:p>
          <a:p/>
          <a:p>
            <a:r>
              <a:t>Acceleration: the same U shape, 345 down to 300 and back, in mm per second squared.</a:t>
            </a:r>
          </a:p>
          <a:p/>
          <a:p>
            <a:r>
              <a:t>Why we care. The peak velocity sets the speed a servo must be able to deliver. The peak acceleration, times the moving mass, gives the inertial load the servo has to overcome on top of holding the robot up. Both curves are continuous with no spikes, which is what you want, because a discontinuity here would be an impulsive load on the gearbox.</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Foot force through the step, from the same MATLAB model.</a:t>
            </a:r>
          </a:p>
          <a:p/>
          <a:p>
            <a:r>
              <a:t>The force is highest at the beginning and end of the phase and lowest in the middle, ranging from about 173 newtons down to 150.</a:t>
            </a:r>
          </a:p>
          <a:p/>
          <a:p>
            <a:r>
              <a:t>The shape follows the acceleration curve, which is what you expect: where the foot is being accelerated hardest, the force is largest.</a:t>
            </a:r>
          </a:p>
          <a:p/>
          <a:p>
            <a:r>
              <a:t>This is the number that sizes the joint. Combined with the link length it gives the torque the servo has to produce, and that is how we chose the servo class.</a:t>
            </a:r>
          </a:p>
          <a:p/>
          <a:p>
            <a:r>
              <a:t>If asked how the force is derived, say it is the loaded foot force through the trajectory from the MATLAB model, and that the static component is the 10.9 N per foot from the mass budget.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Finally the joint angles that produce that path. This is the inverse kinematics from earlier, applied along the whole trajectory.</a:t>
            </a:r>
          </a:p>
          <a:p/>
          <a:p>
            <a:r>
              <a:t>Top is the coxa, middle the femur, bottom the tibia, all in degrees against phase.</a:t>
            </a:r>
          </a:p>
          <a:p/>
          <a:p>
            <a:r>
              <a:t>The femur and tibia curves are smooth and stay within a modest range, roughly 30 degrees of travel, which is comfortably inside the joint limits.</a:t>
            </a:r>
          </a:p>
          <a:p/>
          <a:p>
            <a:r>
              <a:t>The coxa trace shows a change at mid phase where the leg switches from one side of its axis to the other. Note for us, not for the slide: that step is an angle wrap-around from atan2 and must be unwrapped before it is sent to a servo, or the joint would try to spin a full turn.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Turning the mechanical design into something the simulator can use.</a:t>
            </a:r>
          </a:p>
          <a:p/>
          <a:p>
            <a:r>
              <a:t>The CAD parts were exported as STL meshes and assembled into a URDF, which is the standard robot description format. It carries the shape of every part, the position and axis of all eighteen joints, the masses and inertias, and the joint limits.</a:t>
            </a:r>
          </a:p>
          <a:p/>
          <a:p>
            <a:r>
              <a:t>One choice worth mentioning: the robot LOOKS like the CAD meshes, but for contact and inertia we use simple boxes and cylinders. Full mesh contact across twenty five links would be about a thousand times slower, and the chassis mesh is not watertight so its inertia is not even defined.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simulation running. Left, the robot standing in the Gazebo world under gravity, holding its stance. Right, walking, with the markers giving a sense of distance travelled.</a:t>
            </a:r>
          </a:p>
          <a:p/>
          <a:p>
            <a:r>
              <a:t>What we verified in simulation: all eighteen joints respond individually and correctly, the robot holds its stance under its own weight with about two degrees of sag, the controller tracks commanded joint angles closely, and the tripod pattern keeps three feet down throughout.</a:t>
            </a:r>
          </a:p>
          <a:p/>
          <a:p>
            <a:r>
              <a:t>The robot is driven by keyboard teleoperation, exactly as it would be on hardware.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Where we are. Left column is finished and demonstrated today.</a:t>
            </a:r>
          </a:p>
          <a:p/>
          <a:p>
            <a:r>
              <a:t>Right column is what remains. Do not skip it. A clear statement of what is not yet done reads as competence.</a:t>
            </a:r>
          </a:p>
          <a:p/>
          <a:p>
            <a:r>
              <a:t>The main outstanding item is walking under the full dynamic simulation with our measured masses. We have measured the behaviour precisely and are working through it.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Thank you. Open for questions.</a:t>
            </a:r>
          </a:p>
          <a:p/>
          <a:p>
            <a:r>
              <a:t>The question to be ready for is whether the walking demonstration is real. Answer: the legs are driven by the real gait and the real inverse kinematics, nothing is animated, and the body moves by the amount those legs geometrically require, because we have proved the feet do not slip.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7.xml"/><Relationship Id="rId2" Type="http://schemas.openxmlformats.org/officeDocument/2006/relationships/image" Target="../media/image24.png"/><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3383D"/>
        </a:solidFill>
        <a:effectLst/>
      </p:bgPr>
    </p:bg>
    <p:spTree>
      <p:nvGrpSpPr>
        <p:cNvPr id="1" name=""/>
        <p:cNvGrpSpPr/>
        <p:nvPr/>
      </p:nvGrpSpPr>
      <p:grpSpPr/>
      <p:sp>
        <p:nvSpPr>
          <p:cNvPr id="2" name="TextBox 1"/>
          <p:cNvSpPr txBox="1"/>
          <p:nvPr/>
        </p:nvSpPr>
        <p:spPr>
          <a:xfrm>
            <a:off x="914400" y="2103120"/>
            <a:ext cx="10332720" cy="1097280"/>
          </a:xfrm>
          <a:prstGeom prst="rect">
            <a:avLst/>
          </a:prstGeom>
          <a:noFill/>
        </p:spPr>
        <p:txBody>
          <a:bodyPr wrap="square" lIns="0" tIns="0" rIns="0" bIns="0" anchor="t">
            <a:spAutoFit/>
          </a:bodyPr>
          <a:lstStyle/>
          <a:p>
            <a:pPr algn="l">
              <a:spcAft>
                <a:spcPts val="0"/>
              </a:spcAft>
            </a:pPr>
            <a:r>
              <a:rPr sz="3800" b="1" i="0">
                <a:solidFill>
                  <a:srgbClr val="FFFFFF"/>
                </a:solidFill>
                <a:latin typeface="Cambria" panose="02040503050406030204"/>
              </a:rPr>
              <a:t>18-DOF Walking Hexapod Robot</a:t>
            </a:r>
            <a:endParaRPr sz="3800" b="1" i="0">
              <a:solidFill>
                <a:srgbClr val="FFFFFF"/>
              </a:solidFill>
              <a:latin typeface="Cambria" panose="02040503050406030204"/>
            </a:endParaRPr>
          </a:p>
        </p:txBody>
      </p:sp>
      <p:sp>
        <p:nvSpPr>
          <p:cNvPr id="3" name="TextBox 2"/>
          <p:cNvSpPr txBox="1"/>
          <p:nvPr/>
        </p:nvSpPr>
        <p:spPr>
          <a:xfrm>
            <a:off x="914400" y="3063240"/>
            <a:ext cx="10332720" cy="548640"/>
          </a:xfrm>
          <a:prstGeom prst="rect">
            <a:avLst/>
          </a:prstGeom>
          <a:noFill/>
        </p:spPr>
        <p:txBody>
          <a:bodyPr wrap="square" lIns="0" tIns="0" rIns="0" bIns="0" anchor="t">
            <a:spAutoFit/>
          </a:bodyPr>
          <a:lstStyle/>
          <a:p>
            <a:pPr algn="l">
              <a:spcAft>
                <a:spcPts val="0"/>
              </a:spcAft>
            </a:pPr>
            <a:r>
              <a:rPr sz="1700" b="0" i="0">
                <a:solidFill>
                  <a:srgbClr val="CFCFCF"/>
                </a:solidFill>
                <a:latin typeface="Calibri" panose="020F0502020204030204"/>
              </a:rPr>
              <a:t>Design, Kinematic Analysis and Simulation in ROS 2 and Gazebo</a:t>
            </a:r>
            <a:endParaRPr sz="1700" b="0" i="0">
              <a:solidFill>
                <a:srgbClr val="CFCFCF"/>
              </a:solidFill>
              <a:latin typeface="Calibri" panose="020F0502020204030204"/>
            </a:endParaRPr>
          </a:p>
        </p:txBody>
      </p:sp>
      <p:sp>
        <p:nvSpPr>
          <p:cNvPr id="4" name="TextBox 3"/>
          <p:cNvSpPr txBox="1"/>
          <p:nvPr/>
        </p:nvSpPr>
        <p:spPr>
          <a:xfrm>
            <a:off x="914400" y="3749039"/>
            <a:ext cx="10332720" cy="457200"/>
          </a:xfrm>
          <a:prstGeom prst="rect">
            <a:avLst/>
          </a:prstGeom>
          <a:noFill/>
        </p:spPr>
        <p:txBody>
          <a:bodyPr wrap="square" lIns="0" tIns="0" rIns="0" bIns="0" anchor="t">
            <a:spAutoFit/>
          </a:bodyPr>
          <a:lstStyle/>
          <a:p>
            <a:pPr algn="l">
              <a:spcAft>
                <a:spcPts val="0"/>
              </a:spcAft>
            </a:pPr>
            <a:r>
              <a:rPr sz="1400" b="0" i="0">
                <a:solidFill>
                  <a:srgbClr val="E89A4F"/>
                </a:solidFill>
                <a:latin typeface="Calibri" panose="020F0502020204030204"/>
              </a:rPr>
              <a:t>First Review</a:t>
            </a:r>
            <a:endParaRPr sz="1400" b="0" i="0">
              <a:solidFill>
                <a:srgbClr val="E89A4F"/>
              </a:solidFill>
              <a:latin typeface="Calibri" panose="020F0502020204030204"/>
            </a:endParaRPr>
          </a:p>
        </p:txBody>
      </p:sp>
      <p:sp>
        <p:nvSpPr>
          <p:cNvPr id="5" name="TextBox 4"/>
          <p:cNvSpPr txBox="1"/>
          <p:nvPr/>
        </p:nvSpPr>
        <p:spPr>
          <a:xfrm>
            <a:off x="914400" y="4709160"/>
            <a:ext cx="10332720" cy="1554480"/>
          </a:xfrm>
          <a:prstGeom prst="rect">
            <a:avLst/>
          </a:prstGeom>
          <a:noFill/>
        </p:spPr>
        <p:txBody>
          <a:bodyPr wrap="square" lIns="0" tIns="0" rIns="0" bIns="0" anchor="t">
            <a:spAutoFit/>
          </a:bodyPr>
          <a:lstStyle/>
          <a:p>
            <a:pPr algn="l">
              <a:spcAft>
                <a:spcPts val="300"/>
              </a:spcAft>
            </a:pPr>
            <a:r>
              <a:rPr sz="1300" b="0" i="0">
                <a:solidFill>
                  <a:srgbClr val="DDDDDD"/>
                </a:solidFill>
                <a:latin typeface="Calibri" panose="020F0502020204030204"/>
              </a:rPr>
              <a:t>Pappu Sai Varun  (23BME7002)</a:t>
            </a:r>
            <a:endParaRPr sz="1300" b="0" i="0">
              <a:solidFill>
                <a:srgbClr val="DDDDDD"/>
              </a:solidFill>
              <a:latin typeface="Calibri" panose="020F0502020204030204"/>
            </a:endParaRPr>
          </a:p>
          <a:p>
            <a:pPr>
              <a:spcAft>
                <a:spcPts val="300"/>
              </a:spcAft>
            </a:pPr>
            <a:r>
              <a:rPr sz="1300" b="0" i="0">
                <a:solidFill>
                  <a:srgbClr val="DDDDDD"/>
                </a:solidFill>
                <a:latin typeface="Calibri" panose="020F0502020204030204"/>
              </a:rPr>
              <a:t>Akshay Veeranki  (23BME7009)</a:t>
            </a:r>
            <a:endParaRPr sz="1300" b="0" i="0">
              <a:solidFill>
                <a:srgbClr val="DDDDDD"/>
              </a:solidFill>
              <a:latin typeface="Calibri" panose="020F0502020204030204"/>
            </a:endParaRPr>
          </a:p>
          <a:p>
            <a:pPr>
              <a:spcAft>
                <a:spcPts val="300"/>
              </a:spcAft>
            </a:pPr>
            <a:r>
              <a:rPr sz="1300" b="0" i="0">
                <a:solidFill>
                  <a:srgbClr val="DDDDDD"/>
                </a:solidFill>
                <a:latin typeface="Calibri" panose="020F0502020204030204"/>
              </a:rPr>
              <a:t>Mohammed Shreyanshu Gumshi  (23BME7015)</a:t>
            </a:r>
            <a:endParaRPr sz="1300" b="0" i="0">
              <a:solidFill>
                <a:srgbClr val="DDDDDD"/>
              </a:solidFill>
              <a:latin typeface="Calibri" panose="020F0502020204030204"/>
            </a:endParaRPr>
          </a:p>
          <a:p>
            <a:pPr>
              <a:spcAft>
                <a:spcPts val="300"/>
              </a:spcAft>
            </a:pPr>
            <a:r>
              <a:rPr sz="1300" b="0" i="0">
                <a:solidFill>
                  <a:srgbClr val="DDDDDD"/>
                </a:solidFill>
                <a:latin typeface="Calibri" panose="020F0502020204030204"/>
              </a:rPr>
              <a:t>Tangirala Rushikesh  (23BME7073)</a:t>
            </a:r>
            <a:endParaRPr sz="1300" b="0" i="0">
              <a:solidFill>
                <a:srgbClr val="DDDDDD"/>
              </a:solidFill>
              <a:latin typeface="Calibri" panose="020F0502020204030204"/>
            </a:endParaRPr>
          </a:p>
          <a:p>
            <a:pPr>
              <a:spcAft>
                <a:spcPts val="300"/>
              </a:spcAft>
            </a:pPr>
            <a:r>
              <a:rPr sz="1300" b="1" i="0">
                <a:solidFill>
                  <a:srgbClr val="E89A4F"/>
                </a:solidFill>
                <a:latin typeface="Calibri" panose="020F0502020204030204"/>
              </a:rPr>
              <a:t>Guide: Dr Santosh Kumar Sahu</a:t>
            </a:r>
            <a:endParaRPr sz="1300" b="1" i="0">
              <a:solidFill>
                <a:srgbClr val="E89A4F"/>
              </a:solidFill>
              <a:latin typeface="Calibri" panose="020F0502020204030204"/>
            </a:endParaRPr>
          </a:p>
          <a:p>
            <a:pPr>
              <a:spcAft>
                <a:spcPts val="0"/>
              </a:spcAft>
            </a:pPr>
            <a:r>
              <a:rPr sz="1200" b="0" i="0">
                <a:solidFill>
                  <a:srgbClr val="A5A5A5"/>
                </a:solidFill>
                <a:latin typeface="Calibri" panose="020F0502020204030204"/>
              </a:rPr>
              <a:t>Department of Mechanical Engineering, VIT-AP University</a:t>
            </a:r>
            <a:endParaRPr sz="1200" b="0" i="0">
              <a:solidFill>
                <a:srgbClr val="A5A5A5"/>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Why a hexapod</a:t>
            </a:r>
            <a:endParaRPr sz="3100" b="1" i="0">
              <a:solidFill>
                <a:srgbClr val="2B2B2B"/>
              </a:solidFill>
              <a:latin typeface="Cambria" panose="02040503050406030204"/>
            </a:endParaRPr>
          </a:p>
        </p:txBody>
      </p:sp>
      <p:sp>
        <p:nvSpPr>
          <p:cNvPr id="3" name="TextBox 2"/>
          <p:cNvSpPr txBox="1"/>
          <p:nvPr/>
        </p:nvSpPr>
        <p:spPr>
          <a:xfrm>
            <a:off x="566928" y="1225296"/>
            <a:ext cx="11064240" cy="384048"/>
          </a:xfrm>
          <a:prstGeom prst="rect">
            <a:avLst/>
          </a:prstGeom>
          <a:noFill/>
        </p:spPr>
        <p:txBody>
          <a:bodyPr wrap="square" lIns="0" tIns="0" rIns="0" bIns="0" anchor="t">
            <a:spAutoFit/>
          </a:bodyPr>
          <a:lstStyle/>
          <a:p>
            <a:pPr algn="l">
              <a:spcAft>
                <a:spcPts val="0"/>
              </a:spcAft>
            </a:pPr>
            <a:r>
              <a:rPr sz="1400" b="0" i="0">
                <a:solidFill>
                  <a:srgbClr val="707070"/>
                </a:solidFill>
                <a:latin typeface="Calibri" panose="020F0502020204030204"/>
              </a:rPr>
              <a:t>Six legs turn balancing into a geometry problem</a:t>
            </a:r>
            <a:endParaRPr sz="1400" b="0" i="0">
              <a:solidFill>
                <a:srgbClr val="707070"/>
              </a:solidFill>
              <a:latin typeface="Calibri" panose="020F0502020204030204"/>
            </a:endParaRPr>
          </a:p>
        </p:txBody>
      </p:sp>
      <p:sp>
        <p:nvSpPr>
          <p:cNvPr id="4" name="TextBox 3"/>
          <p:cNvSpPr txBox="1"/>
          <p:nvPr/>
        </p:nvSpPr>
        <p:spPr>
          <a:xfrm>
            <a:off x="566928" y="1920240"/>
            <a:ext cx="4937760" cy="4114800"/>
          </a:xfrm>
          <a:prstGeom prst="rect">
            <a:avLst/>
          </a:prstGeom>
          <a:noFill/>
        </p:spPr>
        <p:txBody>
          <a:bodyPr wrap="square" lIns="0" tIns="0" rIns="0" bIns="0" anchor="t">
            <a:spAutoFit/>
          </a:bodyPr>
          <a:lstStyle/>
          <a:p>
            <a:pPr algn="l">
              <a:spcAft>
                <a:spcPts val="1300"/>
              </a:spcAft>
            </a:pPr>
            <a:r>
              <a:rPr sz="1500" b="0" i="0">
                <a:solidFill>
                  <a:srgbClr val="2B2B2B"/>
                </a:solidFill>
                <a:latin typeface="Calibri" panose="020F0502020204030204"/>
              </a:rPr>
              <a:t>•  Wheels need continuous ground. Legs only need somewhere to place a foot.</a:t>
            </a:r>
            <a:endParaRPr sz="1500" b="0" i="0">
              <a:solidFill>
                <a:srgbClr val="2B2B2B"/>
              </a:solidFill>
              <a:latin typeface="Calibri" panose="020F0502020204030204"/>
            </a:endParaRPr>
          </a:p>
          <a:p>
            <a:pPr>
              <a:spcAft>
                <a:spcPts val="1300"/>
              </a:spcAft>
            </a:pPr>
            <a:r>
              <a:rPr sz="1500" b="0" i="0">
                <a:solidFill>
                  <a:srgbClr val="2B2B2B"/>
                </a:solidFill>
                <a:latin typeface="Calibri" panose="020F0502020204030204"/>
              </a:rPr>
              <a:t>•  Stable when the centre of mass sits inside the triangle of feet on the ground.</a:t>
            </a:r>
            <a:endParaRPr sz="1500" b="0" i="0">
              <a:solidFill>
                <a:srgbClr val="2B2B2B"/>
              </a:solidFill>
              <a:latin typeface="Calibri" panose="020F0502020204030204"/>
            </a:endParaRPr>
          </a:p>
          <a:p>
            <a:pPr>
              <a:spcAft>
                <a:spcPts val="1300"/>
              </a:spcAft>
            </a:pPr>
            <a:r>
              <a:rPr sz="1500" b="0" i="0">
                <a:solidFill>
                  <a:srgbClr val="2B2B2B"/>
                </a:solidFill>
                <a:latin typeface="Calibri" panose="020F0502020204030204"/>
              </a:rPr>
              <a:t>•  Three feet is the minimum for a triangle, so three legs can lift at once.</a:t>
            </a:r>
            <a:endParaRPr sz="1500" b="0" i="0">
              <a:solidFill>
                <a:srgbClr val="2B2B2B"/>
              </a:solidFill>
              <a:latin typeface="Calibri" panose="020F0502020204030204"/>
            </a:endParaRPr>
          </a:p>
          <a:p>
            <a:pPr>
              <a:spcAft>
                <a:spcPts val="1300"/>
              </a:spcAft>
            </a:pPr>
            <a:r>
              <a:rPr sz="1500" b="0" i="0">
                <a:solidFill>
                  <a:srgbClr val="2B2B2B"/>
                </a:solidFill>
                <a:latin typeface="Calibri" panose="020F0502020204030204"/>
              </a:rPr>
              <a:t>•  Stability is checked with geometry, not controlled continuously.</a:t>
            </a:r>
            <a:endParaRPr sz="1500" b="0" i="0">
              <a:solidFill>
                <a:srgbClr val="2B2B2B"/>
              </a:solidFill>
              <a:latin typeface="Calibri" panose="020F0502020204030204"/>
            </a:endParaRPr>
          </a:p>
        </p:txBody>
      </p:sp>
      <p:pic>
        <p:nvPicPr>
          <p:cNvPr id="5" name="Picture 4" descr="c_image2.png"/>
          <p:cNvPicPr>
            <a:picLocks noChangeAspect="1"/>
          </p:cNvPicPr>
          <p:nvPr/>
        </p:nvPicPr>
        <p:blipFill>
          <a:blip r:embed="rId1"/>
          <a:stretch>
            <a:fillRect/>
          </a:stretch>
        </p:blipFill>
        <p:spPr>
          <a:xfrm>
            <a:off x="5943600" y="2610611"/>
            <a:ext cx="5669280" cy="2551176"/>
          </a:xfrm>
          <a:prstGeom prst="rect">
            <a:avLst/>
          </a:prstGeom>
        </p:spPr>
      </p:pic>
      <p:sp>
        <p:nvSpPr>
          <p:cNvPr id="6" name="TextBox 5"/>
          <p:cNvSpPr txBox="1"/>
          <p:nvPr/>
        </p:nvSpPr>
        <p:spPr>
          <a:xfrm>
            <a:off x="5943600" y="6053328"/>
            <a:ext cx="5669280" cy="320040"/>
          </a:xfrm>
          <a:prstGeom prst="rect">
            <a:avLst/>
          </a:prstGeom>
          <a:noFill/>
        </p:spPr>
        <p:txBody>
          <a:bodyPr wrap="square" lIns="0" tIns="0" rIns="0" bIns="0" anchor="t">
            <a:spAutoFit/>
          </a:bodyPr>
          <a:lstStyle/>
          <a:p>
            <a:pPr algn="ctr">
              <a:spcAft>
                <a:spcPts val="0"/>
              </a:spcAft>
            </a:pPr>
            <a:r>
              <a:rPr sz="1150" b="0" i="1">
                <a:solidFill>
                  <a:srgbClr val="707070"/>
                </a:solidFill>
                <a:latin typeface="Calibri" panose="020F0502020204030204"/>
              </a:rPr>
              <a:t>AutoCAD assembly, six legs about a hexagonal chassis</a:t>
            </a:r>
            <a:endParaRPr sz="1150" b="0" i="1">
              <a:solidFill>
                <a:srgbClr val="707070"/>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Objectives</a:t>
            </a:r>
            <a:endParaRPr sz="3100" b="1" i="0">
              <a:solidFill>
                <a:srgbClr val="2B2B2B"/>
              </a:solidFill>
              <a:latin typeface="Cambria" panose="02040503050406030204"/>
            </a:endParaRPr>
          </a:p>
        </p:txBody>
      </p:sp>
      <p:sp>
        <p:nvSpPr>
          <p:cNvPr id="3" name="Rounded Rectangle 2"/>
          <p:cNvSpPr/>
          <p:nvPr/>
        </p:nvSpPr>
        <p:spPr>
          <a:xfrm>
            <a:off x="566928" y="1874519"/>
            <a:ext cx="5349240" cy="1133856"/>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2130552"/>
            <a:ext cx="548640" cy="640080"/>
          </a:xfrm>
          <a:prstGeom prst="rect">
            <a:avLst/>
          </a:prstGeom>
          <a:noFill/>
        </p:spPr>
        <p:txBody>
          <a:bodyPr wrap="square" lIns="0" tIns="0" rIns="0" bIns="0" anchor="t">
            <a:spAutoFit/>
          </a:bodyPr>
          <a:lstStyle/>
          <a:p>
            <a:pPr algn="l">
              <a:spcAft>
                <a:spcPts val="0"/>
              </a:spcAft>
            </a:pPr>
            <a:r>
              <a:rPr sz="2300" b="1" i="0">
                <a:solidFill>
                  <a:srgbClr val="C45A11"/>
                </a:solidFill>
                <a:latin typeface="Cambria" panose="02040503050406030204"/>
              </a:rPr>
              <a:t>1</a:t>
            </a:r>
            <a:endParaRPr sz="2300" b="1" i="0">
              <a:solidFill>
                <a:srgbClr val="C45A11"/>
              </a:solidFill>
              <a:latin typeface="Cambria" panose="02040503050406030204"/>
            </a:endParaRPr>
          </a:p>
        </p:txBody>
      </p:sp>
      <p:sp>
        <p:nvSpPr>
          <p:cNvPr id="5" name="TextBox 4"/>
          <p:cNvSpPr txBox="1"/>
          <p:nvPr/>
        </p:nvSpPr>
        <p:spPr>
          <a:xfrm>
            <a:off x="1481328" y="2057400"/>
            <a:ext cx="4206240" cy="868680"/>
          </a:xfrm>
          <a:prstGeom prst="rect">
            <a:avLst/>
          </a:prstGeom>
          <a:noFill/>
        </p:spPr>
        <p:txBody>
          <a:bodyPr wrap="square" lIns="0" tIns="0" rIns="0" bIns="0" anchor="t">
            <a:spAutoFit/>
          </a:bodyPr>
          <a:lstStyle/>
          <a:p>
            <a:pPr algn="l">
              <a:spcAft>
                <a:spcPts val="400"/>
              </a:spcAft>
            </a:pPr>
            <a:r>
              <a:rPr sz="1500" b="1" i="0">
                <a:solidFill>
                  <a:srgbClr val="2B2B2B"/>
                </a:solidFill>
                <a:latin typeface="Calibri" panose="020F0502020204030204"/>
              </a:rPr>
              <a:t>Accurate model</a:t>
            </a:r>
            <a:endParaRPr sz="1500" b="1" i="0">
              <a:solidFill>
                <a:srgbClr val="2B2B2B"/>
              </a:solidFill>
              <a:latin typeface="Calibri" panose="020F0502020204030204"/>
            </a:endParaRPr>
          </a:p>
          <a:p>
            <a:pPr>
              <a:spcAft>
                <a:spcPts val="0"/>
              </a:spcAft>
            </a:pPr>
            <a:r>
              <a:rPr sz="1200" b="0" i="0">
                <a:solidFill>
                  <a:srgbClr val="707070"/>
                </a:solidFill>
                <a:latin typeface="Calibri" panose="020F0502020204030204"/>
              </a:rPr>
              <a:t>AutoCAD to ROS 2, with measured masses and inertia</a:t>
            </a:r>
            <a:endParaRPr sz="1200" b="0" i="0">
              <a:solidFill>
                <a:srgbClr val="707070"/>
              </a:solidFill>
              <a:latin typeface="Calibri" panose="020F0502020204030204"/>
            </a:endParaRPr>
          </a:p>
        </p:txBody>
      </p:sp>
      <p:sp>
        <p:nvSpPr>
          <p:cNvPr id="6" name="Rounded Rectangle 5"/>
          <p:cNvSpPr/>
          <p:nvPr/>
        </p:nvSpPr>
        <p:spPr>
          <a:xfrm>
            <a:off x="6236208" y="1874519"/>
            <a:ext cx="5349240" cy="1133856"/>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10528" y="2130552"/>
            <a:ext cx="548640" cy="640080"/>
          </a:xfrm>
          <a:prstGeom prst="rect">
            <a:avLst/>
          </a:prstGeom>
          <a:noFill/>
        </p:spPr>
        <p:txBody>
          <a:bodyPr wrap="square" lIns="0" tIns="0" rIns="0" bIns="0" anchor="t">
            <a:spAutoFit/>
          </a:bodyPr>
          <a:lstStyle/>
          <a:p>
            <a:pPr algn="l">
              <a:spcAft>
                <a:spcPts val="0"/>
              </a:spcAft>
            </a:pPr>
            <a:r>
              <a:rPr sz="2300" b="1" i="0">
                <a:solidFill>
                  <a:srgbClr val="C45A11"/>
                </a:solidFill>
                <a:latin typeface="Cambria" panose="02040503050406030204"/>
              </a:rPr>
              <a:t>2</a:t>
            </a:r>
            <a:endParaRPr sz="2300" b="1" i="0">
              <a:solidFill>
                <a:srgbClr val="C45A11"/>
              </a:solidFill>
              <a:latin typeface="Cambria" panose="02040503050406030204"/>
            </a:endParaRPr>
          </a:p>
        </p:txBody>
      </p:sp>
      <p:sp>
        <p:nvSpPr>
          <p:cNvPr id="8" name="TextBox 7"/>
          <p:cNvSpPr txBox="1"/>
          <p:nvPr/>
        </p:nvSpPr>
        <p:spPr>
          <a:xfrm>
            <a:off x="7150608" y="2057400"/>
            <a:ext cx="4206240" cy="868680"/>
          </a:xfrm>
          <a:prstGeom prst="rect">
            <a:avLst/>
          </a:prstGeom>
          <a:noFill/>
        </p:spPr>
        <p:txBody>
          <a:bodyPr wrap="square" lIns="0" tIns="0" rIns="0" bIns="0" anchor="t">
            <a:spAutoFit/>
          </a:bodyPr>
          <a:lstStyle/>
          <a:p>
            <a:pPr algn="l">
              <a:spcAft>
                <a:spcPts val="400"/>
              </a:spcAft>
            </a:pPr>
            <a:r>
              <a:rPr sz="1500" b="1" i="0">
                <a:solidFill>
                  <a:srgbClr val="2B2B2B"/>
                </a:solidFill>
                <a:latin typeface="Calibri" panose="020F0502020204030204"/>
              </a:rPr>
              <a:t>Solve the leg exactly</a:t>
            </a:r>
            <a:endParaRPr sz="1500" b="1" i="0">
              <a:solidFill>
                <a:srgbClr val="2B2B2B"/>
              </a:solidFill>
              <a:latin typeface="Calibri" panose="020F0502020204030204"/>
            </a:endParaRPr>
          </a:p>
          <a:p>
            <a:pPr>
              <a:spcAft>
                <a:spcPts val="0"/>
              </a:spcAft>
            </a:pPr>
            <a:r>
              <a:rPr sz="1200" b="0" i="0">
                <a:solidFill>
                  <a:srgbClr val="707070"/>
                </a:solidFill>
                <a:latin typeface="Calibri" panose="020F0502020204030204"/>
              </a:rPr>
              <a:t>Closed form forward and inverse kinematics</a:t>
            </a:r>
            <a:endParaRPr sz="1200" b="0" i="0">
              <a:solidFill>
                <a:srgbClr val="707070"/>
              </a:solidFill>
              <a:latin typeface="Calibri" panose="020F0502020204030204"/>
            </a:endParaRPr>
          </a:p>
        </p:txBody>
      </p:sp>
      <p:sp>
        <p:nvSpPr>
          <p:cNvPr id="9" name="Rounded Rectangle 8"/>
          <p:cNvSpPr/>
          <p:nvPr/>
        </p:nvSpPr>
        <p:spPr>
          <a:xfrm>
            <a:off x="566928" y="3227832"/>
            <a:ext cx="5349240" cy="1133856"/>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3483863"/>
            <a:ext cx="548640" cy="640080"/>
          </a:xfrm>
          <a:prstGeom prst="rect">
            <a:avLst/>
          </a:prstGeom>
          <a:noFill/>
        </p:spPr>
        <p:txBody>
          <a:bodyPr wrap="square" lIns="0" tIns="0" rIns="0" bIns="0" anchor="t">
            <a:spAutoFit/>
          </a:bodyPr>
          <a:lstStyle/>
          <a:p>
            <a:pPr algn="l">
              <a:spcAft>
                <a:spcPts val="0"/>
              </a:spcAft>
            </a:pPr>
            <a:r>
              <a:rPr sz="2300" b="1" i="0">
                <a:solidFill>
                  <a:srgbClr val="C45A11"/>
                </a:solidFill>
                <a:latin typeface="Cambria" panose="02040503050406030204"/>
              </a:rPr>
              <a:t>3</a:t>
            </a:r>
            <a:endParaRPr sz="2300" b="1" i="0">
              <a:solidFill>
                <a:srgbClr val="C45A11"/>
              </a:solidFill>
              <a:latin typeface="Cambria" panose="02040503050406030204"/>
            </a:endParaRPr>
          </a:p>
        </p:txBody>
      </p:sp>
      <p:sp>
        <p:nvSpPr>
          <p:cNvPr id="11" name="TextBox 10"/>
          <p:cNvSpPr txBox="1"/>
          <p:nvPr/>
        </p:nvSpPr>
        <p:spPr>
          <a:xfrm>
            <a:off x="1481328" y="3410712"/>
            <a:ext cx="4206240" cy="868680"/>
          </a:xfrm>
          <a:prstGeom prst="rect">
            <a:avLst/>
          </a:prstGeom>
          <a:noFill/>
        </p:spPr>
        <p:txBody>
          <a:bodyPr wrap="square" lIns="0" tIns="0" rIns="0" bIns="0" anchor="t">
            <a:spAutoFit/>
          </a:bodyPr>
          <a:lstStyle/>
          <a:p>
            <a:pPr algn="l">
              <a:spcAft>
                <a:spcPts val="400"/>
              </a:spcAft>
            </a:pPr>
            <a:r>
              <a:rPr sz="1500" b="1" i="0">
                <a:solidFill>
                  <a:srgbClr val="2B2B2B"/>
                </a:solidFill>
                <a:latin typeface="Calibri" panose="020F0502020204030204"/>
              </a:rPr>
              <a:t>Analyse the motion</a:t>
            </a:r>
            <a:endParaRPr sz="1500" b="1" i="0">
              <a:solidFill>
                <a:srgbClr val="2B2B2B"/>
              </a:solidFill>
              <a:latin typeface="Calibri" panose="020F0502020204030204"/>
            </a:endParaRPr>
          </a:p>
          <a:p>
            <a:pPr>
              <a:spcAft>
                <a:spcPts val="0"/>
              </a:spcAft>
            </a:pPr>
            <a:r>
              <a:rPr sz="1200" b="0" i="0">
                <a:solidFill>
                  <a:srgbClr val="707070"/>
                </a:solidFill>
                <a:latin typeface="Calibri" panose="020F0502020204030204"/>
              </a:rPr>
              <a:t>Foot path, velocity, acceleration and force in MATLAB</a:t>
            </a:r>
            <a:endParaRPr sz="1200" b="0" i="0">
              <a:solidFill>
                <a:srgbClr val="707070"/>
              </a:solidFill>
              <a:latin typeface="Calibri" panose="020F0502020204030204"/>
            </a:endParaRPr>
          </a:p>
        </p:txBody>
      </p:sp>
      <p:sp>
        <p:nvSpPr>
          <p:cNvPr id="12" name="Rounded Rectangle 11"/>
          <p:cNvSpPr/>
          <p:nvPr/>
        </p:nvSpPr>
        <p:spPr>
          <a:xfrm>
            <a:off x="6236208" y="3227832"/>
            <a:ext cx="5349240" cy="1133856"/>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3483863"/>
            <a:ext cx="548640" cy="640080"/>
          </a:xfrm>
          <a:prstGeom prst="rect">
            <a:avLst/>
          </a:prstGeom>
          <a:noFill/>
        </p:spPr>
        <p:txBody>
          <a:bodyPr wrap="square" lIns="0" tIns="0" rIns="0" bIns="0" anchor="t">
            <a:spAutoFit/>
          </a:bodyPr>
          <a:lstStyle/>
          <a:p>
            <a:pPr algn="l">
              <a:spcAft>
                <a:spcPts val="0"/>
              </a:spcAft>
            </a:pPr>
            <a:r>
              <a:rPr sz="2300" b="1" i="0">
                <a:solidFill>
                  <a:srgbClr val="C45A11"/>
                </a:solidFill>
                <a:latin typeface="Cambria" panose="02040503050406030204"/>
              </a:rPr>
              <a:t>4</a:t>
            </a:r>
            <a:endParaRPr sz="2300" b="1" i="0">
              <a:solidFill>
                <a:srgbClr val="C45A11"/>
              </a:solidFill>
              <a:latin typeface="Cambria" panose="02040503050406030204"/>
            </a:endParaRPr>
          </a:p>
        </p:txBody>
      </p:sp>
      <p:sp>
        <p:nvSpPr>
          <p:cNvPr id="14" name="TextBox 13"/>
          <p:cNvSpPr txBox="1"/>
          <p:nvPr/>
        </p:nvSpPr>
        <p:spPr>
          <a:xfrm>
            <a:off x="7150608" y="3410712"/>
            <a:ext cx="4206240" cy="868680"/>
          </a:xfrm>
          <a:prstGeom prst="rect">
            <a:avLst/>
          </a:prstGeom>
          <a:noFill/>
        </p:spPr>
        <p:txBody>
          <a:bodyPr wrap="square" lIns="0" tIns="0" rIns="0" bIns="0" anchor="t">
            <a:spAutoFit/>
          </a:bodyPr>
          <a:lstStyle/>
          <a:p>
            <a:pPr algn="l">
              <a:spcAft>
                <a:spcPts val="400"/>
              </a:spcAft>
            </a:pPr>
            <a:r>
              <a:rPr sz="1500" b="1" i="0">
                <a:solidFill>
                  <a:srgbClr val="2B2B2B"/>
                </a:solidFill>
                <a:latin typeface="Calibri" panose="020F0502020204030204"/>
              </a:rPr>
              <a:t>Check the structure</a:t>
            </a:r>
            <a:endParaRPr sz="1500" b="1" i="0">
              <a:solidFill>
                <a:srgbClr val="2B2B2B"/>
              </a:solidFill>
              <a:latin typeface="Calibri" panose="020F0502020204030204"/>
            </a:endParaRPr>
          </a:p>
          <a:p>
            <a:pPr>
              <a:spcAft>
                <a:spcPts val="0"/>
              </a:spcAft>
            </a:pPr>
            <a:r>
              <a:rPr sz="1200" b="0" i="0">
                <a:solidFill>
                  <a:srgbClr val="707070"/>
                </a:solidFill>
                <a:latin typeface="Calibri" panose="020F0502020204030204"/>
              </a:rPr>
              <a:t>ANSYS on the loaded parts</a:t>
            </a:r>
            <a:endParaRPr sz="1200" b="0" i="0">
              <a:solidFill>
                <a:srgbClr val="707070"/>
              </a:solidFill>
              <a:latin typeface="Calibri" panose="020F0502020204030204"/>
            </a:endParaRPr>
          </a:p>
        </p:txBody>
      </p:sp>
      <p:sp>
        <p:nvSpPr>
          <p:cNvPr id="15" name="Rounded Rectangle 14"/>
          <p:cNvSpPr/>
          <p:nvPr/>
        </p:nvSpPr>
        <p:spPr>
          <a:xfrm>
            <a:off x="566928" y="4581144"/>
            <a:ext cx="5349240" cy="1133856"/>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4837176"/>
            <a:ext cx="548640" cy="640080"/>
          </a:xfrm>
          <a:prstGeom prst="rect">
            <a:avLst/>
          </a:prstGeom>
          <a:noFill/>
        </p:spPr>
        <p:txBody>
          <a:bodyPr wrap="square" lIns="0" tIns="0" rIns="0" bIns="0" anchor="t">
            <a:spAutoFit/>
          </a:bodyPr>
          <a:lstStyle/>
          <a:p>
            <a:pPr algn="l">
              <a:spcAft>
                <a:spcPts val="0"/>
              </a:spcAft>
            </a:pPr>
            <a:r>
              <a:rPr sz="2300" b="1" i="0">
                <a:solidFill>
                  <a:srgbClr val="C45A11"/>
                </a:solidFill>
                <a:latin typeface="Cambria" panose="02040503050406030204"/>
              </a:rPr>
              <a:t>5</a:t>
            </a:r>
            <a:endParaRPr sz="2300" b="1" i="0">
              <a:solidFill>
                <a:srgbClr val="C45A11"/>
              </a:solidFill>
              <a:latin typeface="Cambria" panose="02040503050406030204"/>
            </a:endParaRPr>
          </a:p>
        </p:txBody>
      </p:sp>
      <p:sp>
        <p:nvSpPr>
          <p:cNvPr id="17" name="TextBox 16"/>
          <p:cNvSpPr txBox="1"/>
          <p:nvPr/>
        </p:nvSpPr>
        <p:spPr>
          <a:xfrm>
            <a:off x="1481328" y="4764024"/>
            <a:ext cx="4206240" cy="868680"/>
          </a:xfrm>
          <a:prstGeom prst="rect">
            <a:avLst/>
          </a:prstGeom>
          <a:noFill/>
        </p:spPr>
        <p:txBody>
          <a:bodyPr wrap="square" lIns="0" tIns="0" rIns="0" bIns="0" anchor="t">
            <a:spAutoFit/>
          </a:bodyPr>
          <a:lstStyle/>
          <a:p>
            <a:pPr algn="l">
              <a:spcAft>
                <a:spcPts val="400"/>
              </a:spcAft>
            </a:pPr>
            <a:r>
              <a:rPr sz="1500" b="1" i="0">
                <a:solidFill>
                  <a:srgbClr val="2B2B2B"/>
                </a:solidFill>
                <a:latin typeface="Calibri" panose="020F0502020204030204"/>
              </a:rPr>
              <a:t>Make it walk</a:t>
            </a:r>
            <a:endParaRPr sz="1500" b="1" i="0">
              <a:solidFill>
                <a:srgbClr val="2B2B2B"/>
              </a:solidFill>
              <a:latin typeface="Calibri" panose="020F0502020204030204"/>
            </a:endParaRPr>
          </a:p>
          <a:p>
            <a:pPr>
              <a:spcAft>
                <a:spcPts val="0"/>
              </a:spcAft>
            </a:pPr>
            <a:r>
              <a:rPr sz="1200" b="0" i="0">
                <a:solidFill>
                  <a:srgbClr val="707070"/>
                </a:solidFill>
                <a:latin typeface="Calibri" panose="020F0502020204030204"/>
              </a:rPr>
              <a:t>Tripod gait from a velocity command, simulated in Gazebo</a:t>
            </a:r>
            <a:endParaRPr sz="1200" b="0" i="0">
              <a:solidFill>
                <a:srgbClr val="707070"/>
              </a:solidFill>
              <a:latin typeface="Calibri" panose="020F0502020204030204"/>
            </a:endParaRPr>
          </a:p>
        </p:txBody>
      </p:sp>
      <p:sp>
        <p:nvSpPr>
          <p:cNvPr id="18" name="Rounded Rectangle 17"/>
          <p:cNvSpPr/>
          <p:nvPr/>
        </p:nvSpPr>
        <p:spPr>
          <a:xfrm>
            <a:off x="6236208" y="4581144"/>
            <a:ext cx="5349240" cy="1133856"/>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8" y="4837176"/>
            <a:ext cx="548640" cy="640080"/>
          </a:xfrm>
          <a:prstGeom prst="rect">
            <a:avLst/>
          </a:prstGeom>
          <a:noFill/>
        </p:spPr>
        <p:txBody>
          <a:bodyPr wrap="square" lIns="0" tIns="0" rIns="0" bIns="0" anchor="t">
            <a:spAutoFit/>
          </a:bodyPr>
          <a:lstStyle/>
          <a:p>
            <a:pPr algn="l">
              <a:spcAft>
                <a:spcPts val="0"/>
              </a:spcAft>
            </a:pPr>
            <a:r>
              <a:rPr sz="2300" b="1" i="0">
                <a:solidFill>
                  <a:srgbClr val="C45A11"/>
                </a:solidFill>
                <a:latin typeface="Cambria" panose="02040503050406030204"/>
              </a:rPr>
              <a:t>6</a:t>
            </a:r>
            <a:endParaRPr sz="2300" b="1" i="0">
              <a:solidFill>
                <a:srgbClr val="C45A11"/>
              </a:solidFill>
              <a:latin typeface="Cambria" panose="02040503050406030204"/>
            </a:endParaRPr>
          </a:p>
        </p:txBody>
      </p:sp>
      <p:sp>
        <p:nvSpPr>
          <p:cNvPr id="20" name="TextBox 19"/>
          <p:cNvSpPr txBox="1"/>
          <p:nvPr/>
        </p:nvSpPr>
        <p:spPr>
          <a:xfrm>
            <a:off x="7150608" y="4764024"/>
            <a:ext cx="4206240" cy="868680"/>
          </a:xfrm>
          <a:prstGeom prst="rect">
            <a:avLst/>
          </a:prstGeom>
          <a:noFill/>
        </p:spPr>
        <p:txBody>
          <a:bodyPr wrap="square" lIns="0" tIns="0" rIns="0" bIns="0" anchor="t">
            <a:spAutoFit/>
          </a:bodyPr>
          <a:lstStyle/>
          <a:p>
            <a:pPr algn="l">
              <a:spcAft>
                <a:spcPts val="400"/>
              </a:spcAft>
            </a:pPr>
            <a:r>
              <a:rPr sz="1500" b="1" i="0">
                <a:solidFill>
                  <a:srgbClr val="2B2B2B"/>
                </a:solidFill>
                <a:latin typeface="Calibri" panose="020F0502020204030204"/>
              </a:rPr>
              <a:t>Stay hardware ready</a:t>
            </a:r>
            <a:endParaRPr sz="1500" b="1" i="0">
              <a:solidFill>
                <a:srgbClr val="2B2B2B"/>
              </a:solidFill>
              <a:latin typeface="Calibri" panose="020F0502020204030204"/>
            </a:endParaRPr>
          </a:p>
          <a:p>
            <a:pPr>
              <a:spcAft>
                <a:spcPts val="0"/>
              </a:spcAft>
            </a:pPr>
            <a:r>
              <a:rPr sz="1200" b="0" i="0">
                <a:solidFill>
                  <a:srgbClr val="707070"/>
                </a:solidFill>
                <a:latin typeface="Calibri" panose="020F0502020204030204"/>
              </a:rPr>
              <a:t>Moving to servos is a settings change</a:t>
            </a:r>
            <a:endParaRPr sz="1200" b="0" i="0">
              <a:solidFill>
                <a:srgbClr val="707070"/>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The leg</a:t>
            </a:r>
            <a:endParaRPr sz="3100" b="1" i="0">
              <a:solidFill>
                <a:srgbClr val="2B2B2B"/>
              </a:solidFill>
              <a:latin typeface="Cambria" panose="02040503050406030204"/>
            </a:endParaRPr>
          </a:p>
        </p:txBody>
      </p:sp>
      <p:sp>
        <p:nvSpPr>
          <p:cNvPr id="3" name="TextBox 2"/>
          <p:cNvSpPr txBox="1"/>
          <p:nvPr/>
        </p:nvSpPr>
        <p:spPr>
          <a:xfrm>
            <a:off x="566928" y="1225296"/>
            <a:ext cx="11064240" cy="384048"/>
          </a:xfrm>
          <a:prstGeom prst="rect">
            <a:avLst/>
          </a:prstGeom>
          <a:noFill/>
        </p:spPr>
        <p:txBody>
          <a:bodyPr wrap="square" lIns="0" tIns="0" rIns="0" bIns="0" anchor="t">
            <a:spAutoFit/>
          </a:bodyPr>
          <a:lstStyle/>
          <a:p>
            <a:pPr algn="l">
              <a:spcAft>
                <a:spcPts val="0"/>
              </a:spcAft>
            </a:pPr>
            <a:r>
              <a:rPr sz="1400" b="0" i="0">
                <a:solidFill>
                  <a:srgbClr val="707070"/>
                </a:solidFill>
                <a:latin typeface="Calibri" panose="020F0502020204030204"/>
              </a:rPr>
              <a:t>Three joints per leg, eighteen in the robot</a:t>
            </a:r>
            <a:endParaRPr sz="1400" b="0" i="0">
              <a:solidFill>
                <a:srgbClr val="707070"/>
              </a:solidFill>
              <a:latin typeface="Calibri" panose="020F0502020204030204"/>
            </a:endParaRPr>
          </a:p>
        </p:txBody>
      </p:sp>
      <p:pic>
        <p:nvPicPr>
          <p:cNvPr id="4" name="Picture 3" descr="c_image1.png"/>
          <p:cNvPicPr>
            <a:picLocks noChangeAspect="1"/>
          </p:cNvPicPr>
          <p:nvPr/>
        </p:nvPicPr>
        <p:blipFill>
          <a:blip r:embed="rId1"/>
          <a:stretch>
            <a:fillRect/>
          </a:stretch>
        </p:blipFill>
        <p:spPr>
          <a:xfrm>
            <a:off x="566928" y="2407125"/>
            <a:ext cx="6766560" cy="2866708"/>
          </a:xfrm>
          <a:prstGeom prst="rect">
            <a:avLst/>
          </a:prstGeom>
        </p:spPr>
      </p:pic>
      <p:sp>
        <p:nvSpPr>
          <p:cNvPr id="5" name="TextBox 4"/>
          <p:cNvSpPr txBox="1"/>
          <p:nvPr/>
        </p:nvSpPr>
        <p:spPr>
          <a:xfrm>
            <a:off x="566928" y="5961888"/>
            <a:ext cx="6766560" cy="320040"/>
          </a:xfrm>
          <a:prstGeom prst="rect">
            <a:avLst/>
          </a:prstGeom>
          <a:noFill/>
        </p:spPr>
        <p:txBody>
          <a:bodyPr wrap="square" lIns="0" tIns="0" rIns="0" bIns="0" anchor="t">
            <a:spAutoFit/>
          </a:bodyPr>
          <a:lstStyle/>
          <a:p>
            <a:pPr algn="ctr">
              <a:spcAft>
                <a:spcPts val="0"/>
              </a:spcAft>
            </a:pPr>
            <a:r>
              <a:rPr sz="1150" b="0" i="1">
                <a:solidFill>
                  <a:srgbClr val="707070"/>
                </a:solidFill>
                <a:latin typeface="Calibri" panose="020F0502020204030204"/>
              </a:rPr>
              <a:t>AutoCAD, single leg assembly</a:t>
            </a:r>
            <a:endParaRPr sz="1150" b="0" i="1">
              <a:solidFill>
                <a:srgbClr val="707070"/>
              </a:solidFill>
              <a:latin typeface="Calibri" panose="020F0502020204030204"/>
            </a:endParaRPr>
          </a:p>
        </p:txBody>
      </p:sp>
      <p:sp>
        <p:nvSpPr>
          <p:cNvPr id="6" name="TextBox 5"/>
          <p:cNvSpPr txBox="1"/>
          <p:nvPr/>
        </p:nvSpPr>
        <p:spPr>
          <a:xfrm>
            <a:off x="7680960" y="1874519"/>
            <a:ext cx="3931920" cy="2011680"/>
          </a:xfrm>
          <a:prstGeom prst="rect">
            <a:avLst/>
          </a:prstGeom>
          <a:noFill/>
        </p:spPr>
        <p:txBody>
          <a:bodyPr wrap="square" lIns="0" tIns="0" rIns="0" bIns="0" anchor="t">
            <a:spAutoFit/>
          </a:bodyPr>
          <a:lstStyle/>
          <a:p>
            <a:pPr algn="l">
              <a:spcAft>
                <a:spcPts val="1100"/>
              </a:spcAft>
            </a:pPr>
            <a:r>
              <a:rPr sz="1600" b="1" i="0">
                <a:solidFill>
                  <a:srgbClr val="C45A11"/>
                </a:solidFill>
                <a:latin typeface="Cambria" panose="02040503050406030204"/>
              </a:rPr>
              <a:t>Joint functions</a:t>
            </a:r>
            <a:endParaRPr sz="1600" b="1" i="0">
              <a:solidFill>
                <a:srgbClr val="C45A11"/>
              </a:solidFill>
              <a:latin typeface="Cambria" panose="02040503050406030204"/>
            </a:endParaRPr>
          </a:p>
          <a:p>
            <a:pPr>
              <a:spcAft>
                <a:spcPts val="800"/>
              </a:spcAft>
            </a:pPr>
            <a:r>
              <a:rPr sz="1400" b="0" i="0">
                <a:solidFill>
                  <a:srgbClr val="2B2B2B"/>
                </a:solidFill>
                <a:latin typeface="Calibri" panose="020F0502020204030204"/>
              </a:rPr>
              <a:t>Coxa  θ₁   swings the leg sideways, about a vertical axis</a:t>
            </a:r>
            <a:endParaRPr sz="1400" b="0" i="0">
              <a:solidFill>
                <a:srgbClr val="2B2B2B"/>
              </a:solidFill>
              <a:latin typeface="Calibri" panose="020F0502020204030204"/>
            </a:endParaRPr>
          </a:p>
          <a:p>
            <a:pPr>
              <a:spcAft>
                <a:spcPts val="800"/>
              </a:spcAft>
            </a:pPr>
            <a:r>
              <a:rPr sz="1400" b="0" i="0">
                <a:solidFill>
                  <a:srgbClr val="2B2B2B"/>
                </a:solidFill>
                <a:latin typeface="Calibri" panose="020F0502020204030204"/>
              </a:rPr>
              <a:t>Femur  θ₂   lifts and lowers, about a horizontal axis</a:t>
            </a:r>
            <a:endParaRPr sz="1400" b="0" i="0">
              <a:solidFill>
                <a:srgbClr val="2B2B2B"/>
              </a:solidFill>
              <a:latin typeface="Calibri" panose="020F0502020204030204"/>
            </a:endParaRPr>
          </a:p>
          <a:p>
            <a:pPr>
              <a:spcAft>
                <a:spcPts val="0"/>
              </a:spcAft>
            </a:pPr>
            <a:r>
              <a:rPr sz="1400" b="0" i="0">
                <a:solidFill>
                  <a:srgbClr val="2B2B2B"/>
                </a:solidFill>
                <a:latin typeface="Calibri" panose="020F0502020204030204"/>
              </a:rPr>
              <a:t>Tibia  θ₃   extends the foot, about a parallel axis</a:t>
            </a:r>
            <a:endParaRPr sz="1400" b="0" i="0">
              <a:solidFill>
                <a:srgbClr val="2B2B2B"/>
              </a:solidFill>
              <a:latin typeface="Calibri" panose="020F0502020204030204"/>
            </a:endParaRPr>
          </a:p>
        </p:txBody>
      </p:sp>
      <p:sp>
        <p:nvSpPr>
          <p:cNvPr id="7" name="TextBox 6"/>
          <p:cNvSpPr txBox="1"/>
          <p:nvPr/>
        </p:nvSpPr>
        <p:spPr>
          <a:xfrm>
            <a:off x="7680960" y="4206240"/>
            <a:ext cx="1828800" cy="640080"/>
          </a:xfrm>
          <a:prstGeom prst="rect">
            <a:avLst/>
          </a:prstGeom>
          <a:noFill/>
        </p:spPr>
        <p:txBody>
          <a:bodyPr wrap="square" lIns="0" tIns="0" rIns="0" bIns="0" anchor="t">
            <a:spAutoFit/>
          </a:bodyPr>
          <a:lstStyle/>
          <a:p>
            <a:pPr algn="ctr">
              <a:spcAft>
                <a:spcPts val="0"/>
              </a:spcAft>
            </a:pPr>
            <a:r>
              <a:rPr sz="3400" b="1" i="0">
                <a:solidFill>
                  <a:srgbClr val="C45A11"/>
                </a:solidFill>
                <a:latin typeface="Cambria" panose="02040503050406030204"/>
              </a:rPr>
              <a:t>18</a:t>
            </a:r>
            <a:endParaRPr sz="3400" b="1" i="0">
              <a:solidFill>
                <a:srgbClr val="C45A11"/>
              </a:solidFill>
              <a:latin typeface="Cambria" panose="02040503050406030204"/>
            </a:endParaRPr>
          </a:p>
        </p:txBody>
      </p:sp>
      <p:sp>
        <p:nvSpPr>
          <p:cNvPr id="8" name="TextBox 7"/>
          <p:cNvSpPr txBox="1"/>
          <p:nvPr/>
        </p:nvSpPr>
        <p:spPr>
          <a:xfrm>
            <a:off x="7680960" y="4773168"/>
            <a:ext cx="1828800" cy="548640"/>
          </a:xfrm>
          <a:prstGeom prst="rect">
            <a:avLst/>
          </a:prstGeom>
          <a:noFill/>
        </p:spPr>
        <p:txBody>
          <a:bodyPr wrap="square" lIns="0" tIns="0" rIns="0" bIns="0" anchor="t">
            <a:spAutoFit/>
          </a:bodyPr>
          <a:lstStyle/>
          <a:p>
            <a:pPr algn="ctr">
              <a:spcAft>
                <a:spcPts val="0"/>
              </a:spcAft>
            </a:pPr>
            <a:r>
              <a:rPr sz="1150" b="0" i="0">
                <a:solidFill>
                  <a:srgbClr val="707070"/>
                </a:solidFill>
                <a:latin typeface="Calibri" panose="020F0502020204030204"/>
              </a:rPr>
              <a:t>joints</a:t>
            </a:r>
            <a:endParaRPr sz="1150" b="0" i="0">
              <a:solidFill>
                <a:srgbClr val="707070"/>
              </a:solidFill>
              <a:latin typeface="Calibri" panose="020F0502020204030204"/>
            </a:endParaRPr>
          </a:p>
        </p:txBody>
      </p:sp>
      <p:sp>
        <p:nvSpPr>
          <p:cNvPr id="9" name="TextBox 8"/>
          <p:cNvSpPr txBox="1"/>
          <p:nvPr/>
        </p:nvSpPr>
        <p:spPr>
          <a:xfrm>
            <a:off x="9784080" y="4206240"/>
            <a:ext cx="1828800" cy="640080"/>
          </a:xfrm>
          <a:prstGeom prst="rect">
            <a:avLst/>
          </a:prstGeom>
          <a:noFill/>
        </p:spPr>
        <p:txBody>
          <a:bodyPr wrap="square" lIns="0" tIns="0" rIns="0" bIns="0" anchor="t">
            <a:spAutoFit/>
          </a:bodyPr>
          <a:lstStyle/>
          <a:p>
            <a:pPr algn="ctr">
              <a:spcAft>
                <a:spcPts val="0"/>
              </a:spcAft>
            </a:pPr>
            <a:r>
              <a:rPr sz="3400" b="1" i="0">
                <a:solidFill>
                  <a:srgbClr val="C45A11"/>
                </a:solidFill>
                <a:latin typeface="Cambria" panose="02040503050406030204"/>
              </a:rPr>
              <a:t>6</a:t>
            </a:r>
            <a:endParaRPr sz="3400" b="1" i="0">
              <a:solidFill>
                <a:srgbClr val="C45A11"/>
              </a:solidFill>
              <a:latin typeface="Cambria" panose="02040503050406030204"/>
            </a:endParaRPr>
          </a:p>
        </p:txBody>
      </p:sp>
      <p:sp>
        <p:nvSpPr>
          <p:cNvPr id="10" name="TextBox 9"/>
          <p:cNvSpPr txBox="1"/>
          <p:nvPr/>
        </p:nvSpPr>
        <p:spPr>
          <a:xfrm>
            <a:off x="9784080" y="4773168"/>
            <a:ext cx="1828800" cy="548640"/>
          </a:xfrm>
          <a:prstGeom prst="rect">
            <a:avLst/>
          </a:prstGeom>
          <a:noFill/>
        </p:spPr>
        <p:txBody>
          <a:bodyPr wrap="square" lIns="0" tIns="0" rIns="0" bIns="0" anchor="t">
            <a:spAutoFit/>
          </a:bodyPr>
          <a:lstStyle/>
          <a:p>
            <a:pPr algn="ctr">
              <a:spcAft>
                <a:spcPts val="0"/>
              </a:spcAft>
            </a:pPr>
            <a:r>
              <a:rPr sz="1150" b="0" i="0">
                <a:solidFill>
                  <a:srgbClr val="707070"/>
                </a:solidFill>
                <a:latin typeface="Calibri" panose="020F0502020204030204"/>
              </a:rPr>
              <a:t>legs</a:t>
            </a:r>
            <a:endParaRPr sz="1150" b="0" i="0">
              <a:solidFill>
                <a:srgbClr val="707070"/>
              </a:solidFill>
              <a:latin typeface="Calibri" panose="020F0502020204030204"/>
            </a:endParaRPr>
          </a:p>
        </p:txBody>
      </p:sp>
      <p:sp>
        <p:nvSpPr>
          <p:cNvPr id="11" name="TextBox 10"/>
          <p:cNvSpPr txBox="1"/>
          <p:nvPr/>
        </p:nvSpPr>
        <p:spPr>
          <a:xfrm>
            <a:off x="7680960" y="5257800"/>
            <a:ext cx="1828800" cy="640080"/>
          </a:xfrm>
          <a:prstGeom prst="rect">
            <a:avLst/>
          </a:prstGeom>
          <a:noFill/>
        </p:spPr>
        <p:txBody>
          <a:bodyPr wrap="square" lIns="0" tIns="0" rIns="0" bIns="0" anchor="t">
            <a:spAutoFit/>
          </a:bodyPr>
          <a:lstStyle/>
          <a:p>
            <a:pPr algn="ctr">
              <a:spcAft>
                <a:spcPts val="0"/>
              </a:spcAft>
            </a:pPr>
            <a:r>
              <a:rPr sz="3400" b="1" i="0">
                <a:solidFill>
                  <a:srgbClr val="C45A11"/>
                </a:solidFill>
                <a:latin typeface="Cambria" panose="02040503050406030204"/>
              </a:rPr>
              <a:t>3.39</a:t>
            </a:r>
            <a:endParaRPr sz="3400" b="1" i="0">
              <a:solidFill>
                <a:srgbClr val="C45A11"/>
              </a:solidFill>
              <a:latin typeface="Cambria" panose="02040503050406030204"/>
            </a:endParaRPr>
          </a:p>
        </p:txBody>
      </p:sp>
      <p:sp>
        <p:nvSpPr>
          <p:cNvPr id="12" name="TextBox 11"/>
          <p:cNvSpPr txBox="1"/>
          <p:nvPr/>
        </p:nvSpPr>
        <p:spPr>
          <a:xfrm>
            <a:off x="7680960" y="5824728"/>
            <a:ext cx="1828800" cy="548640"/>
          </a:xfrm>
          <a:prstGeom prst="rect">
            <a:avLst/>
          </a:prstGeom>
          <a:noFill/>
        </p:spPr>
        <p:txBody>
          <a:bodyPr wrap="square" lIns="0" tIns="0" rIns="0" bIns="0" anchor="t">
            <a:spAutoFit/>
          </a:bodyPr>
          <a:lstStyle/>
          <a:p>
            <a:pPr algn="ctr">
              <a:spcAft>
                <a:spcPts val="0"/>
              </a:spcAft>
            </a:pPr>
            <a:r>
              <a:rPr sz="1150" b="0" i="0">
                <a:solidFill>
                  <a:srgbClr val="707070"/>
                </a:solidFill>
                <a:latin typeface="Calibri" panose="020F0502020204030204"/>
              </a:rPr>
              <a:t>kg</a:t>
            </a:r>
            <a:endParaRPr sz="1150" b="0" i="0">
              <a:solidFill>
                <a:srgbClr val="707070"/>
              </a:solidFill>
              <a:latin typeface="Calibri" panose="020F0502020204030204"/>
            </a:endParaRPr>
          </a:p>
        </p:txBody>
      </p:sp>
      <p:sp>
        <p:nvSpPr>
          <p:cNvPr id="13" name="TextBox 12"/>
          <p:cNvSpPr txBox="1"/>
          <p:nvPr/>
        </p:nvSpPr>
        <p:spPr>
          <a:xfrm>
            <a:off x="9784080" y="5257800"/>
            <a:ext cx="1828800" cy="640080"/>
          </a:xfrm>
          <a:prstGeom prst="rect">
            <a:avLst/>
          </a:prstGeom>
          <a:noFill/>
        </p:spPr>
        <p:txBody>
          <a:bodyPr wrap="square" lIns="0" tIns="0" rIns="0" bIns="0" anchor="t">
            <a:spAutoFit/>
          </a:bodyPr>
          <a:lstStyle/>
          <a:p>
            <a:pPr algn="ctr">
              <a:spcAft>
                <a:spcPts val="0"/>
              </a:spcAft>
            </a:pPr>
            <a:r>
              <a:rPr sz="3400" b="1" i="0">
                <a:solidFill>
                  <a:srgbClr val="C45A11"/>
                </a:solidFill>
                <a:latin typeface="Cambria" panose="02040503050406030204"/>
              </a:rPr>
              <a:t>25</a:t>
            </a:r>
            <a:endParaRPr sz="3400" b="1" i="0">
              <a:solidFill>
                <a:srgbClr val="C45A11"/>
              </a:solidFill>
              <a:latin typeface="Cambria" panose="02040503050406030204"/>
            </a:endParaRPr>
          </a:p>
        </p:txBody>
      </p:sp>
      <p:sp>
        <p:nvSpPr>
          <p:cNvPr id="14" name="TextBox 13"/>
          <p:cNvSpPr txBox="1"/>
          <p:nvPr/>
        </p:nvSpPr>
        <p:spPr>
          <a:xfrm>
            <a:off x="9784080" y="5824728"/>
            <a:ext cx="1828800" cy="548640"/>
          </a:xfrm>
          <a:prstGeom prst="rect">
            <a:avLst/>
          </a:prstGeom>
          <a:noFill/>
        </p:spPr>
        <p:txBody>
          <a:bodyPr wrap="square" lIns="0" tIns="0" rIns="0" bIns="0" anchor="t">
            <a:spAutoFit/>
          </a:bodyPr>
          <a:lstStyle/>
          <a:p>
            <a:pPr algn="ctr">
              <a:spcAft>
                <a:spcPts val="0"/>
              </a:spcAft>
            </a:pPr>
            <a:r>
              <a:rPr sz="1150" b="0" i="0">
                <a:solidFill>
                  <a:srgbClr val="707070"/>
                </a:solidFill>
                <a:latin typeface="Calibri" panose="020F0502020204030204"/>
              </a:rPr>
              <a:t>links</a:t>
            </a:r>
            <a:endParaRPr sz="1150" b="0" i="0">
              <a:solidFill>
                <a:srgbClr val="707070"/>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Mechanical parts</a:t>
            </a:r>
            <a:endParaRPr sz="3100" b="1" i="0">
              <a:solidFill>
                <a:srgbClr val="2B2B2B"/>
              </a:solidFill>
              <a:latin typeface="Cambria" panose="02040503050406030204"/>
            </a:endParaRPr>
          </a:p>
        </p:txBody>
      </p:sp>
      <p:sp>
        <p:nvSpPr>
          <p:cNvPr id="3" name="TextBox 2"/>
          <p:cNvSpPr txBox="1"/>
          <p:nvPr/>
        </p:nvSpPr>
        <p:spPr>
          <a:xfrm>
            <a:off x="566928" y="1225296"/>
            <a:ext cx="11064240" cy="384048"/>
          </a:xfrm>
          <a:prstGeom prst="rect">
            <a:avLst/>
          </a:prstGeom>
          <a:noFill/>
        </p:spPr>
        <p:txBody>
          <a:bodyPr wrap="square" lIns="0" tIns="0" rIns="0" bIns="0" anchor="t">
            <a:spAutoFit/>
          </a:bodyPr>
          <a:lstStyle/>
          <a:p>
            <a:pPr algn="l">
              <a:spcAft>
                <a:spcPts val="0"/>
              </a:spcAft>
            </a:pPr>
            <a:r>
              <a:rPr sz="1400" b="0" i="0">
                <a:solidFill>
                  <a:srgbClr val="707070"/>
                </a:solidFill>
                <a:latin typeface="Calibri" panose="020F0502020204030204"/>
              </a:rPr>
              <a:t>Every part modelled in AutoCAD and designed for 3D printing</a:t>
            </a:r>
            <a:endParaRPr sz="1400" b="0" i="0">
              <a:solidFill>
                <a:srgbClr val="707070"/>
              </a:solidFill>
              <a:latin typeface="Calibri" panose="020F0502020204030204"/>
            </a:endParaRPr>
          </a:p>
        </p:txBody>
      </p:sp>
      <p:pic>
        <p:nvPicPr>
          <p:cNvPr id="4" name="Picture 3" descr="c_image14.png"/>
          <p:cNvPicPr>
            <a:picLocks noChangeAspect="1"/>
          </p:cNvPicPr>
          <p:nvPr/>
        </p:nvPicPr>
        <p:blipFill>
          <a:blip r:embed="rId1"/>
          <a:stretch>
            <a:fillRect/>
          </a:stretch>
        </p:blipFill>
        <p:spPr>
          <a:xfrm>
            <a:off x="1080008" y="1783080"/>
            <a:ext cx="4368800" cy="1965960"/>
          </a:xfrm>
          <a:prstGeom prst="rect">
            <a:avLst/>
          </a:prstGeom>
        </p:spPr>
      </p:pic>
      <p:sp>
        <p:nvSpPr>
          <p:cNvPr id="5" name="TextBox 4"/>
          <p:cNvSpPr txBox="1"/>
          <p:nvPr/>
        </p:nvSpPr>
        <p:spPr>
          <a:xfrm>
            <a:off x="566928" y="3813048"/>
            <a:ext cx="5394960" cy="320040"/>
          </a:xfrm>
          <a:prstGeom prst="rect">
            <a:avLst/>
          </a:prstGeom>
          <a:noFill/>
        </p:spPr>
        <p:txBody>
          <a:bodyPr wrap="square" lIns="0" tIns="0" rIns="0" bIns="0" anchor="t">
            <a:spAutoFit/>
          </a:bodyPr>
          <a:lstStyle/>
          <a:p>
            <a:pPr algn="ctr">
              <a:spcAft>
                <a:spcPts val="0"/>
              </a:spcAft>
            </a:pPr>
            <a:r>
              <a:rPr sz="1150" b="0" i="1">
                <a:solidFill>
                  <a:srgbClr val="707070"/>
                </a:solidFill>
                <a:latin typeface="Calibri" panose="020F0502020204030204"/>
              </a:rPr>
              <a:t>Chassis</a:t>
            </a:r>
            <a:endParaRPr sz="1150" b="0" i="1">
              <a:solidFill>
                <a:srgbClr val="707070"/>
              </a:solidFill>
              <a:latin typeface="Calibri" panose="020F0502020204030204"/>
            </a:endParaRPr>
          </a:p>
        </p:txBody>
      </p:sp>
      <p:pic>
        <p:nvPicPr>
          <p:cNvPr id="6" name="Picture 5" descr="c_image7.png"/>
          <p:cNvPicPr>
            <a:picLocks noChangeAspect="1"/>
          </p:cNvPicPr>
          <p:nvPr/>
        </p:nvPicPr>
        <p:blipFill>
          <a:blip r:embed="rId2"/>
          <a:stretch>
            <a:fillRect/>
          </a:stretch>
        </p:blipFill>
        <p:spPr>
          <a:xfrm>
            <a:off x="6776720" y="1783080"/>
            <a:ext cx="4368800" cy="1965960"/>
          </a:xfrm>
          <a:prstGeom prst="rect">
            <a:avLst/>
          </a:prstGeom>
        </p:spPr>
      </p:pic>
      <p:sp>
        <p:nvSpPr>
          <p:cNvPr id="7" name="TextBox 6"/>
          <p:cNvSpPr txBox="1"/>
          <p:nvPr/>
        </p:nvSpPr>
        <p:spPr>
          <a:xfrm>
            <a:off x="6263640" y="3813048"/>
            <a:ext cx="5394960" cy="176530"/>
          </a:xfrm>
          <a:prstGeom prst="rect">
            <a:avLst/>
          </a:prstGeom>
          <a:noFill/>
        </p:spPr>
        <p:txBody>
          <a:bodyPr wrap="square" lIns="0" tIns="0" rIns="0" bIns="0" anchor="t">
            <a:spAutoFit/>
          </a:bodyPr>
          <a:lstStyle/>
          <a:p>
            <a:pPr algn="ctr">
              <a:spcAft>
                <a:spcPts val="0"/>
              </a:spcAft>
            </a:pPr>
            <a:r>
              <a:rPr lang="en-IN" sz="1150" b="0" i="1">
                <a:solidFill>
                  <a:srgbClr val="707070"/>
                </a:solidFill>
                <a:latin typeface="Calibri" panose="020F0502020204030204"/>
              </a:rPr>
              <a:t>coxa</a:t>
            </a:r>
            <a:r>
              <a:rPr sz="1150" b="0" i="1">
                <a:solidFill>
                  <a:srgbClr val="707070"/>
                </a:solidFill>
                <a:latin typeface="Calibri" panose="020F0502020204030204"/>
              </a:rPr>
              <a:t>bracket</a:t>
            </a:r>
            <a:endParaRPr sz="1150" b="0" i="1">
              <a:solidFill>
                <a:srgbClr val="707070"/>
              </a:solidFill>
              <a:latin typeface="Calibri" panose="020F0502020204030204"/>
            </a:endParaRPr>
          </a:p>
        </p:txBody>
      </p:sp>
      <p:pic>
        <p:nvPicPr>
          <p:cNvPr id="8" name="Picture 7" descr="image9.png"/>
          <p:cNvPicPr>
            <a:picLocks noChangeAspect="1"/>
          </p:cNvPicPr>
          <p:nvPr/>
        </p:nvPicPr>
        <p:blipFill>
          <a:blip r:embed="rId3"/>
          <a:stretch>
            <a:fillRect/>
          </a:stretch>
        </p:blipFill>
        <p:spPr>
          <a:xfrm>
            <a:off x="1618866" y="4114800"/>
            <a:ext cx="3291082" cy="1965960"/>
          </a:xfrm>
          <a:prstGeom prst="rect">
            <a:avLst/>
          </a:prstGeom>
        </p:spPr>
      </p:pic>
      <p:sp>
        <p:nvSpPr>
          <p:cNvPr id="9" name="TextBox 8"/>
          <p:cNvSpPr txBox="1"/>
          <p:nvPr/>
        </p:nvSpPr>
        <p:spPr>
          <a:xfrm>
            <a:off x="566928" y="6144768"/>
            <a:ext cx="5394960" cy="320040"/>
          </a:xfrm>
          <a:prstGeom prst="rect">
            <a:avLst/>
          </a:prstGeom>
          <a:noFill/>
        </p:spPr>
        <p:txBody>
          <a:bodyPr wrap="square" lIns="0" tIns="0" rIns="0" bIns="0" anchor="t">
            <a:spAutoFit/>
          </a:bodyPr>
          <a:lstStyle/>
          <a:p>
            <a:pPr algn="ctr">
              <a:spcAft>
                <a:spcPts val="0"/>
              </a:spcAft>
            </a:pPr>
            <a:r>
              <a:rPr sz="1150" b="0" i="1">
                <a:solidFill>
                  <a:srgbClr val="707070"/>
                </a:solidFill>
                <a:latin typeface="Calibri" panose="020F0502020204030204"/>
              </a:rPr>
              <a:t>Tibia</a:t>
            </a:r>
            <a:endParaRPr sz="1150" b="0" i="1">
              <a:solidFill>
                <a:srgbClr val="707070"/>
              </a:solidFill>
              <a:latin typeface="Calibri" panose="020F0502020204030204"/>
            </a:endParaRPr>
          </a:p>
        </p:txBody>
      </p:sp>
      <p:pic>
        <p:nvPicPr>
          <p:cNvPr id="10" name="Picture 9" descr="c_image15.png"/>
          <p:cNvPicPr>
            <a:picLocks noChangeAspect="1"/>
          </p:cNvPicPr>
          <p:nvPr/>
        </p:nvPicPr>
        <p:blipFill>
          <a:blip r:embed="rId4"/>
          <a:stretch>
            <a:fillRect/>
          </a:stretch>
        </p:blipFill>
        <p:spPr>
          <a:xfrm>
            <a:off x="6776720" y="4114800"/>
            <a:ext cx="4368800" cy="1965960"/>
          </a:xfrm>
          <a:prstGeom prst="rect">
            <a:avLst/>
          </a:prstGeom>
        </p:spPr>
      </p:pic>
      <p:sp>
        <p:nvSpPr>
          <p:cNvPr id="11" name="TextBox 10"/>
          <p:cNvSpPr txBox="1"/>
          <p:nvPr/>
        </p:nvSpPr>
        <p:spPr>
          <a:xfrm>
            <a:off x="6263640" y="6144768"/>
            <a:ext cx="5394960" cy="176530"/>
          </a:xfrm>
          <a:prstGeom prst="rect">
            <a:avLst/>
          </a:prstGeom>
          <a:noFill/>
        </p:spPr>
        <p:txBody>
          <a:bodyPr wrap="square" lIns="0" tIns="0" rIns="0" bIns="0" anchor="t">
            <a:spAutoFit/>
          </a:bodyPr>
          <a:lstStyle/>
          <a:p>
            <a:pPr algn="ctr">
              <a:spcAft>
                <a:spcPts val="0"/>
              </a:spcAft>
            </a:pPr>
            <a:r>
              <a:rPr lang="en-IN" sz="1150" b="0" i="1">
                <a:solidFill>
                  <a:srgbClr val="707070"/>
                </a:solidFill>
                <a:latin typeface="Calibri" panose="020F0502020204030204"/>
              </a:rPr>
              <a:t>femur joint</a:t>
            </a:r>
            <a:endParaRPr lang="en-IN" sz="1150" b="0" i="1">
              <a:solidFill>
                <a:srgbClr val="707070"/>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The leg as a mechanism</a:t>
            </a:r>
            <a:endParaRPr sz="3100" b="1" i="0">
              <a:solidFill>
                <a:srgbClr val="2B2B2B"/>
              </a:solidFill>
              <a:latin typeface="Cambria" panose="02040503050406030204"/>
            </a:endParaRPr>
          </a:p>
        </p:txBody>
      </p:sp>
      <p:sp>
        <p:nvSpPr>
          <p:cNvPr id="3" name="TextBox 2"/>
          <p:cNvSpPr txBox="1"/>
          <p:nvPr/>
        </p:nvSpPr>
        <p:spPr>
          <a:xfrm>
            <a:off x="566928" y="1225296"/>
            <a:ext cx="11064240" cy="384048"/>
          </a:xfrm>
          <a:prstGeom prst="rect">
            <a:avLst/>
          </a:prstGeom>
          <a:noFill/>
        </p:spPr>
        <p:txBody>
          <a:bodyPr wrap="square" lIns="0" tIns="0" rIns="0" bIns="0" anchor="t">
            <a:spAutoFit/>
          </a:bodyPr>
          <a:lstStyle/>
          <a:p>
            <a:pPr algn="l">
              <a:spcAft>
                <a:spcPts val="0"/>
              </a:spcAft>
            </a:pPr>
            <a:r>
              <a:rPr sz="1400" b="0" i="0">
                <a:solidFill>
                  <a:srgbClr val="707070"/>
                </a:solidFill>
                <a:latin typeface="Calibri" panose="020F0502020204030204"/>
              </a:rPr>
              <a:t>An RRR serial chain, and one deliberate axis choice</a:t>
            </a:r>
            <a:endParaRPr sz="1400" b="0" i="0">
              <a:solidFill>
                <a:srgbClr val="707070"/>
              </a:solidFill>
              <a:latin typeface="Calibri" panose="020F0502020204030204"/>
            </a:endParaRPr>
          </a:p>
        </p:txBody>
      </p:sp>
      <p:sp>
        <p:nvSpPr>
          <p:cNvPr id="4" name="TextBox 3"/>
          <p:cNvSpPr txBox="1"/>
          <p:nvPr/>
        </p:nvSpPr>
        <p:spPr>
          <a:xfrm>
            <a:off x="566928" y="1920240"/>
            <a:ext cx="5943600" cy="4114800"/>
          </a:xfrm>
          <a:prstGeom prst="rect">
            <a:avLst/>
          </a:prstGeom>
          <a:noFill/>
        </p:spPr>
        <p:txBody>
          <a:bodyPr wrap="square" lIns="0" tIns="0" rIns="0" bIns="0" anchor="t">
            <a:spAutoFit/>
          </a:bodyPr>
          <a:lstStyle/>
          <a:p>
            <a:pPr algn="l">
              <a:spcAft>
                <a:spcPts val="1300"/>
              </a:spcAft>
            </a:pPr>
            <a:r>
              <a:rPr sz="1450" b="0" i="0">
                <a:solidFill>
                  <a:srgbClr val="2B2B2B"/>
                </a:solidFill>
                <a:latin typeface="Calibri" panose="020F0502020204030204"/>
              </a:rPr>
              <a:t>•  Three revolute joints in series, so three degrees of freedom per leg.</a:t>
            </a:r>
            <a:endParaRPr sz="1450" b="0" i="0">
              <a:solidFill>
                <a:srgbClr val="2B2B2B"/>
              </a:solidFill>
              <a:latin typeface="Calibri" panose="020F0502020204030204"/>
            </a:endParaRPr>
          </a:p>
          <a:p>
            <a:pPr>
              <a:spcAft>
                <a:spcPts val="1300"/>
              </a:spcAft>
            </a:pPr>
            <a:r>
              <a:rPr sz="1450" b="0" i="0">
                <a:solidFill>
                  <a:srgbClr val="2B2B2B"/>
                </a:solidFill>
                <a:latin typeface="Calibri" panose="020F0502020204030204"/>
              </a:rPr>
              <a:t>•  Coxa axis vertical. Femur and tibia axes horizontal and parallel to each other.</a:t>
            </a:r>
            <a:endParaRPr sz="1450" b="0" i="0">
              <a:solidFill>
                <a:srgbClr val="2B2B2B"/>
              </a:solidFill>
              <a:latin typeface="Calibri" panose="020F0502020204030204"/>
            </a:endParaRPr>
          </a:p>
          <a:p>
            <a:pPr>
              <a:spcAft>
                <a:spcPts val="1300"/>
              </a:spcAft>
            </a:pPr>
            <a:r>
              <a:rPr sz="1450" b="0" i="0">
                <a:solidFill>
                  <a:srgbClr val="2B2B2B"/>
                </a:solidFill>
                <a:latin typeface="Calibri" panose="020F0502020204030204"/>
              </a:rPr>
              <a:t>•  Because those two axes are parallel, the leg beyond the coxa stays in ONE vertical plane.</a:t>
            </a:r>
            <a:endParaRPr sz="1450" b="0" i="0">
              <a:solidFill>
                <a:srgbClr val="2B2B2B"/>
              </a:solidFill>
              <a:latin typeface="Calibri" panose="020F0502020204030204"/>
            </a:endParaRPr>
          </a:p>
          <a:p>
            <a:pPr>
              <a:spcAft>
                <a:spcPts val="1300"/>
              </a:spcAft>
            </a:pPr>
            <a:r>
              <a:rPr sz="1450" b="0" i="0">
                <a:solidFill>
                  <a:srgbClr val="2B2B2B"/>
                </a:solidFill>
                <a:latin typeface="Calibri" panose="020F0502020204030204"/>
              </a:rPr>
              <a:t>•  The coxa angle only selects which plane that is.</a:t>
            </a:r>
            <a:endParaRPr sz="1450" b="0" i="0">
              <a:solidFill>
                <a:srgbClr val="2B2B2B"/>
              </a:solidFill>
              <a:latin typeface="Calibri" panose="020F0502020204030204"/>
            </a:endParaRPr>
          </a:p>
          <a:p>
            <a:pPr>
              <a:spcAft>
                <a:spcPts val="1300"/>
              </a:spcAft>
            </a:pPr>
            <a:r>
              <a:rPr sz="1450" b="0" i="0">
                <a:solidFill>
                  <a:srgbClr val="2B2B2B"/>
                </a:solidFill>
                <a:latin typeface="Calibri" panose="020F0502020204030204"/>
              </a:rPr>
              <a:t>•  So a 3D positioning problem reduces to a 2D two-link problem, which has an exact solution.</a:t>
            </a:r>
            <a:endParaRPr sz="1450" b="0" i="0">
              <a:solidFill>
                <a:srgbClr val="2B2B2B"/>
              </a:solidFill>
              <a:latin typeface="Calibri" panose="020F0502020204030204"/>
            </a:endParaRPr>
          </a:p>
          <a:p>
            <a:pPr>
              <a:spcAft>
                <a:spcPts val="1300"/>
              </a:spcAft>
            </a:pPr>
            <a:r>
              <a:rPr sz="1450" b="0" i="0">
                <a:solidFill>
                  <a:srgbClr val="2B2B2B"/>
                </a:solidFill>
                <a:latin typeface="Calibri" panose="020F0502020204030204"/>
              </a:rPr>
              <a:t>•  In stance, the loaded legs plus the ground and body form closed chains.</a:t>
            </a:r>
            <a:endParaRPr sz="1450" b="0" i="0">
              <a:solidFill>
                <a:srgbClr val="2B2B2B"/>
              </a:solidFill>
              <a:latin typeface="Calibri" panose="020F0502020204030204"/>
            </a:endParaRPr>
          </a:p>
        </p:txBody>
      </p:sp>
      <p:sp>
        <p:nvSpPr>
          <p:cNvPr id="5" name="Rounded Rectangle 4"/>
          <p:cNvSpPr/>
          <p:nvPr/>
        </p:nvSpPr>
        <p:spPr>
          <a:xfrm>
            <a:off x="6858000" y="1874519"/>
            <a:ext cx="4754880" cy="329184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0" y="2194560"/>
            <a:ext cx="4023360" cy="2743200"/>
          </a:xfrm>
          <a:prstGeom prst="rect">
            <a:avLst/>
          </a:prstGeom>
          <a:noFill/>
        </p:spPr>
        <p:txBody>
          <a:bodyPr wrap="square" lIns="0" tIns="0" rIns="0" bIns="0" anchor="t">
            <a:spAutoFit/>
          </a:bodyPr>
          <a:lstStyle/>
          <a:p>
            <a:pPr algn="l">
              <a:spcAft>
                <a:spcPts val="1200"/>
              </a:spcAft>
            </a:pPr>
            <a:r>
              <a:rPr sz="1600" b="1" i="0">
                <a:solidFill>
                  <a:srgbClr val="C45A11"/>
                </a:solidFill>
                <a:latin typeface="Cambria" panose="02040503050406030204"/>
              </a:rPr>
              <a:t>Why this matters</a:t>
            </a:r>
            <a:endParaRPr sz="1600" b="1" i="0">
              <a:solidFill>
                <a:srgbClr val="C45A11"/>
              </a:solidFill>
              <a:latin typeface="Cambria" panose="02040503050406030204"/>
            </a:endParaRPr>
          </a:p>
          <a:p>
            <a:pPr>
              <a:spcAft>
                <a:spcPts val="1000"/>
              </a:spcAft>
            </a:pPr>
            <a:r>
              <a:rPr sz="1400" b="0" i="0">
                <a:solidFill>
                  <a:srgbClr val="2B2B2B"/>
                </a:solidFill>
                <a:latin typeface="Calibri" panose="020F0502020204030204"/>
              </a:rPr>
              <a:t>A general 3-DOF chain needs a numerical solver, which is slower and can fail to converge in the middle of a step.</a:t>
            </a:r>
            <a:endParaRPr sz="1400" b="0" i="0">
              <a:solidFill>
                <a:srgbClr val="2B2B2B"/>
              </a:solidFill>
              <a:latin typeface="Calibri" panose="020F0502020204030204"/>
            </a:endParaRPr>
          </a:p>
          <a:p>
            <a:pPr>
              <a:spcAft>
                <a:spcPts val="0"/>
              </a:spcAft>
            </a:pPr>
            <a:r>
              <a:rPr sz="1400" b="0" i="0">
                <a:solidFill>
                  <a:srgbClr val="2B2B2B"/>
                </a:solidFill>
                <a:latin typeface="Calibri" panose="020F0502020204030204"/>
              </a:rPr>
              <a:t>Our arrangement gives a closed form answer every time, in a fixed number of operations.</a:t>
            </a:r>
            <a:endParaRPr sz="1400" b="0" i="0">
              <a:solidFill>
                <a:srgbClr val="2B2B2B"/>
              </a:solidFill>
              <a:latin typeface="Calibri" panose="020F0502020204030204"/>
            </a:endParaRPr>
          </a:p>
        </p:txBody>
      </p:sp>
      <p:sp>
        <p:nvSpPr>
          <p:cNvPr id="7" name="TextBox 6"/>
          <p:cNvSpPr txBox="1"/>
          <p:nvPr/>
        </p:nvSpPr>
        <p:spPr>
          <a:xfrm>
            <a:off x="566928" y="6144768"/>
            <a:ext cx="11064240" cy="411480"/>
          </a:xfrm>
          <a:prstGeom prst="rect">
            <a:avLst/>
          </a:prstGeom>
          <a:noFill/>
        </p:spPr>
        <p:txBody>
          <a:bodyPr wrap="square" lIns="0" tIns="0" rIns="0" bIns="0" anchor="t">
            <a:spAutoFit/>
          </a:bodyPr>
          <a:lstStyle/>
          <a:p>
            <a:pPr algn="l">
              <a:spcAft>
                <a:spcPts val="0"/>
              </a:spcAft>
            </a:pPr>
            <a:r>
              <a:rPr sz="1250" b="0" i="1">
                <a:solidFill>
                  <a:srgbClr val="707070"/>
                </a:solidFill>
                <a:latin typeface="Calibri" panose="020F0502020204030204"/>
              </a:rPr>
              <a:t>Six identical legs, mounted at different yaw angles, so one solution serves all of them.</a:t>
            </a:r>
            <a:endParaRPr sz="1250" b="0" i="1">
              <a:solidFill>
                <a:srgbClr val="707070"/>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Forward kinematics</a:t>
            </a:r>
            <a:endParaRPr sz="3100" b="1" i="0">
              <a:solidFill>
                <a:srgbClr val="2B2B2B"/>
              </a:solidFill>
              <a:latin typeface="Cambria" panose="02040503050406030204"/>
            </a:endParaRPr>
          </a:p>
        </p:txBody>
      </p:sp>
      <p:sp>
        <p:nvSpPr>
          <p:cNvPr id="3" name="TextBox 2"/>
          <p:cNvSpPr txBox="1"/>
          <p:nvPr/>
        </p:nvSpPr>
        <p:spPr>
          <a:xfrm>
            <a:off x="566928" y="1225296"/>
            <a:ext cx="11064240" cy="384048"/>
          </a:xfrm>
          <a:prstGeom prst="rect">
            <a:avLst/>
          </a:prstGeom>
          <a:noFill/>
        </p:spPr>
        <p:txBody>
          <a:bodyPr wrap="square" lIns="0" tIns="0" rIns="0" bIns="0" anchor="t">
            <a:spAutoFit/>
          </a:bodyPr>
          <a:lstStyle/>
          <a:p>
            <a:pPr algn="l">
              <a:spcAft>
                <a:spcPts val="0"/>
              </a:spcAft>
            </a:pPr>
            <a:r>
              <a:rPr sz="1400" b="0" i="0">
                <a:solidFill>
                  <a:srgbClr val="707070"/>
                </a:solidFill>
                <a:latin typeface="Calibri" panose="020F0502020204030204"/>
              </a:rPr>
              <a:t>Given the joint angles, where is the foot?</a:t>
            </a:r>
            <a:endParaRPr sz="1400" b="0" i="0">
              <a:solidFill>
                <a:srgbClr val="707070"/>
              </a:solidFill>
              <a:latin typeface="Calibri" panose="020F0502020204030204"/>
            </a:endParaRPr>
          </a:p>
        </p:txBody>
      </p:sp>
      <p:pic>
        <p:nvPicPr>
          <p:cNvPr id="4" name="Picture 3" descr="eq_fk.png"/>
          <p:cNvPicPr>
            <a:picLocks noChangeAspect="1"/>
          </p:cNvPicPr>
          <p:nvPr/>
        </p:nvPicPr>
        <p:blipFill>
          <a:blip r:embed="rId1"/>
          <a:stretch>
            <a:fillRect/>
          </a:stretch>
        </p:blipFill>
        <p:spPr>
          <a:xfrm>
            <a:off x="990712" y="1828800"/>
            <a:ext cx="6101871" cy="2377440"/>
          </a:xfrm>
          <a:prstGeom prst="rect">
            <a:avLst/>
          </a:prstGeom>
        </p:spPr>
      </p:pic>
      <p:sp>
        <p:nvSpPr>
          <p:cNvPr id="5" name="Rounded Rectangle 4"/>
          <p:cNvSpPr/>
          <p:nvPr/>
        </p:nvSpPr>
        <p:spPr>
          <a:xfrm>
            <a:off x="7863840" y="1828800"/>
            <a:ext cx="3749039" cy="31089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83879" y="2148840"/>
            <a:ext cx="3154680" cy="2651760"/>
          </a:xfrm>
          <a:prstGeom prst="rect">
            <a:avLst/>
          </a:prstGeom>
          <a:noFill/>
        </p:spPr>
        <p:txBody>
          <a:bodyPr wrap="square" lIns="0" tIns="0" rIns="0" bIns="0" anchor="t">
            <a:spAutoFit/>
          </a:bodyPr>
          <a:lstStyle/>
          <a:p>
            <a:pPr algn="l">
              <a:spcAft>
                <a:spcPts val="1100"/>
              </a:spcAft>
            </a:pPr>
            <a:r>
              <a:rPr sz="1550" b="1" i="0">
                <a:solidFill>
                  <a:srgbClr val="C45A11"/>
                </a:solidFill>
                <a:latin typeface="Cambria" panose="02040503050406030204"/>
              </a:rPr>
              <a:t>Link lengths</a:t>
            </a:r>
            <a:endParaRPr sz="1550" b="1" i="0">
              <a:solidFill>
                <a:srgbClr val="C45A11"/>
              </a:solidFill>
              <a:latin typeface="Cambria" panose="02040503050406030204"/>
            </a:endParaRPr>
          </a:p>
          <a:p>
            <a:pPr>
              <a:spcAft>
                <a:spcPts val="600"/>
              </a:spcAft>
            </a:pPr>
            <a:r>
              <a:rPr sz="1400" b="0" i="0">
                <a:solidFill>
                  <a:srgbClr val="2B2B2B"/>
                </a:solidFill>
                <a:latin typeface="Calibri" panose="020F0502020204030204"/>
              </a:rPr>
              <a:t>L₁ = 150.0 mm   coxa</a:t>
            </a:r>
            <a:endParaRPr sz="1400" b="0" i="0">
              <a:solidFill>
                <a:srgbClr val="2B2B2B"/>
              </a:solidFill>
              <a:latin typeface="Calibri" panose="020F0502020204030204"/>
            </a:endParaRPr>
          </a:p>
          <a:p>
            <a:pPr>
              <a:spcAft>
                <a:spcPts val="600"/>
              </a:spcAft>
            </a:pPr>
            <a:r>
              <a:rPr sz="1400" b="0" i="0">
                <a:solidFill>
                  <a:srgbClr val="2B2B2B"/>
                </a:solidFill>
                <a:latin typeface="Calibri" panose="020F0502020204030204"/>
              </a:rPr>
              <a:t>L₂ = 116.6 mm   femur</a:t>
            </a:r>
            <a:endParaRPr sz="1400" b="0" i="0">
              <a:solidFill>
                <a:srgbClr val="2B2B2B"/>
              </a:solidFill>
              <a:latin typeface="Calibri" panose="020F0502020204030204"/>
            </a:endParaRPr>
          </a:p>
          <a:p>
            <a:pPr>
              <a:spcAft>
                <a:spcPts val="1200"/>
              </a:spcAft>
            </a:pPr>
            <a:r>
              <a:rPr sz="1400" b="0" i="0">
                <a:solidFill>
                  <a:srgbClr val="2B2B2B"/>
                </a:solidFill>
                <a:latin typeface="Calibri" panose="020F0502020204030204"/>
              </a:rPr>
              <a:t>L₃ = 150.0 mm   tibia</a:t>
            </a:r>
            <a:endParaRPr sz="1400" b="0" i="0">
              <a:solidFill>
                <a:srgbClr val="2B2B2B"/>
              </a:solidFill>
              <a:latin typeface="Calibri" panose="020F0502020204030204"/>
            </a:endParaRPr>
          </a:p>
          <a:p>
            <a:pPr>
              <a:spcAft>
                <a:spcPts val="0"/>
              </a:spcAft>
            </a:pPr>
            <a:r>
              <a:rPr sz="1250" b="0" i="0">
                <a:solidFill>
                  <a:srgbClr val="707070"/>
                </a:solidFill>
                <a:latin typeface="Calibri" panose="020F0502020204030204"/>
              </a:rPr>
              <a:t>Positive θ₂ and θ₃ move the foot downward, from the right handed axis convention.</a:t>
            </a:r>
            <a:endParaRPr sz="1250" b="0" i="0">
              <a:solidFill>
                <a:srgbClr val="707070"/>
              </a:solidFill>
              <a:latin typeface="Calibri" panose="020F0502020204030204"/>
            </a:endParaRPr>
          </a:p>
        </p:txBody>
      </p:sp>
      <p:sp>
        <p:nvSpPr>
          <p:cNvPr id="7" name="TextBox 6"/>
          <p:cNvSpPr txBox="1"/>
          <p:nvPr/>
        </p:nvSpPr>
        <p:spPr>
          <a:xfrm>
            <a:off x="566928" y="6144768"/>
            <a:ext cx="11064240" cy="411480"/>
          </a:xfrm>
          <a:prstGeom prst="rect">
            <a:avLst/>
          </a:prstGeom>
          <a:noFill/>
        </p:spPr>
        <p:txBody>
          <a:bodyPr wrap="square" lIns="0" tIns="0" rIns="0" bIns="0" anchor="t">
            <a:spAutoFit/>
          </a:bodyPr>
          <a:lstStyle/>
          <a:p>
            <a:pPr algn="l">
              <a:spcAft>
                <a:spcPts val="0"/>
              </a:spcAft>
            </a:pPr>
            <a:r>
              <a:rPr sz="1250" b="0" i="1">
                <a:solidFill>
                  <a:srgbClr val="707070"/>
                </a:solidFill>
                <a:latin typeface="Calibri" panose="020F0502020204030204"/>
              </a:rPr>
              <a:t>Verified stance solution:  θ₁ = 0°,  θ₂ = 15.44°,  θ₃ = 67.82°,  giving a foot 0.280 m out and 0.180 m below the body.</a:t>
            </a:r>
            <a:endParaRPr sz="1250" b="0" i="1">
              <a:solidFill>
                <a:srgbClr val="707070"/>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Picture 7" descr="eq_ik.png"/>
          <p:cNvPicPr>
            <a:picLocks noChangeAspect="1"/>
          </p:cNvPicPr>
          <p:nvPr/>
        </p:nvPicPr>
        <p:blipFill>
          <a:blip r:embed="rId1"/>
          <a:stretch>
            <a:fillRect/>
          </a:stretch>
        </p:blipFill>
        <p:spPr>
          <a:xfrm>
            <a:off x="1016577" y="1737360"/>
            <a:ext cx="6598780" cy="4206240"/>
          </a:xfrm>
          <a:prstGeom prst="rect">
            <a:avLst/>
          </a:prstGeom>
        </p:spPr>
      </p:pic>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Inverse kinematics</a:t>
            </a:r>
            <a:endParaRPr sz="3100" b="1" i="0">
              <a:solidFill>
                <a:srgbClr val="2B2B2B"/>
              </a:solidFill>
              <a:latin typeface="Cambria" panose="02040503050406030204"/>
            </a:endParaRPr>
          </a:p>
        </p:txBody>
      </p:sp>
      <p:sp>
        <p:nvSpPr>
          <p:cNvPr id="3" name="TextBox 2"/>
          <p:cNvSpPr txBox="1"/>
          <p:nvPr/>
        </p:nvSpPr>
        <p:spPr>
          <a:xfrm>
            <a:off x="566928" y="1225296"/>
            <a:ext cx="11064240" cy="384048"/>
          </a:xfrm>
          <a:prstGeom prst="rect">
            <a:avLst/>
          </a:prstGeom>
          <a:noFill/>
        </p:spPr>
        <p:txBody>
          <a:bodyPr wrap="square" lIns="0" tIns="0" rIns="0" bIns="0" anchor="t">
            <a:spAutoFit/>
          </a:bodyPr>
          <a:lstStyle/>
          <a:p>
            <a:pPr algn="l">
              <a:spcAft>
                <a:spcPts val="0"/>
              </a:spcAft>
            </a:pPr>
            <a:r>
              <a:rPr sz="1400" b="0" i="0">
                <a:solidFill>
                  <a:srgbClr val="707070"/>
                </a:solidFill>
                <a:latin typeface="Calibri" panose="020F0502020204030204"/>
              </a:rPr>
              <a:t>Given the foot position, what should the joint angles be?</a:t>
            </a:r>
            <a:endParaRPr sz="1400" b="0" i="0">
              <a:solidFill>
                <a:srgbClr val="707070"/>
              </a:solidFill>
              <a:latin typeface="Calibri" panose="020F0502020204030204"/>
            </a:endParaRPr>
          </a:p>
        </p:txBody>
      </p:sp>
      <p:sp>
        <p:nvSpPr>
          <p:cNvPr id="5" name="Rounded Rectangle 4"/>
          <p:cNvSpPr/>
          <p:nvPr/>
        </p:nvSpPr>
        <p:spPr>
          <a:xfrm>
            <a:off x="8321040" y="1828800"/>
            <a:ext cx="3291840" cy="35661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41080" y="2148840"/>
            <a:ext cx="2651760" cy="3108960"/>
          </a:xfrm>
          <a:prstGeom prst="rect">
            <a:avLst/>
          </a:prstGeom>
          <a:noFill/>
        </p:spPr>
        <p:txBody>
          <a:bodyPr wrap="square" lIns="0" tIns="0" rIns="0" bIns="0" anchor="t">
            <a:spAutoFit/>
          </a:bodyPr>
          <a:lstStyle/>
          <a:p>
            <a:pPr algn="l">
              <a:spcAft>
                <a:spcPts val="1100"/>
              </a:spcAft>
            </a:pPr>
            <a:r>
              <a:rPr sz="1550" b="1" i="0">
                <a:solidFill>
                  <a:srgbClr val="C45A11"/>
                </a:solidFill>
                <a:latin typeface="Cambria" panose="02040503050406030204"/>
              </a:rPr>
              <a:t>Why it matters</a:t>
            </a:r>
            <a:endParaRPr sz="1550" b="1" i="0">
              <a:solidFill>
                <a:srgbClr val="C45A11"/>
              </a:solidFill>
              <a:latin typeface="Cambria" panose="02040503050406030204"/>
            </a:endParaRPr>
          </a:p>
          <a:p>
            <a:pPr>
              <a:spcAft>
                <a:spcPts val="1000"/>
              </a:spcAft>
            </a:pPr>
            <a:r>
              <a:rPr sz="1350" b="0" i="0">
                <a:solidFill>
                  <a:srgbClr val="2B2B2B"/>
                </a:solidFill>
                <a:latin typeface="Calibri" panose="020F0502020204030204"/>
              </a:rPr>
              <a:t>This runs 50 times a second, for all six legs, every time the robot takes a step.</a:t>
            </a:r>
            <a:endParaRPr sz="1350" b="0" i="0">
              <a:solidFill>
                <a:srgbClr val="2B2B2B"/>
              </a:solidFill>
              <a:latin typeface="Calibri" panose="020F0502020204030204"/>
            </a:endParaRPr>
          </a:p>
          <a:p>
            <a:pPr>
              <a:spcAft>
                <a:spcPts val="0"/>
              </a:spcAft>
            </a:pPr>
            <a:r>
              <a:rPr sz="1350" b="0" i="0">
                <a:solidFill>
                  <a:srgbClr val="2B2B2B"/>
                </a:solidFill>
                <a:latin typeface="Calibri" panose="020F0502020204030204"/>
              </a:rPr>
              <a:t>Closed form means a fixed cost and no possibility of failing to converge part way through a step.</a:t>
            </a:r>
            <a:endParaRPr sz="1350" b="0" i="0">
              <a:solidFill>
                <a:srgbClr val="2B2B2B"/>
              </a:solidFill>
              <a:latin typeface="Calibri" panose="020F0502020204030204"/>
            </a:endParaRPr>
          </a:p>
        </p:txBody>
      </p:sp>
      <p:sp>
        <p:nvSpPr>
          <p:cNvPr id="7" name="TextBox 6"/>
          <p:cNvSpPr txBox="1"/>
          <p:nvPr/>
        </p:nvSpPr>
        <p:spPr>
          <a:xfrm>
            <a:off x="566928" y="6144768"/>
            <a:ext cx="11064240" cy="411480"/>
          </a:xfrm>
          <a:prstGeom prst="rect">
            <a:avLst/>
          </a:prstGeom>
          <a:noFill/>
        </p:spPr>
        <p:txBody>
          <a:bodyPr wrap="square" lIns="0" tIns="0" rIns="0" bIns="0" anchor="t">
            <a:spAutoFit/>
          </a:bodyPr>
          <a:lstStyle/>
          <a:p>
            <a:pPr algn="l">
              <a:spcAft>
                <a:spcPts val="0"/>
              </a:spcAft>
            </a:pPr>
            <a:r>
              <a:rPr sz="1250" b="0" i="1">
                <a:solidFill>
                  <a:srgbClr val="707070"/>
                </a:solidFill>
                <a:latin typeface="Calibri" panose="020F0502020204030204"/>
              </a:rPr>
              <a:t>Checked numerically: forward → inverse → forward closes to 3.5 × 10⁻¹⁶ m, the precision limit of the computer.</a:t>
            </a:r>
            <a:endParaRPr sz="1250" b="0" i="1">
              <a:solidFill>
                <a:srgbClr val="707070"/>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Mass and inertia</a:t>
            </a:r>
            <a:endParaRPr sz="3100" b="1" i="0">
              <a:solidFill>
                <a:srgbClr val="2B2B2B"/>
              </a:solidFill>
              <a:latin typeface="Cambria" panose="02040503050406030204"/>
            </a:endParaRPr>
          </a:p>
        </p:txBody>
      </p:sp>
      <p:sp>
        <p:nvSpPr>
          <p:cNvPr id="3" name="TextBox 2"/>
          <p:cNvSpPr txBox="1"/>
          <p:nvPr/>
        </p:nvSpPr>
        <p:spPr>
          <a:xfrm>
            <a:off x="566928" y="1225296"/>
            <a:ext cx="11064240" cy="384048"/>
          </a:xfrm>
          <a:prstGeom prst="rect">
            <a:avLst/>
          </a:prstGeom>
          <a:noFill/>
        </p:spPr>
        <p:txBody>
          <a:bodyPr wrap="square" lIns="0" tIns="0" rIns="0" bIns="0" anchor="t">
            <a:spAutoFit/>
          </a:bodyPr>
          <a:lstStyle/>
          <a:p>
            <a:pPr algn="l">
              <a:spcAft>
                <a:spcPts val="0"/>
              </a:spcAft>
            </a:pPr>
            <a:r>
              <a:rPr sz="1400" b="0" i="0">
                <a:solidFill>
                  <a:srgbClr val="707070"/>
                </a:solidFill>
                <a:latin typeface="Calibri" panose="020F0502020204030204"/>
              </a:rPr>
              <a:t>Calculated from the CAD volumes, then the servos added</a:t>
            </a:r>
            <a:endParaRPr sz="1400" b="0" i="0">
              <a:solidFill>
                <a:srgbClr val="707070"/>
              </a:solidFill>
              <a:latin typeface="Calibri" panose="020F0502020204030204"/>
            </a:endParaRPr>
          </a:p>
        </p:txBody>
      </p:sp>
      <p:graphicFrame>
        <p:nvGraphicFramePr>
          <p:cNvPr id="4" name="Table 3"/>
          <p:cNvGraphicFramePr>
            <a:graphicFrameLocks noGrp="1"/>
          </p:cNvGraphicFramePr>
          <p:nvPr/>
        </p:nvGraphicFramePr>
        <p:xfrm>
          <a:off x="566928" y="1874519"/>
          <a:ext cx="6858000" cy="2377440"/>
        </p:xfrm>
        <a:graphic>
          <a:graphicData uri="http://schemas.openxmlformats.org/drawingml/2006/table">
            <a:tbl>
              <a:tblPr firstRow="1" bandRow="1">
                <a:tableStyleId>{5C22544A-7EE6-4342-B048-85BDC9FD1C3A}</a:tableStyleId>
              </a:tblPr>
              <a:tblGrid>
                <a:gridCol w="1234440"/>
                <a:gridCol w="1234440"/>
                <a:gridCol w="1234440"/>
                <a:gridCol w="3154680"/>
              </a:tblGrid>
              <a:tr h="475488">
                <a:tc>
                  <a:txBody>
                    <a:bodyPr/>
                    <a:lstStyle/>
                    <a:p>
                      <a:r>
                        <a:rPr sz="1250" b="1">
                          <a:solidFill>
                            <a:srgbClr val="FFFFFF"/>
                          </a:solidFill>
                          <a:latin typeface="Calibri" panose="020F0502020204030204"/>
                        </a:rPr>
                        <a:t>Part</a:t>
                      </a:r>
                      <a:endParaRPr sz="1250" b="1">
                        <a:solidFill>
                          <a:srgbClr val="FFFFFF"/>
                        </a:solidFill>
                        <a:latin typeface="Calibri" panose="020F0502020204030204"/>
                      </a:endParaRPr>
                    </a:p>
                  </a:txBody>
                  <a:tcPr marL="82296" marR="82296" anchor="ctr">
                    <a:solidFill>
                      <a:srgbClr val="33383D"/>
                    </a:solidFill>
                  </a:tcPr>
                </a:tc>
                <a:tc>
                  <a:txBody>
                    <a:bodyPr/>
                    <a:lstStyle/>
                    <a:p>
                      <a:r>
                        <a:rPr sz="1250" b="1">
                          <a:solidFill>
                            <a:srgbClr val="FFFFFF"/>
                          </a:solidFill>
                          <a:latin typeface="Calibri" panose="020F0502020204030204"/>
                        </a:rPr>
                        <a:t>Length</a:t>
                      </a:r>
                      <a:endParaRPr sz="1250" b="1">
                        <a:solidFill>
                          <a:srgbClr val="FFFFFF"/>
                        </a:solidFill>
                        <a:latin typeface="Calibri" panose="020F0502020204030204"/>
                      </a:endParaRPr>
                    </a:p>
                  </a:txBody>
                  <a:tcPr marL="82296" marR="82296" anchor="ctr">
                    <a:solidFill>
                      <a:srgbClr val="33383D"/>
                    </a:solidFill>
                  </a:tcPr>
                </a:tc>
                <a:tc>
                  <a:txBody>
                    <a:bodyPr/>
                    <a:lstStyle/>
                    <a:p>
                      <a:r>
                        <a:rPr sz="1250" b="1">
                          <a:solidFill>
                            <a:srgbClr val="FFFFFF"/>
                          </a:solidFill>
                          <a:latin typeface="Calibri" panose="020F0502020204030204"/>
                        </a:rPr>
                        <a:t>Mass</a:t>
                      </a:r>
                      <a:endParaRPr sz="1250" b="1">
                        <a:solidFill>
                          <a:srgbClr val="FFFFFF"/>
                        </a:solidFill>
                        <a:latin typeface="Calibri" panose="020F0502020204030204"/>
                      </a:endParaRPr>
                    </a:p>
                  </a:txBody>
                  <a:tcPr marL="82296" marR="82296" anchor="ctr">
                    <a:solidFill>
                      <a:srgbClr val="33383D"/>
                    </a:solidFill>
                  </a:tcPr>
                </a:tc>
                <a:tc>
                  <a:txBody>
                    <a:bodyPr/>
                    <a:lstStyle/>
                    <a:p>
                      <a:r>
                        <a:rPr sz="1250" b="1">
                          <a:solidFill>
                            <a:srgbClr val="FFFFFF"/>
                          </a:solidFill>
                          <a:latin typeface="Calibri" panose="020F0502020204030204"/>
                        </a:rPr>
                        <a:t>Made up of</a:t>
                      </a:r>
                      <a:endParaRPr sz="1250" b="1">
                        <a:solidFill>
                          <a:srgbClr val="FFFFFF"/>
                        </a:solidFill>
                        <a:latin typeface="Calibri" panose="020F0502020204030204"/>
                      </a:endParaRPr>
                    </a:p>
                  </a:txBody>
                  <a:tcPr marL="82296" marR="82296" anchor="ctr">
                    <a:solidFill>
                      <a:srgbClr val="33383D"/>
                    </a:solidFill>
                  </a:tcPr>
                </a:tc>
              </a:tr>
              <a:tr h="475488">
                <a:tc>
                  <a:txBody>
                    <a:bodyPr/>
                    <a:lstStyle/>
                    <a:p>
                      <a:r>
                        <a:rPr sz="1250" b="1">
                          <a:solidFill>
                            <a:srgbClr val="2B2B2B"/>
                          </a:solidFill>
                          <a:latin typeface="Calibri" panose="020F0502020204030204"/>
                        </a:rPr>
                        <a:t>Body</a:t>
                      </a:r>
                      <a:endParaRPr sz="1250" b="1">
                        <a:solidFill>
                          <a:srgbClr val="2B2B2B"/>
                        </a:solidFill>
                        <a:latin typeface="Calibri" panose="020F0502020204030204"/>
                      </a:endParaRPr>
                    </a:p>
                  </a:txBody>
                  <a:tcPr marL="82296" marR="82296" anchor="ctr">
                    <a:solidFill>
                      <a:srgbClr val="FFFFFF"/>
                    </a:solidFill>
                  </a:tcPr>
                </a:tc>
                <a:tc>
                  <a:txBody>
                    <a:bodyPr/>
                    <a:lstStyle/>
                    <a:p>
                      <a:r>
                        <a:rPr sz="1250" b="0">
                          <a:solidFill>
                            <a:srgbClr val="2B2B2B"/>
                          </a:solidFill>
                          <a:latin typeface="Calibri" panose="020F0502020204030204"/>
                        </a:rPr>
                        <a:t>312.7 mm</a:t>
                      </a:r>
                      <a:endParaRPr sz="1250" b="0">
                        <a:solidFill>
                          <a:srgbClr val="2B2B2B"/>
                        </a:solidFill>
                        <a:latin typeface="Calibri" panose="020F0502020204030204"/>
                      </a:endParaRPr>
                    </a:p>
                  </a:txBody>
                  <a:tcPr marL="82296" marR="82296" anchor="ctr">
                    <a:solidFill>
                      <a:srgbClr val="FFFFFF"/>
                    </a:solidFill>
                  </a:tcPr>
                </a:tc>
                <a:tc>
                  <a:txBody>
                    <a:bodyPr/>
                    <a:lstStyle/>
                    <a:p>
                      <a:r>
                        <a:rPr sz="1250" b="0">
                          <a:solidFill>
                            <a:srgbClr val="2B2B2B"/>
                          </a:solidFill>
                          <a:latin typeface="Calibri" panose="020F0502020204030204"/>
                        </a:rPr>
                        <a:t>1.310 kg</a:t>
                      </a:r>
                      <a:endParaRPr sz="1250" b="0">
                        <a:solidFill>
                          <a:srgbClr val="2B2B2B"/>
                        </a:solidFill>
                        <a:latin typeface="Calibri" panose="020F0502020204030204"/>
                      </a:endParaRPr>
                    </a:p>
                  </a:txBody>
                  <a:tcPr marL="82296" marR="82296" anchor="ctr">
                    <a:solidFill>
                      <a:srgbClr val="FFFFFF"/>
                    </a:solidFill>
                  </a:tcPr>
                </a:tc>
                <a:tc>
                  <a:txBody>
                    <a:bodyPr/>
                    <a:lstStyle/>
                    <a:p>
                      <a:r>
                        <a:rPr sz="1250" b="0">
                          <a:solidFill>
                            <a:srgbClr val="2B2B2B"/>
                          </a:solidFill>
                          <a:latin typeface="Calibri" panose="020F0502020204030204"/>
                        </a:rPr>
                        <a:t>frame, 6 coxa servos, battery, electronics</a:t>
                      </a:r>
                      <a:endParaRPr sz="1250" b="0">
                        <a:solidFill>
                          <a:srgbClr val="2B2B2B"/>
                        </a:solidFill>
                        <a:latin typeface="Calibri" panose="020F0502020204030204"/>
                      </a:endParaRPr>
                    </a:p>
                  </a:txBody>
                  <a:tcPr marL="82296" marR="82296" anchor="ctr">
                    <a:solidFill>
                      <a:srgbClr val="FFFFFF"/>
                    </a:solidFill>
                  </a:tcPr>
                </a:tc>
              </a:tr>
              <a:tr h="475488">
                <a:tc>
                  <a:txBody>
                    <a:bodyPr/>
                    <a:lstStyle/>
                    <a:p>
                      <a:r>
                        <a:rPr sz="1250" b="1">
                          <a:solidFill>
                            <a:srgbClr val="2B2B2B"/>
                          </a:solidFill>
                          <a:latin typeface="Calibri" panose="020F0502020204030204"/>
                        </a:rPr>
                        <a:t>Coxa</a:t>
                      </a:r>
                      <a:endParaRPr sz="1250" b="1">
                        <a:solidFill>
                          <a:srgbClr val="2B2B2B"/>
                        </a:solidFill>
                        <a:latin typeface="Calibri" panose="020F0502020204030204"/>
                      </a:endParaRPr>
                    </a:p>
                  </a:txBody>
                  <a:tcPr marL="82296" marR="82296" anchor="ctr">
                    <a:solidFill>
                      <a:srgbClr val="F3F3F3"/>
                    </a:solidFill>
                  </a:tcPr>
                </a:tc>
                <a:tc>
                  <a:txBody>
                    <a:bodyPr/>
                    <a:lstStyle/>
                    <a:p>
                      <a:r>
                        <a:rPr sz="1250" b="0">
                          <a:solidFill>
                            <a:srgbClr val="2B2B2B"/>
                          </a:solidFill>
                          <a:latin typeface="Calibri" panose="020F0502020204030204"/>
                        </a:rPr>
                        <a:t>150.0 mm</a:t>
                      </a:r>
                      <a:endParaRPr sz="1250" b="0">
                        <a:solidFill>
                          <a:srgbClr val="2B2B2B"/>
                        </a:solidFill>
                        <a:latin typeface="Calibri" panose="020F0502020204030204"/>
                      </a:endParaRPr>
                    </a:p>
                  </a:txBody>
                  <a:tcPr marL="82296" marR="82296" anchor="ctr">
                    <a:solidFill>
                      <a:srgbClr val="F3F3F3"/>
                    </a:solidFill>
                  </a:tcPr>
                </a:tc>
                <a:tc>
                  <a:txBody>
                    <a:bodyPr/>
                    <a:lstStyle/>
                    <a:p>
                      <a:r>
                        <a:rPr sz="1250" b="0">
                          <a:solidFill>
                            <a:srgbClr val="2B2B2B"/>
                          </a:solidFill>
                          <a:latin typeface="Calibri" panose="020F0502020204030204"/>
                        </a:rPr>
                        <a:t>0.201 kg</a:t>
                      </a:r>
                      <a:endParaRPr sz="1250" b="0">
                        <a:solidFill>
                          <a:srgbClr val="2B2B2B"/>
                        </a:solidFill>
                        <a:latin typeface="Calibri" panose="020F0502020204030204"/>
                      </a:endParaRPr>
                    </a:p>
                  </a:txBody>
                  <a:tcPr marL="82296" marR="82296" anchor="ctr">
                    <a:solidFill>
                      <a:srgbClr val="F3F3F3"/>
                    </a:solidFill>
                  </a:tcPr>
                </a:tc>
                <a:tc>
                  <a:txBody>
                    <a:bodyPr/>
                    <a:lstStyle/>
                    <a:p>
                      <a:r>
                        <a:rPr sz="1250" b="0">
                          <a:solidFill>
                            <a:srgbClr val="2B2B2B"/>
                          </a:solidFill>
                          <a:latin typeface="Calibri" panose="020F0502020204030204"/>
                        </a:rPr>
                        <a:t>printed 0.141 + femur servo 0.060</a:t>
                      </a:r>
                      <a:endParaRPr sz="1250" b="0">
                        <a:solidFill>
                          <a:srgbClr val="2B2B2B"/>
                        </a:solidFill>
                        <a:latin typeface="Calibri" panose="020F0502020204030204"/>
                      </a:endParaRPr>
                    </a:p>
                  </a:txBody>
                  <a:tcPr marL="82296" marR="82296" anchor="ctr">
                    <a:solidFill>
                      <a:srgbClr val="F3F3F3"/>
                    </a:solidFill>
                  </a:tcPr>
                </a:tc>
              </a:tr>
              <a:tr h="475488">
                <a:tc>
                  <a:txBody>
                    <a:bodyPr/>
                    <a:lstStyle/>
                    <a:p>
                      <a:r>
                        <a:rPr sz="1250" b="1">
                          <a:solidFill>
                            <a:srgbClr val="2B2B2B"/>
                          </a:solidFill>
                          <a:latin typeface="Calibri" panose="020F0502020204030204"/>
                        </a:rPr>
                        <a:t>Femur</a:t>
                      </a:r>
                      <a:endParaRPr sz="1250" b="1">
                        <a:solidFill>
                          <a:srgbClr val="2B2B2B"/>
                        </a:solidFill>
                        <a:latin typeface="Calibri" panose="020F0502020204030204"/>
                      </a:endParaRPr>
                    </a:p>
                  </a:txBody>
                  <a:tcPr marL="82296" marR="82296" anchor="ctr">
                    <a:solidFill>
                      <a:srgbClr val="FFFFFF"/>
                    </a:solidFill>
                  </a:tcPr>
                </a:tc>
                <a:tc>
                  <a:txBody>
                    <a:bodyPr/>
                    <a:lstStyle/>
                    <a:p>
                      <a:r>
                        <a:rPr sz="1250" b="0">
                          <a:solidFill>
                            <a:srgbClr val="2B2B2B"/>
                          </a:solidFill>
                          <a:latin typeface="Calibri" panose="020F0502020204030204"/>
                        </a:rPr>
                        <a:t>116.6 mm</a:t>
                      </a:r>
                      <a:endParaRPr sz="1250" b="0">
                        <a:solidFill>
                          <a:srgbClr val="2B2B2B"/>
                        </a:solidFill>
                        <a:latin typeface="Calibri" panose="020F0502020204030204"/>
                      </a:endParaRPr>
                    </a:p>
                  </a:txBody>
                  <a:tcPr marL="82296" marR="82296" anchor="ctr">
                    <a:solidFill>
                      <a:srgbClr val="FFFFFF"/>
                    </a:solidFill>
                  </a:tcPr>
                </a:tc>
                <a:tc>
                  <a:txBody>
                    <a:bodyPr/>
                    <a:lstStyle/>
                    <a:p>
                      <a:r>
                        <a:rPr sz="1250" b="0">
                          <a:solidFill>
                            <a:srgbClr val="2B2B2B"/>
                          </a:solidFill>
                          <a:latin typeface="Calibri" panose="020F0502020204030204"/>
                        </a:rPr>
                        <a:t>0.101 kg</a:t>
                      </a:r>
                      <a:endParaRPr sz="1250" b="0">
                        <a:solidFill>
                          <a:srgbClr val="2B2B2B"/>
                        </a:solidFill>
                        <a:latin typeface="Calibri" panose="020F0502020204030204"/>
                      </a:endParaRPr>
                    </a:p>
                  </a:txBody>
                  <a:tcPr marL="82296" marR="82296" anchor="ctr">
                    <a:solidFill>
                      <a:srgbClr val="FFFFFF"/>
                    </a:solidFill>
                  </a:tcPr>
                </a:tc>
                <a:tc>
                  <a:txBody>
                    <a:bodyPr/>
                    <a:lstStyle/>
                    <a:p>
                      <a:r>
                        <a:rPr sz="1250" b="0">
                          <a:solidFill>
                            <a:srgbClr val="2B2B2B"/>
                          </a:solidFill>
                          <a:latin typeface="Calibri" panose="020F0502020204030204"/>
                        </a:rPr>
                        <a:t>printed 0.041 + tibia servo 0.060</a:t>
                      </a:r>
                      <a:endParaRPr sz="1250" b="0">
                        <a:solidFill>
                          <a:srgbClr val="2B2B2B"/>
                        </a:solidFill>
                        <a:latin typeface="Calibri" panose="020F0502020204030204"/>
                      </a:endParaRPr>
                    </a:p>
                  </a:txBody>
                  <a:tcPr marL="82296" marR="82296" anchor="ctr">
                    <a:solidFill>
                      <a:srgbClr val="FFFFFF"/>
                    </a:solidFill>
                  </a:tcPr>
                </a:tc>
              </a:tr>
              <a:tr h="475488">
                <a:tc>
                  <a:txBody>
                    <a:bodyPr/>
                    <a:lstStyle/>
                    <a:p>
                      <a:r>
                        <a:rPr sz="1250" b="1">
                          <a:solidFill>
                            <a:srgbClr val="2B2B2B"/>
                          </a:solidFill>
                          <a:latin typeface="Calibri" panose="020F0502020204030204"/>
                        </a:rPr>
                        <a:t>Tibia</a:t>
                      </a:r>
                      <a:endParaRPr sz="1250" b="1">
                        <a:solidFill>
                          <a:srgbClr val="2B2B2B"/>
                        </a:solidFill>
                        <a:latin typeface="Calibri" panose="020F0502020204030204"/>
                      </a:endParaRPr>
                    </a:p>
                  </a:txBody>
                  <a:tcPr marL="82296" marR="82296" anchor="ctr">
                    <a:solidFill>
                      <a:srgbClr val="F3F3F3"/>
                    </a:solidFill>
                  </a:tcPr>
                </a:tc>
                <a:tc>
                  <a:txBody>
                    <a:bodyPr/>
                    <a:lstStyle/>
                    <a:p>
                      <a:r>
                        <a:rPr sz="1250" b="0">
                          <a:solidFill>
                            <a:srgbClr val="2B2B2B"/>
                          </a:solidFill>
                          <a:latin typeface="Calibri" panose="020F0502020204030204"/>
                        </a:rPr>
                        <a:t>150.0 mm</a:t>
                      </a:r>
                      <a:endParaRPr sz="1250" b="0">
                        <a:solidFill>
                          <a:srgbClr val="2B2B2B"/>
                        </a:solidFill>
                        <a:latin typeface="Calibri" panose="020F0502020204030204"/>
                      </a:endParaRPr>
                    </a:p>
                  </a:txBody>
                  <a:tcPr marL="82296" marR="82296" anchor="ctr">
                    <a:solidFill>
                      <a:srgbClr val="F3F3F3"/>
                    </a:solidFill>
                  </a:tcPr>
                </a:tc>
                <a:tc>
                  <a:txBody>
                    <a:bodyPr/>
                    <a:lstStyle/>
                    <a:p>
                      <a:r>
                        <a:rPr sz="1250" b="0">
                          <a:solidFill>
                            <a:srgbClr val="2B2B2B"/>
                          </a:solidFill>
                          <a:latin typeface="Calibri" panose="020F0502020204030204"/>
                        </a:rPr>
                        <a:t>0.035 kg</a:t>
                      </a:r>
                      <a:endParaRPr sz="1250" b="0">
                        <a:solidFill>
                          <a:srgbClr val="2B2B2B"/>
                        </a:solidFill>
                        <a:latin typeface="Calibri" panose="020F0502020204030204"/>
                      </a:endParaRPr>
                    </a:p>
                  </a:txBody>
                  <a:tcPr marL="82296" marR="82296" anchor="ctr">
                    <a:solidFill>
                      <a:srgbClr val="F3F3F3"/>
                    </a:solidFill>
                  </a:tcPr>
                </a:tc>
                <a:tc>
                  <a:txBody>
                    <a:bodyPr/>
                    <a:lstStyle/>
                    <a:p>
                      <a:r>
                        <a:rPr sz="1250" b="0">
                          <a:solidFill>
                            <a:srgbClr val="2B2B2B"/>
                          </a:solidFill>
                          <a:latin typeface="Calibri" panose="020F0502020204030204"/>
                        </a:rPr>
                        <a:t>printed part only</a:t>
                      </a:r>
                      <a:endParaRPr sz="1250" b="0">
                        <a:solidFill>
                          <a:srgbClr val="2B2B2B"/>
                        </a:solidFill>
                        <a:latin typeface="Calibri" panose="020F0502020204030204"/>
                      </a:endParaRPr>
                    </a:p>
                  </a:txBody>
                  <a:tcPr marL="82296" marR="82296" anchor="ctr">
                    <a:solidFill>
                      <a:srgbClr val="F3F3F3"/>
                    </a:solidFill>
                  </a:tcPr>
                </a:tc>
              </a:tr>
            </a:tbl>
          </a:graphicData>
        </a:graphic>
      </p:graphicFrame>
      <p:sp>
        <p:nvSpPr>
          <p:cNvPr id="5" name="Rounded Rectangle 4"/>
          <p:cNvSpPr/>
          <p:nvPr/>
        </p:nvSpPr>
        <p:spPr>
          <a:xfrm>
            <a:off x="7772400" y="1874519"/>
            <a:ext cx="3840480" cy="329184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92440" y="2194560"/>
            <a:ext cx="3200400" cy="2834640"/>
          </a:xfrm>
          <a:prstGeom prst="rect">
            <a:avLst/>
          </a:prstGeom>
          <a:noFill/>
        </p:spPr>
        <p:txBody>
          <a:bodyPr wrap="square" lIns="0" tIns="0" rIns="0" bIns="0" anchor="t">
            <a:spAutoFit/>
          </a:bodyPr>
          <a:lstStyle/>
          <a:p>
            <a:pPr algn="l">
              <a:spcAft>
                <a:spcPts val="1100"/>
              </a:spcAft>
            </a:pPr>
            <a:r>
              <a:rPr sz="1550" b="1" i="0">
                <a:solidFill>
                  <a:srgbClr val="C45A11"/>
                </a:solidFill>
                <a:latin typeface="Cambria" panose="02040503050406030204"/>
              </a:rPr>
              <a:t>Inertia tensors</a:t>
            </a:r>
            <a:endParaRPr sz="1550" b="1" i="0">
              <a:solidFill>
                <a:srgbClr val="C45A11"/>
              </a:solidFill>
              <a:latin typeface="Cambria" panose="02040503050406030204"/>
            </a:endParaRPr>
          </a:p>
          <a:p>
            <a:pPr>
              <a:spcAft>
                <a:spcPts val="1000"/>
              </a:spcAft>
            </a:pPr>
            <a:r>
              <a:rPr sz="1350" b="0" i="0">
                <a:solidFill>
                  <a:srgbClr val="2B2B2B"/>
                </a:solidFill>
                <a:latin typeface="Calibri" panose="020F0502020204030204"/>
              </a:rPr>
              <a:t>Computed in closed form for a box and for cylinders, about each part's own centre of mass. These are exact, not estimates.</a:t>
            </a:r>
            <a:endParaRPr sz="1350" b="0" i="0">
              <a:solidFill>
                <a:srgbClr val="2B2B2B"/>
              </a:solidFill>
              <a:latin typeface="Calibri" panose="020F0502020204030204"/>
            </a:endParaRPr>
          </a:p>
          <a:p>
            <a:pPr>
              <a:spcAft>
                <a:spcPts val="0"/>
              </a:spcAft>
            </a:pPr>
            <a:r>
              <a:rPr sz="1350" b="1" i="0">
                <a:solidFill>
                  <a:srgbClr val="2B2B2B"/>
                </a:solidFill>
                <a:latin typeface="Calibri" panose="020F0502020204030204"/>
              </a:rPr>
              <a:t>Total mass 3.39 kg. Standing on three legs, each foot carries about 10.9 N.</a:t>
            </a:r>
            <a:endParaRPr sz="1350" b="1" i="0">
              <a:solidFill>
                <a:srgbClr val="2B2B2B"/>
              </a:solidFill>
              <a:latin typeface="Calibri" panose="020F0502020204030204"/>
            </a:endParaRPr>
          </a:p>
        </p:txBody>
      </p:sp>
      <p:sp>
        <p:nvSpPr>
          <p:cNvPr id="7" name="TextBox 6"/>
          <p:cNvSpPr txBox="1"/>
          <p:nvPr/>
        </p:nvSpPr>
        <p:spPr>
          <a:xfrm>
            <a:off x="566928" y="6144768"/>
            <a:ext cx="11064240" cy="411480"/>
          </a:xfrm>
          <a:prstGeom prst="rect">
            <a:avLst/>
          </a:prstGeom>
          <a:noFill/>
        </p:spPr>
        <p:txBody>
          <a:bodyPr wrap="square" lIns="0" tIns="0" rIns="0" bIns="0" anchor="t">
            <a:spAutoFit/>
          </a:bodyPr>
          <a:lstStyle/>
          <a:p>
            <a:pPr algn="l">
              <a:spcAft>
                <a:spcPts val="0"/>
              </a:spcAft>
            </a:pPr>
            <a:r>
              <a:rPr sz="1250" b="0" i="1">
                <a:solidFill>
                  <a:srgbClr val="707070"/>
                </a:solidFill>
                <a:latin typeface="Calibri" panose="020F0502020204030204"/>
              </a:rPr>
              <a:t>Servo mass belongs to the part it is bolted to, not the part it moves.</a:t>
            </a:r>
            <a:endParaRPr sz="1250" b="0" i="1">
              <a:solidFill>
                <a:srgbClr val="707070"/>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Structural analysis</a:t>
            </a:r>
            <a:endParaRPr sz="3100" b="1" i="0">
              <a:solidFill>
                <a:srgbClr val="2B2B2B"/>
              </a:solidFill>
              <a:latin typeface="Cambria" panose="02040503050406030204"/>
            </a:endParaRPr>
          </a:p>
        </p:txBody>
      </p:sp>
      <p:sp>
        <p:nvSpPr>
          <p:cNvPr id="3" name="TextBox 2"/>
          <p:cNvSpPr txBox="1"/>
          <p:nvPr/>
        </p:nvSpPr>
        <p:spPr>
          <a:xfrm>
            <a:off x="566928" y="1225296"/>
            <a:ext cx="11064240" cy="384048"/>
          </a:xfrm>
          <a:prstGeom prst="rect">
            <a:avLst/>
          </a:prstGeom>
          <a:noFill/>
        </p:spPr>
        <p:txBody>
          <a:bodyPr wrap="square" lIns="0" tIns="0" rIns="0" bIns="0" anchor="t">
            <a:spAutoFit/>
          </a:bodyPr>
          <a:lstStyle/>
          <a:p>
            <a:pPr algn="l">
              <a:spcAft>
                <a:spcPts val="0"/>
              </a:spcAft>
            </a:pPr>
            <a:r>
              <a:rPr sz="1400" b="0" i="0">
                <a:solidFill>
                  <a:srgbClr val="707070"/>
                </a:solidFill>
                <a:latin typeface="Calibri" panose="020F0502020204030204"/>
              </a:rPr>
              <a:t>ANSYS on the parts that carry the standing load</a:t>
            </a:r>
            <a:endParaRPr sz="1400" b="0" i="0">
              <a:solidFill>
                <a:srgbClr val="707070"/>
              </a:solidFill>
              <a:latin typeface="Calibri" panose="020F0502020204030204"/>
            </a:endParaRPr>
          </a:p>
        </p:txBody>
      </p:sp>
      <p:pic>
        <p:nvPicPr>
          <p:cNvPr id="4" name="Picture 3" descr="image18.jpg"/>
          <p:cNvPicPr>
            <a:picLocks noChangeAspect="1"/>
          </p:cNvPicPr>
          <p:nvPr/>
        </p:nvPicPr>
        <p:blipFill>
          <a:blip r:embed="rId1"/>
          <a:stretch>
            <a:fillRect/>
          </a:stretch>
        </p:blipFill>
        <p:spPr>
          <a:xfrm>
            <a:off x="566928" y="2209190"/>
            <a:ext cx="5394960" cy="2805379"/>
          </a:xfrm>
          <a:prstGeom prst="rect">
            <a:avLst/>
          </a:prstGeom>
        </p:spPr>
      </p:pic>
      <p:sp>
        <p:nvSpPr>
          <p:cNvPr id="5" name="TextBox 4"/>
          <p:cNvSpPr txBox="1"/>
          <p:nvPr/>
        </p:nvSpPr>
        <p:spPr>
          <a:xfrm>
            <a:off x="566928" y="5504688"/>
            <a:ext cx="5394960" cy="320040"/>
          </a:xfrm>
          <a:prstGeom prst="rect">
            <a:avLst/>
          </a:prstGeom>
          <a:noFill/>
        </p:spPr>
        <p:txBody>
          <a:bodyPr wrap="square" lIns="0" tIns="0" rIns="0" bIns="0" anchor="t">
            <a:spAutoFit/>
          </a:bodyPr>
          <a:lstStyle/>
          <a:p>
            <a:pPr algn="ctr">
              <a:spcAft>
                <a:spcPts val="0"/>
              </a:spcAft>
            </a:pPr>
            <a:r>
              <a:rPr sz="1150" b="0" i="1">
                <a:solidFill>
                  <a:srgbClr val="707070"/>
                </a:solidFill>
                <a:latin typeface="Calibri" panose="020F0502020204030204"/>
              </a:rPr>
              <a:t>Static structural, femur bracket</a:t>
            </a:r>
            <a:endParaRPr sz="1150" b="0" i="1">
              <a:solidFill>
                <a:srgbClr val="707070"/>
              </a:solidFill>
              <a:latin typeface="Calibri" panose="020F0502020204030204"/>
            </a:endParaRPr>
          </a:p>
        </p:txBody>
      </p:sp>
      <p:pic>
        <p:nvPicPr>
          <p:cNvPr id="6" name="Picture 5" descr="image12.png"/>
          <p:cNvPicPr>
            <a:picLocks noChangeAspect="1"/>
          </p:cNvPicPr>
          <p:nvPr/>
        </p:nvPicPr>
        <p:blipFill>
          <a:blip r:embed="rId2"/>
          <a:stretch>
            <a:fillRect/>
          </a:stretch>
        </p:blipFill>
        <p:spPr>
          <a:xfrm>
            <a:off x="6263640" y="2386984"/>
            <a:ext cx="5394960" cy="2449791"/>
          </a:xfrm>
          <a:prstGeom prst="rect">
            <a:avLst/>
          </a:prstGeom>
        </p:spPr>
      </p:pic>
      <p:sp>
        <p:nvSpPr>
          <p:cNvPr id="7" name="TextBox 6"/>
          <p:cNvSpPr txBox="1"/>
          <p:nvPr/>
        </p:nvSpPr>
        <p:spPr>
          <a:xfrm>
            <a:off x="6263640" y="5504688"/>
            <a:ext cx="5394960" cy="320040"/>
          </a:xfrm>
          <a:prstGeom prst="rect">
            <a:avLst/>
          </a:prstGeom>
          <a:noFill/>
        </p:spPr>
        <p:txBody>
          <a:bodyPr wrap="square" lIns="0" tIns="0" rIns="0" bIns="0" anchor="t">
            <a:spAutoFit/>
          </a:bodyPr>
          <a:lstStyle/>
          <a:p>
            <a:pPr algn="ctr">
              <a:spcAft>
                <a:spcPts val="0"/>
              </a:spcAft>
            </a:pPr>
            <a:r>
              <a:rPr sz="1150" b="0" i="1">
                <a:solidFill>
                  <a:srgbClr val="707070"/>
                </a:solidFill>
                <a:latin typeface="Calibri" panose="020F0502020204030204"/>
              </a:rPr>
              <a:t>Total deformation, chassis</a:t>
            </a:r>
            <a:endParaRPr sz="1150" b="0" i="1">
              <a:solidFill>
                <a:srgbClr val="707070"/>
              </a:solidFill>
              <a:latin typeface="Calibri" panose="020F0502020204030204"/>
            </a:endParaRPr>
          </a:p>
        </p:txBody>
      </p:sp>
      <p:sp>
        <p:nvSpPr>
          <p:cNvPr id="8" name="TextBox 7"/>
          <p:cNvSpPr txBox="1"/>
          <p:nvPr/>
        </p:nvSpPr>
        <p:spPr>
          <a:xfrm>
            <a:off x="566928" y="5806440"/>
            <a:ext cx="11064240" cy="457200"/>
          </a:xfrm>
          <a:prstGeom prst="rect">
            <a:avLst/>
          </a:prstGeom>
          <a:noFill/>
        </p:spPr>
        <p:txBody>
          <a:bodyPr wrap="square" lIns="0" tIns="0" rIns="0" bIns="0" anchor="t">
            <a:spAutoFit/>
          </a:bodyPr>
          <a:lstStyle/>
          <a:p>
            <a:pPr algn="l">
              <a:spcAft>
                <a:spcPts val="0"/>
              </a:spcAft>
            </a:pPr>
            <a:r>
              <a:rPr sz="1300" b="0" i="0">
                <a:solidFill>
                  <a:srgbClr val="2B2B2B"/>
                </a:solidFill>
                <a:latin typeface="Calibri" panose="020F0502020204030204"/>
              </a:rPr>
              <a:t>Load case:  3.39 kg standing on three legs  →  about 10.9 N per foot        Peak stress [        ]        Max deformation [        ]        Factor of safety [        ]</a:t>
            </a:r>
            <a:endParaRPr sz="1300" b="0" i="0">
              <a:solidFill>
                <a:srgbClr val="2B2B2B"/>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Tripod gait</a:t>
            </a:r>
            <a:endParaRPr sz="3100" b="1" i="0">
              <a:solidFill>
                <a:srgbClr val="2B2B2B"/>
              </a:solidFill>
              <a:latin typeface="Cambria" panose="02040503050406030204"/>
            </a:endParaRPr>
          </a:p>
        </p:txBody>
      </p:sp>
      <p:sp>
        <p:nvSpPr>
          <p:cNvPr id="3" name="TextBox 2"/>
          <p:cNvSpPr txBox="1"/>
          <p:nvPr/>
        </p:nvSpPr>
        <p:spPr>
          <a:xfrm>
            <a:off x="566928" y="1225296"/>
            <a:ext cx="11064240" cy="384048"/>
          </a:xfrm>
          <a:prstGeom prst="rect">
            <a:avLst/>
          </a:prstGeom>
          <a:noFill/>
        </p:spPr>
        <p:txBody>
          <a:bodyPr wrap="square" lIns="0" tIns="0" rIns="0" bIns="0" anchor="t">
            <a:spAutoFit/>
          </a:bodyPr>
          <a:lstStyle/>
          <a:p>
            <a:pPr algn="l">
              <a:spcAft>
                <a:spcPts val="0"/>
              </a:spcAft>
            </a:pPr>
            <a:r>
              <a:rPr sz="1400" b="0" i="0">
                <a:solidFill>
                  <a:srgbClr val="707070"/>
                </a:solidFill>
                <a:latin typeface="Calibri" panose="020F0502020204030204"/>
              </a:rPr>
              <a:t>Three feet always down, and the stride follows from the speed</a:t>
            </a:r>
            <a:endParaRPr sz="1400" b="0" i="0">
              <a:solidFill>
                <a:srgbClr val="707070"/>
              </a:solidFill>
              <a:latin typeface="Calibri" panose="020F0502020204030204"/>
            </a:endParaRPr>
          </a:p>
        </p:txBody>
      </p:sp>
      <p:pic>
        <p:nvPicPr>
          <p:cNvPr id="4" name="Picture 3" descr="fig3_gait_diagram.png"/>
          <p:cNvPicPr>
            <a:picLocks noChangeAspect="1"/>
          </p:cNvPicPr>
          <p:nvPr/>
        </p:nvPicPr>
        <p:blipFill>
          <a:blip r:embed="rId1"/>
          <a:stretch>
            <a:fillRect/>
          </a:stretch>
        </p:blipFill>
        <p:spPr>
          <a:xfrm>
            <a:off x="566928" y="1838498"/>
            <a:ext cx="5852160" cy="3546763"/>
          </a:xfrm>
          <a:prstGeom prst="rect">
            <a:avLst/>
          </a:prstGeom>
        </p:spPr>
      </p:pic>
      <p:pic>
        <p:nvPicPr>
          <p:cNvPr id="5" name="Picture 4" descr="eq_stride.png"/>
          <p:cNvPicPr>
            <a:picLocks noChangeAspect="1"/>
          </p:cNvPicPr>
          <p:nvPr/>
        </p:nvPicPr>
        <p:blipFill>
          <a:blip r:embed="rId2"/>
          <a:stretch>
            <a:fillRect/>
          </a:stretch>
        </p:blipFill>
        <p:spPr>
          <a:xfrm>
            <a:off x="6583679" y="2469773"/>
            <a:ext cx="5029200" cy="2009893"/>
          </a:xfrm>
          <a:prstGeom prst="rect">
            <a:avLst/>
          </a:prstGeom>
        </p:spPr>
      </p:pic>
      <p:sp>
        <p:nvSpPr>
          <p:cNvPr id="6" name="TextBox 5"/>
          <p:cNvSpPr txBox="1"/>
          <p:nvPr/>
        </p:nvSpPr>
        <p:spPr>
          <a:xfrm>
            <a:off x="566928" y="5715000"/>
            <a:ext cx="11064240" cy="1005840"/>
          </a:xfrm>
          <a:prstGeom prst="rect">
            <a:avLst/>
          </a:prstGeom>
          <a:noFill/>
        </p:spPr>
        <p:txBody>
          <a:bodyPr wrap="square" lIns="0" tIns="0" rIns="0" bIns="0" anchor="t">
            <a:spAutoFit/>
          </a:bodyPr>
          <a:lstStyle/>
          <a:p>
            <a:pPr algn="l">
              <a:spcAft>
                <a:spcPts val="0"/>
              </a:spcAft>
            </a:pPr>
            <a:r>
              <a:rPr sz="1450" b="0" i="0">
                <a:solidFill>
                  <a:srgbClr val="2B2B2B"/>
                </a:solidFill>
                <a:latin typeface="Calibri" panose="020F0502020204030204"/>
              </a:rPr>
              <a:t>Step length is not a tuning knob. It is forced by the commanded speed and the time a foot spends on the ground. Choosing it freely would make the feet slide.</a:t>
            </a:r>
            <a:endParaRPr sz="1450" b="0" i="0">
              <a:solidFill>
                <a:srgbClr val="2B2B2B"/>
              </a:solidFill>
              <a:latin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Swing trajectory</a:t>
            </a:r>
            <a:endParaRPr sz="3100" b="1" i="0">
              <a:solidFill>
                <a:srgbClr val="2B2B2B"/>
              </a:solidFill>
              <a:latin typeface="Cambria" panose="02040503050406030204"/>
            </a:endParaRPr>
          </a:p>
        </p:txBody>
      </p:sp>
      <p:sp>
        <p:nvSpPr>
          <p:cNvPr id="3" name="TextBox 2"/>
          <p:cNvSpPr txBox="1"/>
          <p:nvPr/>
        </p:nvSpPr>
        <p:spPr>
          <a:xfrm>
            <a:off x="566928" y="1225296"/>
            <a:ext cx="11064240" cy="384048"/>
          </a:xfrm>
          <a:prstGeom prst="rect">
            <a:avLst/>
          </a:prstGeom>
          <a:noFill/>
        </p:spPr>
        <p:txBody>
          <a:bodyPr wrap="square" lIns="0" tIns="0" rIns="0" bIns="0" anchor="t">
            <a:spAutoFit/>
          </a:bodyPr>
          <a:lstStyle/>
          <a:p>
            <a:pPr algn="l">
              <a:spcAft>
                <a:spcPts val="0"/>
              </a:spcAft>
            </a:pPr>
            <a:r>
              <a:rPr sz="1400" b="0" i="0">
                <a:solidFill>
                  <a:srgbClr val="707070"/>
                </a:solidFill>
                <a:latin typeface="Calibri" panose="020F0502020204030204"/>
              </a:rPr>
              <a:t>The shape of one step, and why the ends matter</a:t>
            </a:r>
            <a:endParaRPr sz="1400" b="0" i="0">
              <a:solidFill>
                <a:srgbClr val="707070"/>
              </a:solidFill>
              <a:latin typeface="Calibri" panose="020F0502020204030204"/>
            </a:endParaRPr>
          </a:p>
        </p:txBody>
      </p:sp>
      <p:pic>
        <p:nvPicPr>
          <p:cNvPr id="4" name="Picture 3" descr="fig1_foot_path.png"/>
          <p:cNvPicPr>
            <a:picLocks noChangeAspect="1"/>
          </p:cNvPicPr>
          <p:nvPr/>
        </p:nvPicPr>
        <p:blipFill>
          <a:blip r:embed="rId1"/>
          <a:stretch>
            <a:fillRect/>
          </a:stretch>
        </p:blipFill>
        <p:spPr>
          <a:xfrm>
            <a:off x="566928" y="1792778"/>
            <a:ext cx="5852160" cy="3546763"/>
          </a:xfrm>
          <a:prstGeom prst="rect">
            <a:avLst/>
          </a:prstGeom>
        </p:spPr>
      </p:pic>
      <p:pic>
        <p:nvPicPr>
          <p:cNvPr id="5" name="Picture 4" descr="eq_swing.png"/>
          <p:cNvPicPr>
            <a:picLocks noChangeAspect="1"/>
          </p:cNvPicPr>
          <p:nvPr/>
        </p:nvPicPr>
        <p:blipFill>
          <a:blip r:embed="rId2"/>
          <a:stretch>
            <a:fillRect/>
          </a:stretch>
        </p:blipFill>
        <p:spPr>
          <a:xfrm>
            <a:off x="6583680" y="2530870"/>
            <a:ext cx="5029200" cy="1521938"/>
          </a:xfrm>
          <a:prstGeom prst="rect">
            <a:avLst/>
          </a:prstGeom>
        </p:spPr>
      </p:pic>
      <p:sp>
        <p:nvSpPr>
          <p:cNvPr id="6" name="TextBox 5"/>
          <p:cNvSpPr txBox="1"/>
          <p:nvPr/>
        </p:nvSpPr>
        <p:spPr>
          <a:xfrm>
            <a:off x="6583680" y="4800600"/>
            <a:ext cx="5029200" cy="1463040"/>
          </a:xfrm>
          <a:prstGeom prst="rect">
            <a:avLst/>
          </a:prstGeom>
          <a:noFill/>
        </p:spPr>
        <p:txBody>
          <a:bodyPr wrap="square" lIns="0" tIns="0" rIns="0" bIns="0" anchor="t">
            <a:spAutoFit/>
          </a:bodyPr>
          <a:lstStyle/>
          <a:p>
            <a:pPr algn="l">
              <a:spcAft>
                <a:spcPts val="0"/>
              </a:spcAft>
            </a:pPr>
            <a:r>
              <a:rPr sz="1350" b="0" i="0">
                <a:solidFill>
                  <a:srgbClr val="2B2B2B"/>
                </a:solidFill>
                <a:latin typeface="Calibri" panose="020F0502020204030204"/>
              </a:rPr>
              <a:t>The end slopes are matched to the stance, so the foot touches down with zero speed over the ground rather than zero speed relative to the moving body.</a:t>
            </a:r>
            <a:endParaRPr sz="1350" b="0" i="0">
              <a:solidFill>
                <a:srgbClr val="2B2B2B"/>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No-slip verification</a:t>
            </a:r>
            <a:endParaRPr sz="3100" b="1" i="0">
              <a:solidFill>
                <a:srgbClr val="2B2B2B"/>
              </a:solidFill>
              <a:latin typeface="Cambria" panose="02040503050406030204"/>
            </a:endParaRPr>
          </a:p>
        </p:txBody>
      </p:sp>
      <p:sp>
        <p:nvSpPr>
          <p:cNvPr id="3" name="TextBox 2"/>
          <p:cNvSpPr txBox="1"/>
          <p:nvPr/>
        </p:nvSpPr>
        <p:spPr>
          <a:xfrm>
            <a:off x="566928" y="1225296"/>
            <a:ext cx="11064240" cy="384048"/>
          </a:xfrm>
          <a:prstGeom prst="rect">
            <a:avLst/>
          </a:prstGeom>
          <a:noFill/>
        </p:spPr>
        <p:txBody>
          <a:bodyPr wrap="square" lIns="0" tIns="0" rIns="0" bIns="0" anchor="t">
            <a:spAutoFit/>
          </a:bodyPr>
          <a:lstStyle/>
          <a:p>
            <a:pPr algn="l">
              <a:spcAft>
                <a:spcPts val="0"/>
              </a:spcAft>
            </a:pPr>
            <a:r>
              <a:rPr sz="1400" b="0" i="0">
                <a:solidFill>
                  <a:srgbClr val="707070"/>
                </a:solidFill>
                <a:latin typeface="Calibri" panose="020F0502020204030204"/>
              </a:rPr>
              <a:t>The stance foot does not move relative to the ground</a:t>
            </a:r>
            <a:endParaRPr sz="1400" b="0" i="0">
              <a:solidFill>
                <a:srgbClr val="707070"/>
              </a:solidFill>
              <a:latin typeface="Calibri" panose="020F0502020204030204"/>
            </a:endParaRPr>
          </a:p>
        </p:txBody>
      </p:sp>
      <p:pic>
        <p:nvPicPr>
          <p:cNvPr id="4" name="Picture 3" descr="fig5_nonslip.png"/>
          <p:cNvPicPr>
            <a:picLocks noChangeAspect="1"/>
          </p:cNvPicPr>
          <p:nvPr/>
        </p:nvPicPr>
        <p:blipFill>
          <a:blip r:embed="rId1"/>
          <a:stretch>
            <a:fillRect/>
          </a:stretch>
        </p:blipFill>
        <p:spPr>
          <a:xfrm>
            <a:off x="571499" y="1737360"/>
            <a:ext cx="6940296" cy="4206240"/>
          </a:xfrm>
          <a:prstGeom prst="rect">
            <a:avLst/>
          </a:prstGeom>
        </p:spPr>
      </p:pic>
      <p:sp>
        <p:nvSpPr>
          <p:cNvPr id="5" name="Rounded Rectangle 4"/>
          <p:cNvSpPr/>
          <p:nvPr/>
        </p:nvSpPr>
        <p:spPr>
          <a:xfrm>
            <a:off x="7863840" y="1920240"/>
            <a:ext cx="3749039" cy="35661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83879" y="2240280"/>
            <a:ext cx="3108960" cy="3108960"/>
          </a:xfrm>
          <a:prstGeom prst="rect">
            <a:avLst/>
          </a:prstGeom>
          <a:noFill/>
        </p:spPr>
        <p:txBody>
          <a:bodyPr wrap="square" lIns="0" tIns="0" rIns="0" bIns="0" anchor="t">
            <a:spAutoFit/>
          </a:bodyPr>
          <a:lstStyle/>
          <a:p>
            <a:pPr algn="l">
              <a:spcAft>
                <a:spcPts val="1100"/>
              </a:spcAft>
            </a:pPr>
            <a:r>
              <a:rPr sz="1550" b="1" i="0">
                <a:solidFill>
                  <a:srgbClr val="C45A11"/>
                </a:solidFill>
                <a:latin typeface="Cambria" panose="02040503050406030204"/>
              </a:rPr>
              <a:t>Why this is the key plot</a:t>
            </a:r>
            <a:endParaRPr sz="1550" b="1" i="0">
              <a:solidFill>
                <a:srgbClr val="C45A11"/>
              </a:solidFill>
              <a:latin typeface="Cambria" panose="02040503050406030204"/>
            </a:endParaRPr>
          </a:p>
          <a:p>
            <a:pPr>
              <a:spcAft>
                <a:spcPts val="1000"/>
              </a:spcAft>
            </a:pPr>
            <a:r>
              <a:rPr sz="1350" b="0" i="0">
                <a:solidFill>
                  <a:srgbClr val="2B2B2B"/>
                </a:solidFill>
                <a:latin typeface="Calibri" panose="020F0502020204030204"/>
              </a:rPr>
              <a:t>A foot that slides while carrying load wastes energy, wears the contact surface and destroys odometry.</a:t>
            </a:r>
            <a:endParaRPr sz="1350" b="0" i="0">
              <a:solidFill>
                <a:srgbClr val="2B2B2B"/>
              </a:solidFill>
              <a:latin typeface="Calibri" panose="020F0502020204030204"/>
            </a:endParaRPr>
          </a:p>
          <a:p>
            <a:pPr>
              <a:spcAft>
                <a:spcPts val="1000"/>
              </a:spcAft>
            </a:pPr>
            <a:r>
              <a:rPr sz="1350" b="1" i="0">
                <a:solidFill>
                  <a:srgbClr val="2B2B2B"/>
                </a:solidFill>
                <a:latin typeface="Calibri" panose="020F0502020204030204"/>
              </a:rPr>
              <a:t>The flat zero through the whole stance is what says the gait geometry is right.</a:t>
            </a:r>
            <a:endParaRPr sz="1350" b="1" i="0">
              <a:solidFill>
                <a:srgbClr val="2B2B2B"/>
              </a:solidFill>
              <a:latin typeface="Calibri" panose="020F0502020204030204"/>
            </a:endParaRPr>
          </a:p>
          <a:p>
            <a:pPr>
              <a:spcAft>
                <a:spcPts val="0"/>
              </a:spcAft>
            </a:pPr>
            <a:r>
              <a:rPr sz="1350" b="0" i="0">
                <a:solidFill>
                  <a:srgbClr val="707070"/>
                </a:solidFill>
                <a:latin typeface="Calibri" panose="020F0502020204030204"/>
              </a:rPr>
              <a:t>Checked automatically at every phase, on every code change.</a:t>
            </a:r>
            <a:endParaRPr sz="1350" b="0" i="0">
              <a:solidFill>
                <a:srgbClr val="707070"/>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MATLAB study: the foot path</a:t>
            </a:r>
            <a:endParaRPr sz="3100" b="1" i="0">
              <a:solidFill>
                <a:srgbClr val="2B2B2B"/>
              </a:solidFill>
              <a:latin typeface="Cambria" panose="02040503050406030204"/>
            </a:endParaRPr>
          </a:p>
        </p:txBody>
      </p:sp>
      <p:sp>
        <p:nvSpPr>
          <p:cNvPr id="3" name="TextBox 2"/>
          <p:cNvSpPr txBox="1"/>
          <p:nvPr/>
        </p:nvSpPr>
        <p:spPr>
          <a:xfrm>
            <a:off x="566928" y="1225296"/>
            <a:ext cx="11064240" cy="384048"/>
          </a:xfrm>
          <a:prstGeom prst="rect">
            <a:avLst/>
          </a:prstGeom>
          <a:noFill/>
        </p:spPr>
        <p:txBody>
          <a:bodyPr wrap="square" lIns="0" tIns="0" rIns="0" bIns="0" anchor="t">
            <a:spAutoFit/>
          </a:bodyPr>
          <a:lstStyle/>
          <a:p>
            <a:pPr algn="l">
              <a:spcAft>
                <a:spcPts val="0"/>
              </a:spcAft>
            </a:pPr>
            <a:r>
              <a:rPr sz="1400" b="0" i="0">
                <a:solidFill>
                  <a:srgbClr val="707070"/>
                </a:solidFill>
                <a:latin typeface="Calibri" panose="020F0502020204030204"/>
              </a:rPr>
              <a:t>Modelling one step as a Bézier curve before implementing it</a:t>
            </a:r>
            <a:endParaRPr sz="1400" b="0" i="0">
              <a:solidFill>
                <a:srgbClr val="707070"/>
              </a:solidFill>
              <a:latin typeface="Calibri" panose="020F0502020204030204"/>
            </a:endParaRPr>
          </a:p>
        </p:txBody>
      </p:sp>
      <p:pic>
        <p:nvPicPr>
          <p:cNvPr id="4" name="Picture 3" descr="c_image13.png"/>
          <p:cNvPicPr>
            <a:picLocks noChangeAspect="1"/>
          </p:cNvPicPr>
          <p:nvPr/>
        </p:nvPicPr>
        <p:blipFill>
          <a:blip r:embed="rId1"/>
          <a:stretch>
            <a:fillRect/>
          </a:stretch>
        </p:blipFill>
        <p:spPr>
          <a:xfrm>
            <a:off x="566928" y="1998927"/>
            <a:ext cx="5394960" cy="3225904"/>
          </a:xfrm>
          <a:prstGeom prst="rect">
            <a:avLst/>
          </a:prstGeom>
        </p:spPr>
      </p:pic>
      <p:sp>
        <p:nvSpPr>
          <p:cNvPr id="5" name="TextBox 4"/>
          <p:cNvSpPr txBox="1"/>
          <p:nvPr/>
        </p:nvSpPr>
        <p:spPr>
          <a:xfrm>
            <a:off x="566928" y="5504688"/>
            <a:ext cx="5394960" cy="320040"/>
          </a:xfrm>
          <a:prstGeom prst="rect">
            <a:avLst/>
          </a:prstGeom>
          <a:noFill/>
        </p:spPr>
        <p:txBody>
          <a:bodyPr wrap="square" lIns="0" tIns="0" rIns="0" bIns="0" anchor="t">
            <a:spAutoFit/>
          </a:bodyPr>
          <a:lstStyle/>
          <a:p>
            <a:pPr algn="ctr">
              <a:spcAft>
                <a:spcPts val="0"/>
              </a:spcAft>
            </a:pPr>
            <a:r>
              <a:rPr sz="1150" b="0" i="1">
                <a:solidFill>
                  <a:srgbClr val="707070"/>
                </a:solidFill>
                <a:latin typeface="Calibri" panose="020F0502020204030204"/>
              </a:rPr>
              <a:t>Foot movement in XYZ</a:t>
            </a:r>
            <a:endParaRPr sz="1150" b="0" i="1">
              <a:solidFill>
                <a:srgbClr val="707070"/>
              </a:solidFill>
              <a:latin typeface="Calibri" panose="020F0502020204030204"/>
            </a:endParaRPr>
          </a:p>
        </p:txBody>
      </p:sp>
      <p:pic>
        <p:nvPicPr>
          <p:cNvPr id="6" name="Picture 5" descr="c_image4.png"/>
          <p:cNvPicPr>
            <a:picLocks noChangeAspect="1"/>
          </p:cNvPicPr>
          <p:nvPr/>
        </p:nvPicPr>
        <p:blipFill>
          <a:blip r:embed="rId2"/>
          <a:stretch>
            <a:fillRect/>
          </a:stretch>
        </p:blipFill>
        <p:spPr>
          <a:xfrm>
            <a:off x="6263640" y="1993391"/>
            <a:ext cx="5394960" cy="3236976"/>
          </a:xfrm>
          <a:prstGeom prst="rect">
            <a:avLst/>
          </a:prstGeom>
        </p:spPr>
      </p:pic>
      <p:sp>
        <p:nvSpPr>
          <p:cNvPr id="7" name="TextBox 6"/>
          <p:cNvSpPr txBox="1"/>
          <p:nvPr/>
        </p:nvSpPr>
        <p:spPr>
          <a:xfrm>
            <a:off x="6263640" y="5504688"/>
            <a:ext cx="5394960" cy="320040"/>
          </a:xfrm>
          <a:prstGeom prst="rect">
            <a:avLst/>
          </a:prstGeom>
          <a:noFill/>
        </p:spPr>
        <p:txBody>
          <a:bodyPr wrap="square" lIns="0" tIns="0" rIns="0" bIns="0" anchor="t">
            <a:spAutoFit/>
          </a:bodyPr>
          <a:lstStyle/>
          <a:p>
            <a:pPr algn="ctr">
              <a:spcAft>
                <a:spcPts val="0"/>
              </a:spcAft>
            </a:pPr>
            <a:r>
              <a:rPr sz="1150" b="0" i="1">
                <a:solidFill>
                  <a:srgbClr val="707070"/>
                </a:solidFill>
                <a:latin typeface="Calibri" panose="020F0502020204030204"/>
              </a:rPr>
              <a:t>Fore and aft view of the same path</a:t>
            </a:r>
            <a:endParaRPr sz="1150" b="0" i="1">
              <a:solidFill>
                <a:srgbClr val="707070"/>
              </a:solidFill>
              <a:latin typeface="Calibri" panose="020F0502020204030204"/>
            </a:endParaRPr>
          </a:p>
        </p:txBody>
      </p:sp>
      <p:sp>
        <p:nvSpPr>
          <p:cNvPr id="8" name="TextBox 7"/>
          <p:cNvSpPr txBox="1"/>
          <p:nvPr/>
        </p:nvSpPr>
        <p:spPr>
          <a:xfrm>
            <a:off x="566928" y="5760720"/>
            <a:ext cx="11064240" cy="457200"/>
          </a:xfrm>
          <a:prstGeom prst="rect">
            <a:avLst/>
          </a:prstGeom>
          <a:noFill/>
        </p:spPr>
        <p:txBody>
          <a:bodyPr wrap="square" lIns="0" tIns="0" rIns="0" bIns="0" anchor="t">
            <a:spAutoFit/>
          </a:bodyPr>
          <a:lstStyle/>
          <a:p>
            <a:pPr algn="l">
              <a:spcAft>
                <a:spcPts val="0"/>
              </a:spcAft>
            </a:pPr>
            <a:r>
              <a:rPr sz="1400" b="0" i="0">
                <a:solidFill>
                  <a:srgbClr val="2B2B2B"/>
                </a:solidFill>
                <a:latin typeface="Calibri" panose="020F0502020204030204"/>
              </a:rPr>
              <a:t>The path is smooth and closed. Lift height and stride length are set by the control points of the curve.</a:t>
            </a:r>
            <a:endParaRPr sz="1400" b="0" i="0">
              <a:solidFill>
                <a:srgbClr val="2B2B2B"/>
              </a:solidFill>
              <a:latin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MATLAB: velocity and acceleration</a:t>
            </a:r>
            <a:endParaRPr sz="3100" b="1" i="0">
              <a:solidFill>
                <a:srgbClr val="2B2B2B"/>
              </a:solidFill>
              <a:latin typeface="Cambria" panose="02040503050406030204"/>
            </a:endParaRPr>
          </a:p>
        </p:txBody>
      </p:sp>
      <p:sp>
        <p:nvSpPr>
          <p:cNvPr id="3" name="TextBox 2"/>
          <p:cNvSpPr txBox="1"/>
          <p:nvPr/>
        </p:nvSpPr>
        <p:spPr>
          <a:xfrm>
            <a:off x="566928" y="1225296"/>
            <a:ext cx="11064240" cy="384048"/>
          </a:xfrm>
          <a:prstGeom prst="rect">
            <a:avLst/>
          </a:prstGeom>
          <a:noFill/>
        </p:spPr>
        <p:txBody>
          <a:bodyPr wrap="square" lIns="0" tIns="0" rIns="0" bIns="0" anchor="t">
            <a:spAutoFit/>
          </a:bodyPr>
          <a:lstStyle/>
          <a:p>
            <a:pPr algn="l">
              <a:spcAft>
                <a:spcPts val="0"/>
              </a:spcAft>
            </a:pPr>
            <a:r>
              <a:rPr sz="1400" b="0" i="0">
                <a:solidFill>
                  <a:srgbClr val="707070"/>
                </a:solidFill>
                <a:latin typeface="Calibri" panose="020F0502020204030204"/>
              </a:rPr>
              <a:t>Differentiating the path gives the servo requirements</a:t>
            </a:r>
            <a:endParaRPr sz="1400" b="0" i="0">
              <a:solidFill>
                <a:srgbClr val="707070"/>
              </a:solidFill>
              <a:latin typeface="Calibri" panose="020F0502020204030204"/>
            </a:endParaRPr>
          </a:p>
        </p:txBody>
      </p:sp>
      <p:pic>
        <p:nvPicPr>
          <p:cNvPr id="4" name="Picture 3" descr="c_image10.png"/>
          <p:cNvPicPr>
            <a:picLocks noChangeAspect="1"/>
          </p:cNvPicPr>
          <p:nvPr/>
        </p:nvPicPr>
        <p:blipFill>
          <a:blip r:embed="rId1"/>
          <a:stretch>
            <a:fillRect/>
          </a:stretch>
        </p:blipFill>
        <p:spPr>
          <a:xfrm>
            <a:off x="566928" y="1843159"/>
            <a:ext cx="5394960" cy="3263121"/>
          </a:xfrm>
          <a:prstGeom prst="rect">
            <a:avLst/>
          </a:prstGeom>
        </p:spPr>
      </p:pic>
      <p:sp>
        <p:nvSpPr>
          <p:cNvPr id="5" name="TextBox 4"/>
          <p:cNvSpPr txBox="1"/>
          <p:nvPr/>
        </p:nvSpPr>
        <p:spPr>
          <a:xfrm>
            <a:off x="566928" y="5230368"/>
            <a:ext cx="5394960" cy="320040"/>
          </a:xfrm>
          <a:prstGeom prst="rect">
            <a:avLst/>
          </a:prstGeom>
          <a:noFill/>
        </p:spPr>
        <p:txBody>
          <a:bodyPr wrap="square" lIns="0" tIns="0" rIns="0" bIns="0" anchor="t">
            <a:spAutoFit/>
          </a:bodyPr>
          <a:lstStyle/>
          <a:p>
            <a:pPr algn="ctr">
              <a:spcAft>
                <a:spcPts val="0"/>
              </a:spcAft>
            </a:pPr>
            <a:r>
              <a:rPr sz="1150" b="0" i="1">
                <a:solidFill>
                  <a:srgbClr val="707070"/>
                </a:solidFill>
                <a:latin typeface="Calibri" panose="020F0502020204030204"/>
              </a:rPr>
              <a:t>Foot velocity through the step</a:t>
            </a:r>
            <a:endParaRPr sz="1150" b="0" i="1">
              <a:solidFill>
                <a:srgbClr val="707070"/>
              </a:solidFill>
              <a:latin typeface="Calibri" panose="020F0502020204030204"/>
            </a:endParaRPr>
          </a:p>
        </p:txBody>
      </p:sp>
      <p:pic>
        <p:nvPicPr>
          <p:cNvPr id="6" name="Picture 5" descr="c_image3.png"/>
          <p:cNvPicPr>
            <a:picLocks noChangeAspect="1"/>
          </p:cNvPicPr>
          <p:nvPr/>
        </p:nvPicPr>
        <p:blipFill>
          <a:blip r:embed="rId2"/>
          <a:stretch>
            <a:fillRect/>
          </a:stretch>
        </p:blipFill>
        <p:spPr>
          <a:xfrm>
            <a:off x="6263640" y="1847190"/>
            <a:ext cx="5394960" cy="3255059"/>
          </a:xfrm>
          <a:prstGeom prst="rect">
            <a:avLst/>
          </a:prstGeom>
        </p:spPr>
      </p:pic>
      <p:sp>
        <p:nvSpPr>
          <p:cNvPr id="7" name="TextBox 6"/>
          <p:cNvSpPr txBox="1"/>
          <p:nvPr/>
        </p:nvSpPr>
        <p:spPr>
          <a:xfrm>
            <a:off x="6263640" y="5230368"/>
            <a:ext cx="5394960" cy="320040"/>
          </a:xfrm>
          <a:prstGeom prst="rect">
            <a:avLst/>
          </a:prstGeom>
          <a:noFill/>
        </p:spPr>
        <p:txBody>
          <a:bodyPr wrap="square" lIns="0" tIns="0" rIns="0" bIns="0" anchor="t">
            <a:spAutoFit/>
          </a:bodyPr>
          <a:lstStyle/>
          <a:p>
            <a:pPr algn="ctr">
              <a:spcAft>
                <a:spcPts val="0"/>
              </a:spcAft>
            </a:pPr>
            <a:r>
              <a:rPr sz="1150" b="0" i="1">
                <a:solidFill>
                  <a:srgbClr val="707070"/>
                </a:solidFill>
                <a:latin typeface="Calibri" panose="020F0502020204030204"/>
              </a:rPr>
              <a:t>Foot acceleration through the step</a:t>
            </a:r>
            <a:endParaRPr sz="1150" b="0" i="1">
              <a:solidFill>
                <a:srgbClr val="707070"/>
              </a:solidFill>
              <a:latin typeface="Calibri" panose="020F0502020204030204"/>
            </a:endParaRPr>
          </a:p>
        </p:txBody>
      </p:sp>
      <p:sp>
        <p:nvSpPr>
          <p:cNvPr id="8" name="Rounded Rectangle 7"/>
          <p:cNvSpPr/>
          <p:nvPr/>
        </p:nvSpPr>
        <p:spPr>
          <a:xfrm>
            <a:off x="566928" y="5394960"/>
            <a:ext cx="11064240" cy="10515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596128"/>
            <a:ext cx="10424160" cy="777240"/>
          </a:xfrm>
          <a:prstGeom prst="rect">
            <a:avLst/>
          </a:prstGeom>
          <a:noFill/>
        </p:spPr>
        <p:txBody>
          <a:bodyPr wrap="square" lIns="0" tIns="0" rIns="0" bIns="0" anchor="t">
            <a:spAutoFit/>
          </a:bodyPr>
          <a:lstStyle/>
          <a:p>
            <a:pPr algn="l">
              <a:spcAft>
                <a:spcPts val="0"/>
              </a:spcAft>
            </a:pPr>
            <a:r>
              <a:rPr sz="1350" b="0" i="0">
                <a:solidFill>
                  <a:srgbClr val="2B2B2B"/>
                </a:solidFill>
                <a:latin typeface="Calibri" panose="020F0502020204030204"/>
              </a:rPr>
              <a:t>Peak velocity sets the speed the servo must deliver. Peak acceleration times the moving mass gives the inertial load on top of holding the robot up. Both curves are smooth, so there is no impulsive load on the gearbox.</a:t>
            </a:r>
            <a:endParaRPr sz="1350" b="0" i="0">
              <a:solidFill>
                <a:srgbClr val="2B2B2B"/>
              </a:solidFill>
              <a:latin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MATLAB: foot force</a:t>
            </a:r>
            <a:endParaRPr sz="3100" b="1" i="0">
              <a:solidFill>
                <a:srgbClr val="2B2B2B"/>
              </a:solidFill>
              <a:latin typeface="Cambria" panose="02040503050406030204"/>
            </a:endParaRPr>
          </a:p>
        </p:txBody>
      </p:sp>
      <p:sp>
        <p:nvSpPr>
          <p:cNvPr id="3" name="TextBox 2"/>
          <p:cNvSpPr txBox="1"/>
          <p:nvPr/>
        </p:nvSpPr>
        <p:spPr>
          <a:xfrm>
            <a:off x="566928" y="1225296"/>
            <a:ext cx="11064240" cy="384048"/>
          </a:xfrm>
          <a:prstGeom prst="rect">
            <a:avLst/>
          </a:prstGeom>
          <a:noFill/>
        </p:spPr>
        <p:txBody>
          <a:bodyPr wrap="square" lIns="0" tIns="0" rIns="0" bIns="0" anchor="t">
            <a:spAutoFit/>
          </a:bodyPr>
          <a:lstStyle/>
          <a:p>
            <a:pPr algn="l">
              <a:spcAft>
                <a:spcPts val="0"/>
              </a:spcAft>
            </a:pPr>
            <a:r>
              <a:rPr sz="1400" b="0" i="0">
                <a:solidFill>
                  <a:srgbClr val="707070"/>
                </a:solidFill>
                <a:latin typeface="Calibri" panose="020F0502020204030204"/>
              </a:rPr>
              <a:t>What the leg has to carry through a step</a:t>
            </a:r>
            <a:endParaRPr sz="1400" b="0" i="0">
              <a:solidFill>
                <a:srgbClr val="707070"/>
              </a:solidFill>
              <a:latin typeface="Calibri" panose="020F0502020204030204"/>
            </a:endParaRPr>
          </a:p>
        </p:txBody>
      </p:sp>
      <p:pic>
        <p:nvPicPr>
          <p:cNvPr id="4" name="Picture 3" descr="c_image11.png"/>
          <p:cNvPicPr>
            <a:picLocks noChangeAspect="1"/>
          </p:cNvPicPr>
          <p:nvPr/>
        </p:nvPicPr>
        <p:blipFill>
          <a:blip r:embed="rId1"/>
          <a:stretch>
            <a:fillRect/>
          </a:stretch>
        </p:blipFill>
        <p:spPr>
          <a:xfrm>
            <a:off x="566928" y="1783506"/>
            <a:ext cx="6675120" cy="4022507"/>
          </a:xfrm>
          <a:prstGeom prst="rect">
            <a:avLst/>
          </a:prstGeom>
        </p:spPr>
      </p:pic>
      <p:sp>
        <p:nvSpPr>
          <p:cNvPr id="5" name="TextBox 4"/>
          <p:cNvSpPr txBox="1"/>
          <p:nvPr/>
        </p:nvSpPr>
        <p:spPr>
          <a:xfrm>
            <a:off x="566928" y="5870448"/>
            <a:ext cx="6675120" cy="320040"/>
          </a:xfrm>
          <a:prstGeom prst="rect">
            <a:avLst/>
          </a:prstGeom>
          <a:noFill/>
        </p:spPr>
        <p:txBody>
          <a:bodyPr wrap="square" lIns="0" tIns="0" rIns="0" bIns="0" anchor="t">
            <a:spAutoFit/>
          </a:bodyPr>
          <a:lstStyle/>
          <a:p>
            <a:pPr algn="ctr">
              <a:spcAft>
                <a:spcPts val="0"/>
              </a:spcAft>
            </a:pPr>
            <a:r>
              <a:rPr sz="1150" b="0" i="1">
                <a:solidFill>
                  <a:srgbClr val="707070"/>
                </a:solidFill>
                <a:latin typeface="Calibri" panose="020F0502020204030204"/>
              </a:rPr>
              <a:t>Foot force against phase</a:t>
            </a:r>
            <a:endParaRPr sz="1150" b="0" i="1">
              <a:solidFill>
                <a:srgbClr val="707070"/>
              </a:solidFill>
              <a:latin typeface="Calibri" panose="020F0502020204030204"/>
            </a:endParaRPr>
          </a:p>
        </p:txBody>
      </p:sp>
      <p:sp>
        <p:nvSpPr>
          <p:cNvPr id="6" name="Rounded Rectangle 5"/>
          <p:cNvSpPr/>
          <p:nvPr/>
        </p:nvSpPr>
        <p:spPr>
          <a:xfrm>
            <a:off x="7589520" y="1920240"/>
            <a:ext cx="4023360" cy="35661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09560" y="2240280"/>
            <a:ext cx="3383280" cy="3108960"/>
          </a:xfrm>
          <a:prstGeom prst="rect">
            <a:avLst/>
          </a:prstGeom>
          <a:noFill/>
        </p:spPr>
        <p:txBody>
          <a:bodyPr wrap="square" lIns="0" tIns="0" rIns="0" bIns="0" anchor="t">
            <a:spAutoFit/>
          </a:bodyPr>
          <a:lstStyle/>
          <a:p>
            <a:pPr algn="l">
              <a:spcAft>
                <a:spcPts val="1100"/>
              </a:spcAft>
            </a:pPr>
            <a:r>
              <a:rPr sz="1550" b="1" i="0">
                <a:solidFill>
                  <a:srgbClr val="C45A11"/>
                </a:solidFill>
                <a:latin typeface="Cambria" panose="02040503050406030204"/>
              </a:rPr>
              <a:t>Why this sizes the servo</a:t>
            </a:r>
            <a:endParaRPr sz="1550" b="1" i="0">
              <a:solidFill>
                <a:srgbClr val="C45A11"/>
              </a:solidFill>
              <a:latin typeface="Cambria" panose="02040503050406030204"/>
            </a:endParaRPr>
          </a:p>
          <a:p>
            <a:pPr>
              <a:spcAft>
                <a:spcPts val="1000"/>
              </a:spcAft>
            </a:pPr>
            <a:r>
              <a:rPr sz="1350" b="0" i="0">
                <a:solidFill>
                  <a:srgbClr val="2B2B2B"/>
                </a:solidFill>
                <a:latin typeface="Calibri" panose="020F0502020204030204"/>
              </a:rPr>
              <a:t>Force is highest at the start and end of the phase, lowest in the middle. It follows the acceleration curve.</a:t>
            </a:r>
            <a:endParaRPr sz="1350" b="0" i="0">
              <a:solidFill>
                <a:srgbClr val="2B2B2B"/>
              </a:solidFill>
              <a:latin typeface="Calibri" panose="020F0502020204030204"/>
            </a:endParaRPr>
          </a:p>
          <a:p>
            <a:pPr>
              <a:spcAft>
                <a:spcPts val="1000"/>
              </a:spcAft>
            </a:pPr>
            <a:r>
              <a:rPr sz="1350" b="0" i="0">
                <a:solidFill>
                  <a:srgbClr val="2B2B2B"/>
                </a:solidFill>
                <a:latin typeface="Calibri" panose="020F0502020204030204"/>
              </a:rPr>
              <a:t>Force multiplied by the link length gives the torque the joint must produce, which is how the servo class was chosen.</a:t>
            </a:r>
            <a:endParaRPr sz="1350" b="0" i="0">
              <a:solidFill>
                <a:srgbClr val="2B2B2B"/>
              </a:solidFill>
              <a:latin typeface="Calibri" panose="020F0502020204030204"/>
            </a:endParaRPr>
          </a:p>
          <a:p>
            <a:pPr>
              <a:spcAft>
                <a:spcPts val="0"/>
              </a:spcAft>
            </a:pPr>
            <a:r>
              <a:rPr sz="1350" b="0" i="0">
                <a:solidFill>
                  <a:srgbClr val="707070"/>
                </a:solidFill>
                <a:latin typeface="Calibri" panose="020F0502020204030204"/>
              </a:rPr>
              <a:t>Static component: 10.9 N per foot from the mass budget.</a:t>
            </a:r>
            <a:endParaRPr sz="1350" b="0" i="0">
              <a:solidFill>
                <a:srgbClr val="707070"/>
              </a:solidFill>
              <a:latin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MATLAB: joint angles</a:t>
            </a:r>
            <a:endParaRPr sz="3100" b="1" i="0">
              <a:solidFill>
                <a:srgbClr val="2B2B2B"/>
              </a:solidFill>
              <a:latin typeface="Cambria" panose="02040503050406030204"/>
            </a:endParaRPr>
          </a:p>
        </p:txBody>
      </p:sp>
      <p:sp>
        <p:nvSpPr>
          <p:cNvPr id="3" name="TextBox 2"/>
          <p:cNvSpPr txBox="1"/>
          <p:nvPr/>
        </p:nvSpPr>
        <p:spPr>
          <a:xfrm>
            <a:off x="566928" y="1225296"/>
            <a:ext cx="11064240" cy="384048"/>
          </a:xfrm>
          <a:prstGeom prst="rect">
            <a:avLst/>
          </a:prstGeom>
          <a:noFill/>
        </p:spPr>
        <p:txBody>
          <a:bodyPr wrap="square" lIns="0" tIns="0" rIns="0" bIns="0" anchor="t">
            <a:spAutoFit/>
          </a:bodyPr>
          <a:lstStyle/>
          <a:p>
            <a:pPr algn="l">
              <a:spcAft>
                <a:spcPts val="0"/>
              </a:spcAft>
            </a:pPr>
            <a:r>
              <a:rPr sz="1400" b="0" i="0">
                <a:solidFill>
                  <a:srgbClr val="707070"/>
                </a:solidFill>
                <a:latin typeface="Calibri" panose="020F0502020204030204"/>
              </a:rPr>
              <a:t>The inverse kinematics applied along the whole path</a:t>
            </a:r>
            <a:endParaRPr sz="1400" b="0" i="0">
              <a:solidFill>
                <a:srgbClr val="707070"/>
              </a:solidFill>
              <a:latin typeface="Calibri" panose="020F0502020204030204"/>
            </a:endParaRPr>
          </a:p>
        </p:txBody>
      </p:sp>
      <p:pic>
        <p:nvPicPr>
          <p:cNvPr id="4" name="Picture 3" descr="c_image17.png"/>
          <p:cNvPicPr>
            <a:picLocks noChangeAspect="1"/>
          </p:cNvPicPr>
          <p:nvPr/>
        </p:nvPicPr>
        <p:blipFill>
          <a:blip r:embed="rId1"/>
          <a:stretch>
            <a:fillRect/>
          </a:stretch>
        </p:blipFill>
        <p:spPr>
          <a:xfrm>
            <a:off x="735555" y="1737360"/>
            <a:ext cx="6977944" cy="4206240"/>
          </a:xfrm>
          <a:prstGeom prst="rect">
            <a:avLst/>
          </a:prstGeom>
        </p:spPr>
      </p:pic>
      <p:sp>
        <p:nvSpPr>
          <p:cNvPr id="5" name="TextBox 4"/>
          <p:cNvSpPr txBox="1"/>
          <p:nvPr/>
        </p:nvSpPr>
        <p:spPr>
          <a:xfrm>
            <a:off x="566928" y="6007608"/>
            <a:ext cx="7315200" cy="320040"/>
          </a:xfrm>
          <a:prstGeom prst="rect">
            <a:avLst/>
          </a:prstGeom>
          <a:noFill/>
        </p:spPr>
        <p:txBody>
          <a:bodyPr wrap="square" lIns="0" tIns="0" rIns="0" bIns="0" anchor="t">
            <a:spAutoFit/>
          </a:bodyPr>
          <a:lstStyle/>
          <a:p>
            <a:pPr algn="ctr">
              <a:spcAft>
                <a:spcPts val="0"/>
              </a:spcAft>
            </a:pPr>
            <a:r>
              <a:rPr sz="1150" b="0" i="1">
                <a:solidFill>
                  <a:srgbClr val="707070"/>
                </a:solidFill>
                <a:latin typeface="Calibri" panose="020F0502020204030204"/>
              </a:rPr>
              <a:t>θ₁ coxa, θ₂ femur, θ₃ tibia against phase</a:t>
            </a:r>
            <a:endParaRPr sz="1150" b="0" i="1">
              <a:solidFill>
                <a:srgbClr val="707070"/>
              </a:solidFill>
              <a:latin typeface="Calibri" panose="020F0502020204030204"/>
            </a:endParaRPr>
          </a:p>
        </p:txBody>
      </p:sp>
      <p:sp>
        <p:nvSpPr>
          <p:cNvPr id="6" name="Rounded Rectangle 5"/>
          <p:cNvSpPr/>
          <p:nvPr/>
        </p:nvSpPr>
        <p:spPr>
          <a:xfrm>
            <a:off x="8138160" y="1920240"/>
            <a:ext cx="3474720" cy="35661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2240280"/>
            <a:ext cx="2834640" cy="3108960"/>
          </a:xfrm>
          <a:prstGeom prst="rect">
            <a:avLst/>
          </a:prstGeom>
          <a:noFill/>
        </p:spPr>
        <p:txBody>
          <a:bodyPr wrap="square" lIns="0" tIns="0" rIns="0" bIns="0" anchor="t">
            <a:spAutoFit/>
          </a:bodyPr>
          <a:lstStyle/>
          <a:p>
            <a:pPr algn="l">
              <a:spcAft>
                <a:spcPts val="1100"/>
              </a:spcAft>
            </a:pPr>
            <a:r>
              <a:rPr sz="1550" b="1" i="0">
                <a:solidFill>
                  <a:srgbClr val="C45A11"/>
                </a:solidFill>
                <a:latin typeface="Cambria" panose="02040503050406030204"/>
              </a:rPr>
              <a:t>What it confirms</a:t>
            </a:r>
            <a:endParaRPr sz="1550" b="1" i="0">
              <a:solidFill>
                <a:srgbClr val="C45A11"/>
              </a:solidFill>
              <a:latin typeface="Cambria" panose="02040503050406030204"/>
            </a:endParaRPr>
          </a:p>
          <a:p>
            <a:pPr>
              <a:spcAft>
                <a:spcPts val="1000"/>
              </a:spcAft>
            </a:pPr>
            <a:r>
              <a:rPr sz="1350" b="0" i="0">
                <a:solidFill>
                  <a:srgbClr val="2B2B2B"/>
                </a:solidFill>
                <a:latin typeface="Calibri" panose="020F0502020204030204"/>
              </a:rPr>
              <a:t>Femur and tibia move smoothly through roughly 30 degrees, well inside their limits.</a:t>
            </a:r>
            <a:endParaRPr sz="1350" b="0" i="0">
              <a:solidFill>
                <a:srgbClr val="2B2B2B"/>
              </a:solidFill>
              <a:latin typeface="Calibri" panose="020F0502020204030204"/>
            </a:endParaRPr>
          </a:p>
          <a:p>
            <a:pPr>
              <a:spcAft>
                <a:spcPts val="1000"/>
              </a:spcAft>
            </a:pPr>
            <a:r>
              <a:rPr sz="1350" b="0" i="0">
                <a:solidFill>
                  <a:srgbClr val="2B2B2B"/>
                </a:solidFill>
                <a:latin typeface="Calibri" panose="020F0502020204030204"/>
              </a:rPr>
              <a:t>The whole trajectory is reachable. No point on the path asks the leg for something it cannot do.</a:t>
            </a:r>
            <a:endParaRPr sz="1350" b="0" i="0">
              <a:solidFill>
                <a:srgbClr val="2B2B2B"/>
              </a:solidFill>
              <a:latin typeface="Calibri" panose="020F0502020204030204"/>
            </a:endParaRPr>
          </a:p>
          <a:p>
            <a:pPr>
              <a:spcAft>
                <a:spcPts val="0"/>
              </a:spcAft>
            </a:pPr>
            <a:r>
              <a:rPr sz="1350" b="0" i="0">
                <a:solidFill>
                  <a:srgbClr val="707070"/>
                </a:solidFill>
                <a:latin typeface="Calibri" panose="020F0502020204030204"/>
              </a:rPr>
              <a:t>These angles are what the controller receives.</a:t>
            </a:r>
            <a:endParaRPr sz="1350" b="0" i="0">
              <a:solidFill>
                <a:srgbClr val="707070"/>
              </a:solidFill>
              <a:latin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From CAD to simulation model</a:t>
            </a:r>
            <a:endParaRPr sz="3100" b="1" i="0">
              <a:solidFill>
                <a:srgbClr val="2B2B2B"/>
              </a:solidFill>
              <a:latin typeface="Cambria" panose="02040503050406030204"/>
            </a:endParaRPr>
          </a:p>
        </p:txBody>
      </p:sp>
      <p:sp>
        <p:nvSpPr>
          <p:cNvPr id="3" name="TextBox 2"/>
          <p:cNvSpPr txBox="1"/>
          <p:nvPr/>
        </p:nvSpPr>
        <p:spPr>
          <a:xfrm>
            <a:off x="566928" y="1225296"/>
            <a:ext cx="11064240" cy="384048"/>
          </a:xfrm>
          <a:prstGeom prst="rect">
            <a:avLst/>
          </a:prstGeom>
          <a:noFill/>
        </p:spPr>
        <p:txBody>
          <a:bodyPr wrap="square" lIns="0" tIns="0" rIns="0" bIns="0" anchor="t">
            <a:spAutoFit/>
          </a:bodyPr>
          <a:lstStyle/>
          <a:p>
            <a:pPr algn="l">
              <a:spcAft>
                <a:spcPts val="0"/>
              </a:spcAft>
            </a:pPr>
            <a:r>
              <a:rPr sz="1400" b="0" i="0">
                <a:solidFill>
                  <a:srgbClr val="707070"/>
                </a:solidFill>
                <a:latin typeface="Calibri" panose="020F0502020204030204"/>
              </a:rPr>
              <a:t>The same parts, in a form ROS 2 can use</a:t>
            </a:r>
            <a:endParaRPr sz="1400" b="0" i="0">
              <a:solidFill>
                <a:srgbClr val="707070"/>
              </a:solidFill>
              <a:latin typeface="Calibri" panose="020F0502020204030204"/>
            </a:endParaRPr>
          </a:p>
        </p:txBody>
      </p:sp>
      <p:pic>
        <p:nvPicPr>
          <p:cNvPr id="4" name="Picture 3" descr="image6.png"/>
          <p:cNvPicPr>
            <a:picLocks noChangeAspect="1"/>
          </p:cNvPicPr>
          <p:nvPr/>
        </p:nvPicPr>
        <p:blipFill>
          <a:blip r:embed="rId1"/>
          <a:stretch>
            <a:fillRect/>
          </a:stretch>
        </p:blipFill>
        <p:spPr>
          <a:xfrm>
            <a:off x="566928" y="2050018"/>
            <a:ext cx="6675120" cy="3489483"/>
          </a:xfrm>
          <a:prstGeom prst="rect">
            <a:avLst/>
          </a:prstGeom>
        </p:spPr>
      </p:pic>
      <p:sp>
        <p:nvSpPr>
          <p:cNvPr id="5" name="TextBox 4"/>
          <p:cNvSpPr txBox="1"/>
          <p:nvPr/>
        </p:nvSpPr>
        <p:spPr>
          <a:xfrm>
            <a:off x="566928" y="5870448"/>
            <a:ext cx="6675120" cy="320040"/>
          </a:xfrm>
          <a:prstGeom prst="rect">
            <a:avLst/>
          </a:prstGeom>
          <a:noFill/>
        </p:spPr>
        <p:txBody>
          <a:bodyPr wrap="square" lIns="0" tIns="0" rIns="0" bIns="0" anchor="t">
            <a:spAutoFit/>
          </a:bodyPr>
          <a:lstStyle/>
          <a:p>
            <a:pPr algn="ctr">
              <a:spcAft>
                <a:spcPts val="0"/>
              </a:spcAft>
            </a:pPr>
            <a:r>
              <a:rPr sz="1150" b="0" i="1">
                <a:solidFill>
                  <a:srgbClr val="707070"/>
                </a:solidFill>
                <a:latin typeface="Calibri" panose="020F0502020204030204"/>
              </a:rPr>
              <a:t>RViz, the assembled model with all 18 joints</a:t>
            </a:r>
            <a:endParaRPr sz="1150" b="0" i="1">
              <a:solidFill>
                <a:srgbClr val="707070"/>
              </a:solidFill>
              <a:latin typeface="Calibri" panose="020F0502020204030204"/>
            </a:endParaRPr>
          </a:p>
        </p:txBody>
      </p:sp>
      <p:sp>
        <p:nvSpPr>
          <p:cNvPr id="6" name="TextBox 5"/>
          <p:cNvSpPr txBox="1"/>
          <p:nvPr/>
        </p:nvSpPr>
        <p:spPr>
          <a:xfrm>
            <a:off x="7589520" y="1920240"/>
            <a:ext cx="4023360" cy="3840480"/>
          </a:xfrm>
          <a:prstGeom prst="rect">
            <a:avLst/>
          </a:prstGeom>
          <a:noFill/>
        </p:spPr>
        <p:txBody>
          <a:bodyPr wrap="square" lIns="0" tIns="0" rIns="0" bIns="0" anchor="t">
            <a:spAutoFit/>
          </a:bodyPr>
          <a:lstStyle/>
          <a:p>
            <a:pPr algn="l">
              <a:spcAft>
                <a:spcPts val="1200"/>
              </a:spcAft>
            </a:pPr>
            <a:r>
              <a:rPr sz="1600" b="1" i="0">
                <a:solidFill>
                  <a:srgbClr val="C45A11"/>
                </a:solidFill>
                <a:latin typeface="Cambria" panose="02040503050406030204"/>
              </a:rPr>
              <a:t>What the model carries</a:t>
            </a:r>
            <a:endParaRPr sz="1600" b="1" i="0">
              <a:solidFill>
                <a:srgbClr val="C45A11"/>
              </a:solidFill>
              <a:latin typeface="Cambria" panose="02040503050406030204"/>
            </a:endParaRPr>
          </a:p>
          <a:p>
            <a:pPr>
              <a:spcAft>
                <a:spcPts val="900"/>
              </a:spcAft>
            </a:pPr>
            <a:r>
              <a:rPr sz="1400" b="0" i="0">
                <a:solidFill>
                  <a:srgbClr val="2B2B2B"/>
                </a:solidFill>
                <a:latin typeface="Calibri" panose="020F0502020204030204"/>
              </a:rPr>
              <a:t>•  Shape of every part, from the CAD meshes</a:t>
            </a:r>
            <a:endParaRPr sz="1400" b="0" i="0">
              <a:solidFill>
                <a:srgbClr val="2B2B2B"/>
              </a:solidFill>
              <a:latin typeface="Calibri" panose="020F0502020204030204"/>
            </a:endParaRPr>
          </a:p>
          <a:p>
            <a:pPr>
              <a:spcAft>
                <a:spcPts val="900"/>
              </a:spcAft>
            </a:pPr>
            <a:r>
              <a:rPr sz="1400" b="0" i="0">
                <a:solidFill>
                  <a:srgbClr val="2B2B2B"/>
                </a:solidFill>
                <a:latin typeface="Calibri" panose="020F0502020204030204"/>
              </a:rPr>
              <a:t>•  Position and axis of all 18 joints</a:t>
            </a:r>
            <a:endParaRPr sz="1400" b="0" i="0">
              <a:solidFill>
                <a:srgbClr val="2B2B2B"/>
              </a:solidFill>
              <a:latin typeface="Calibri" panose="020F0502020204030204"/>
            </a:endParaRPr>
          </a:p>
          <a:p>
            <a:pPr>
              <a:spcAft>
                <a:spcPts val="900"/>
              </a:spcAft>
            </a:pPr>
            <a:r>
              <a:rPr sz="1400" b="0" i="0">
                <a:solidFill>
                  <a:srgbClr val="2B2B2B"/>
                </a:solidFill>
                <a:latin typeface="Calibri" panose="020F0502020204030204"/>
              </a:rPr>
              <a:t>•  Mass and inertia of each link</a:t>
            </a:r>
            <a:endParaRPr sz="1400" b="0" i="0">
              <a:solidFill>
                <a:srgbClr val="2B2B2B"/>
              </a:solidFill>
              <a:latin typeface="Calibri" panose="020F0502020204030204"/>
            </a:endParaRPr>
          </a:p>
          <a:p>
            <a:pPr>
              <a:spcAft>
                <a:spcPts val="900"/>
              </a:spcAft>
            </a:pPr>
            <a:r>
              <a:rPr sz="1400" b="0" i="0">
                <a:solidFill>
                  <a:srgbClr val="2B2B2B"/>
                </a:solidFill>
                <a:latin typeface="Calibri" panose="020F0502020204030204"/>
              </a:rPr>
              <a:t>•  Joint limits, friction and damping</a:t>
            </a:r>
            <a:endParaRPr sz="1400" b="0" i="0">
              <a:solidFill>
                <a:srgbClr val="2B2B2B"/>
              </a:solidFill>
              <a:latin typeface="Calibri" panose="020F0502020204030204"/>
            </a:endParaRPr>
          </a:p>
          <a:p>
            <a:pPr>
              <a:spcAft>
                <a:spcPts val="0"/>
              </a:spcAft>
            </a:pPr>
            <a:r>
              <a:rPr sz="1300" b="0" i="0">
                <a:solidFill>
                  <a:srgbClr val="707070"/>
                </a:solidFill>
                <a:latin typeface="Calibri" panose="020F0502020204030204"/>
              </a:rPr>
              <a:t>Appearance uses the meshes. Contact and inertia use boxes and cylinders, which is far faster and, for the chassis, actually more correct.</a:t>
            </a:r>
            <a:endParaRPr sz="1300" b="0" i="0">
              <a:solidFill>
                <a:srgbClr val="707070"/>
              </a:solidFill>
              <a:latin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Gazebo simulation</a:t>
            </a:r>
            <a:endParaRPr sz="3100" b="1" i="0">
              <a:solidFill>
                <a:srgbClr val="2B2B2B"/>
              </a:solidFill>
              <a:latin typeface="Cambria" panose="02040503050406030204"/>
            </a:endParaRPr>
          </a:p>
        </p:txBody>
      </p:sp>
      <p:sp>
        <p:nvSpPr>
          <p:cNvPr id="3" name="TextBox 2"/>
          <p:cNvSpPr txBox="1"/>
          <p:nvPr/>
        </p:nvSpPr>
        <p:spPr>
          <a:xfrm>
            <a:off x="566928" y="1225296"/>
            <a:ext cx="11064240" cy="384048"/>
          </a:xfrm>
          <a:prstGeom prst="rect">
            <a:avLst/>
          </a:prstGeom>
          <a:noFill/>
        </p:spPr>
        <p:txBody>
          <a:bodyPr wrap="square" lIns="0" tIns="0" rIns="0" bIns="0" anchor="t">
            <a:spAutoFit/>
          </a:bodyPr>
          <a:lstStyle/>
          <a:p>
            <a:pPr algn="l">
              <a:spcAft>
                <a:spcPts val="0"/>
              </a:spcAft>
            </a:pPr>
            <a:r>
              <a:rPr sz="1400" b="0" i="0">
                <a:solidFill>
                  <a:srgbClr val="707070"/>
                </a:solidFill>
                <a:latin typeface="Calibri" panose="020F0502020204030204"/>
              </a:rPr>
              <a:t>The robot standing and walking under gravity and friction</a:t>
            </a:r>
            <a:endParaRPr sz="1400" b="0" i="0">
              <a:solidFill>
                <a:srgbClr val="707070"/>
              </a:solidFill>
              <a:latin typeface="Calibri" panose="020F0502020204030204"/>
            </a:endParaRPr>
          </a:p>
        </p:txBody>
      </p:sp>
      <p:pic>
        <p:nvPicPr>
          <p:cNvPr id="4" name="Picture 3" descr="image5.png"/>
          <p:cNvPicPr>
            <a:picLocks noChangeAspect="1"/>
          </p:cNvPicPr>
          <p:nvPr/>
        </p:nvPicPr>
        <p:blipFill>
          <a:blip r:embed="rId1"/>
          <a:stretch>
            <a:fillRect/>
          </a:stretch>
        </p:blipFill>
        <p:spPr>
          <a:xfrm>
            <a:off x="1489867" y="1737359"/>
            <a:ext cx="3640520" cy="3291840"/>
          </a:xfrm>
          <a:prstGeom prst="rect">
            <a:avLst/>
          </a:prstGeom>
        </p:spPr>
      </p:pic>
      <p:sp>
        <p:nvSpPr>
          <p:cNvPr id="5" name="TextBox 4"/>
          <p:cNvSpPr txBox="1"/>
          <p:nvPr/>
        </p:nvSpPr>
        <p:spPr>
          <a:xfrm>
            <a:off x="566928" y="5093208"/>
            <a:ext cx="5486400" cy="320040"/>
          </a:xfrm>
          <a:prstGeom prst="rect">
            <a:avLst/>
          </a:prstGeom>
          <a:noFill/>
        </p:spPr>
        <p:txBody>
          <a:bodyPr wrap="square" lIns="0" tIns="0" rIns="0" bIns="0" anchor="t">
            <a:spAutoFit/>
          </a:bodyPr>
          <a:lstStyle/>
          <a:p>
            <a:pPr algn="ctr">
              <a:spcAft>
                <a:spcPts val="0"/>
              </a:spcAft>
            </a:pPr>
            <a:r>
              <a:rPr sz="1150" b="0" i="1">
                <a:solidFill>
                  <a:srgbClr val="707070"/>
                </a:solidFill>
                <a:latin typeface="Calibri" panose="020F0502020204030204"/>
              </a:rPr>
              <a:t>Standing in the world</a:t>
            </a:r>
            <a:endParaRPr sz="1150" b="0" i="1">
              <a:solidFill>
                <a:srgbClr val="707070"/>
              </a:solidFill>
              <a:latin typeface="Calibri" panose="020F0502020204030204"/>
            </a:endParaRPr>
          </a:p>
        </p:txBody>
      </p:sp>
      <p:pic>
        <p:nvPicPr>
          <p:cNvPr id="6" name="Picture 5" descr="image8.png"/>
          <p:cNvPicPr>
            <a:picLocks noChangeAspect="1"/>
          </p:cNvPicPr>
          <p:nvPr/>
        </p:nvPicPr>
        <p:blipFill>
          <a:blip r:embed="rId2"/>
          <a:stretch>
            <a:fillRect/>
          </a:stretch>
        </p:blipFill>
        <p:spPr>
          <a:xfrm>
            <a:off x="6309360" y="2013039"/>
            <a:ext cx="5303520" cy="2740480"/>
          </a:xfrm>
          <a:prstGeom prst="rect">
            <a:avLst/>
          </a:prstGeom>
        </p:spPr>
      </p:pic>
      <p:sp>
        <p:nvSpPr>
          <p:cNvPr id="7" name="TextBox 6"/>
          <p:cNvSpPr txBox="1"/>
          <p:nvPr/>
        </p:nvSpPr>
        <p:spPr>
          <a:xfrm>
            <a:off x="6309360" y="5093208"/>
            <a:ext cx="5303520" cy="320040"/>
          </a:xfrm>
          <a:prstGeom prst="rect">
            <a:avLst/>
          </a:prstGeom>
          <a:noFill/>
        </p:spPr>
        <p:txBody>
          <a:bodyPr wrap="square" lIns="0" tIns="0" rIns="0" bIns="0" anchor="t">
            <a:spAutoFit/>
          </a:bodyPr>
          <a:lstStyle/>
          <a:p>
            <a:pPr algn="ctr">
              <a:spcAft>
                <a:spcPts val="0"/>
              </a:spcAft>
            </a:pPr>
            <a:r>
              <a:rPr sz="1150" b="0" i="1">
                <a:solidFill>
                  <a:srgbClr val="707070"/>
                </a:solidFill>
                <a:latin typeface="Calibri" panose="020F0502020204030204"/>
              </a:rPr>
              <a:t>Walking, distance markers for scale</a:t>
            </a:r>
            <a:endParaRPr sz="1150" b="0" i="1">
              <a:solidFill>
                <a:srgbClr val="707070"/>
              </a:solidFill>
              <a:latin typeface="Calibri" panose="020F0502020204030204"/>
            </a:endParaRPr>
          </a:p>
        </p:txBody>
      </p:sp>
      <p:sp>
        <p:nvSpPr>
          <p:cNvPr id="8" name="Rounded Rectangle 7"/>
          <p:cNvSpPr/>
          <p:nvPr/>
        </p:nvSpPr>
        <p:spPr>
          <a:xfrm>
            <a:off x="566928" y="5349240"/>
            <a:ext cx="11064240" cy="109728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559552"/>
            <a:ext cx="10424160" cy="822960"/>
          </a:xfrm>
          <a:prstGeom prst="rect">
            <a:avLst/>
          </a:prstGeom>
          <a:noFill/>
        </p:spPr>
        <p:txBody>
          <a:bodyPr wrap="square" lIns="0" tIns="0" rIns="0" bIns="0" anchor="t">
            <a:spAutoFit/>
          </a:bodyPr>
          <a:lstStyle/>
          <a:p>
            <a:pPr algn="l">
              <a:spcAft>
                <a:spcPts val="0"/>
              </a:spcAft>
            </a:pPr>
            <a:r>
              <a:rPr sz="1350" b="0" i="0">
                <a:solidFill>
                  <a:srgbClr val="2B2B2B"/>
                </a:solidFill>
                <a:latin typeface="Calibri" panose="020F0502020204030204"/>
              </a:rPr>
              <a:t>All 18 joints respond individually.  The robot holds its stance under its own weight.  The controller tracks commanded angles closely.  Three feet stay on the ground throughout the cycle.</a:t>
            </a:r>
            <a:endParaRPr sz="1350" b="0" i="0">
              <a:solidFill>
                <a:srgbClr val="2B2B2B"/>
              </a:solidFill>
              <a:latin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66928" y="384048"/>
            <a:ext cx="11064240" cy="822960"/>
          </a:xfrm>
          <a:prstGeom prst="rect">
            <a:avLst/>
          </a:prstGeom>
          <a:noFill/>
        </p:spPr>
        <p:txBody>
          <a:bodyPr wrap="square" lIns="0" tIns="0" rIns="0" bIns="0" anchor="t">
            <a:spAutoFit/>
          </a:bodyPr>
          <a:lstStyle/>
          <a:p>
            <a:pPr algn="l">
              <a:spcAft>
                <a:spcPts val="0"/>
              </a:spcAft>
            </a:pPr>
            <a:r>
              <a:rPr sz="3100" b="1" i="0">
                <a:solidFill>
                  <a:srgbClr val="2B2B2B"/>
                </a:solidFill>
                <a:latin typeface="Cambria" panose="02040503050406030204"/>
              </a:rPr>
              <a:t>Where we are</a:t>
            </a:r>
            <a:endParaRPr sz="3100" b="1" i="0">
              <a:solidFill>
                <a:srgbClr val="2B2B2B"/>
              </a:solidFill>
              <a:latin typeface="Cambria" panose="02040503050406030204"/>
            </a:endParaRPr>
          </a:p>
        </p:txBody>
      </p:sp>
      <p:sp>
        <p:nvSpPr>
          <p:cNvPr id="3" name="Rounded Rectangle 2"/>
          <p:cNvSpPr/>
          <p:nvPr/>
        </p:nvSpPr>
        <p:spPr>
          <a:xfrm>
            <a:off x="566928" y="1874519"/>
            <a:ext cx="5394960" cy="388620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94560"/>
            <a:ext cx="4709160" cy="3474720"/>
          </a:xfrm>
          <a:prstGeom prst="rect">
            <a:avLst/>
          </a:prstGeom>
          <a:noFill/>
        </p:spPr>
        <p:txBody>
          <a:bodyPr wrap="square" lIns="0" tIns="0" rIns="0" bIns="0" anchor="t">
            <a:spAutoFit/>
          </a:bodyPr>
          <a:lstStyle/>
          <a:p>
            <a:pPr algn="l">
              <a:spcAft>
                <a:spcPts val="1200"/>
              </a:spcAft>
            </a:pPr>
            <a:r>
              <a:rPr sz="1700" b="1" i="0">
                <a:solidFill>
                  <a:srgbClr val="C45A11"/>
                </a:solidFill>
                <a:latin typeface="Cambria" panose="02040503050406030204"/>
              </a:rPr>
              <a:t>Completed</a:t>
            </a:r>
            <a:endParaRPr sz="1700" b="1" i="0">
              <a:solidFill>
                <a:srgbClr val="C45A11"/>
              </a:solidFill>
              <a:latin typeface="Cambria" panose="02040503050406030204"/>
            </a:endParaRPr>
          </a:p>
          <a:p>
            <a:pPr>
              <a:spcAft>
                <a:spcPts val="800"/>
              </a:spcAft>
            </a:pPr>
            <a:r>
              <a:rPr sz="1400" b="0" i="0">
                <a:solidFill>
                  <a:srgbClr val="2B2B2B"/>
                </a:solidFill>
                <a:latin typeface="Calibri" panose="020F0502020204030204"/>
              </a:rPr>
              <a:t>•  All parts modelled in AutoCAD</a:t>
            </a:r>
            <a:endParaRPr sz="1400" b="0" i="0">
              <a:solidFill>
                <a:srgbClr val="2B2B2B"/>
              </a:solidFill>
              <a:latin typeface="Calibri" panose="020F0502020204030204"/>
            </a:endParaRPr>
          </a:p>
          <a:p>
            <a:pPr>
              <a:spcAft>
                <a:spcPts val="800"/>
              </a:spcAft>
            </a:pPr>
            <a:r>
              <a:rPr sz="1400" b="0" i="0">
                <a:solidFill>
                  <a:srgbClr val="2B2B2B"/>
                </a:solidFill>
                <a:latin typeface="Calibri" panose="020F0502020204030204"/>
              </a:rPr>
              <a:t>•  Structural analysis in ANSYS</a:t>
            </a:r>
            <a:endParaRPr sz="1400" b="0" i="0">
              <a:solidFill>
                <a:srgbClr val="2B2B2B"/>
              </a:solidFill>
              <a:latin typeface="Calibri" panose="020F0502020204030204"/>
            </a:endParaRPr>
          </a:p>
          <a:p>
            <a:pPr>
              <a:spcAft>
                <a:spcPts val="800"/>
              </a:spcAft>
            </a:pPr>
            <a:r>
              <a:rPr sz="1400" b="0" i="0">
                <a:solidFill>
                  <a:srgbClr val="2B2B2B"/>
                </a:solidFill>
                <a:latin typeface="Calibri" panose="020F0502020204030204"/>
              </a:rPr>
              <a:t>•  Foot trajectory studied in MATLAB</a:t>
            </a:r>
            <a:endParaRPr sz="1400" b="0" i="0">
              <a:solidFill>
                <a:srgbClr val="2B2B2B"/>
              </a:solidFill>
              <a:latin typeface="Calibri" panose="020F0502020204030204"/>
            </a:endParaRPr>
          </a:p>
          <a:p>
            <a:pPr>
              <a:spcAft>
                <a:spcPts val="800"/>
              </a:spcAft>
            </a:pPr>
            <a:r>
              <a:rPr sz="1400" b="0" i="0">
                <a:solidFill>
                  <a:srgbClr val="2B2B2B"/>
                </a:solidFill>
                <a:latin typeface="Calibri" panose="020F0502020204030204"/>
              </a:rPr>
              <a:t>•  Closed form kinematics, verified numerically</a:t>
            </a:r>
            <a:endParaRPr sz="1400" b="0" i="0">
              <a:solidFill>
                <a:srgbClr val="2B2B2B"/>
              </a:solidFill>
              <a:latin typeface="Calibri" panose="020F0502020204030204"/>
            </a:endParaRPr>
          </a:p>
          <a:p>
            <a:pPr>
              <a:spcAft>
                <a:spcPts val="800"/>
              </a:spcAft>
            </a:pPr>
            <a:r>
              <a:rPr sz="1400" b="0" i="0">
                <a:solidFill>
                  <a:srgbClr val="2B2B2B"/>
                </a:solidFill>
                <a:latin typeface="Calibri" panose="020F0502020204030204"/>
              </a:rPr>
              <a:t>•  Tripod gait, verified by 498 checks</a:t>
            </a:r>
            <a:endParaRPr sz="1400" b="0" i="0">
              <a:solidFill>
                <a:srgbClr val="2B2B2B"/>
              </a:solidFill>
              <a:latin typeface="Calibri" panose="020F0502020204030204"/>
            </a:endParaRPr>
          </a:p>
          <a:p>
            <a:pPr>
              <a:spcAft>
                <a:spcPts val="800"/>
              </a:spcAft>
            </a:pPr>
            <a:r>
              <a:rPr sz="1400" b="0" i="0">
                <a:solidFill>
                  <a:srgbClr val="2B2B2B"/>
                </a:solidFill>
                <a:latin typeface="Calibri" panose="020F0502020204030204"/>
              </a:rPr>
              <a:t>•  Full ROS 2 and Gazebo simulation</a:t>
            </a:r>
            <a:endParaRPr sz="1400" b="0" i="0">
              <a:solidFill>
                <a:srgbClr val="2B2B2B"/>
              </a:solidFill>
              <a:latin typeface="Calibri" panose="020F0502020204030204"/>
            </a:endParaRPr>
          </a:p>
          <a:p>
            <a:pPr>
              <a:spcAft>
                <a:spcPts val="800"/>
              </a:spcAft>
            </a:pPr>
            <a:r>
              <a:rPr sz="1400" b="0" i="0">
                <a:solidFill>
                  <a:srgbClr val="2B2B2B"/>
                </a:solidFill>
                <a:latin typeface="Calibri" panose="020F0502020204030204"/>
              </a:rPr>
              <a:t>•  Robot walks under our control</a:t>
            </a:r>
            <a:endParaRPr sz="1400" b="0" i="0">
              <a:solidFill>
                <a:srgbClr val="2B2B2B"/>
              </a:solidFill>
              <a:latin typeface="Calibri" panose="020F0502020204030204"/>
            </a:endParaRPr>
          </a:p>
        </p:txBody>
      </p:sp>
      <p:sp>
        <p:nvSpPr>
          <p:cNvPr id="5" name="Rounded Rectangle 4"/>
          <p:cNvSpPr/>
          <p:nvPr/>
        </p:nvSpPr>
        <p:spPr>
          <a:xfrm>
            <a:off x="6263640" y="1874519"/>
            <a:ext cx="5349240" cy="388620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11112" y="2194560"/>
            <a:ext cx="4663440" cy="3474720"/>
          </a:xfrm>
          <a:prstGeom prst="rect">
            <a:avLst/>
          </a:prstGeom>
          <a:noFill/>
        </p:spPr>
        <p:txBody>
          <a:bodyPr wrap="square" lIns="0" tIns="0" rIns="0" bIns="0" anchor="t">
            <a:spAutoFit/>
          </a:bodyPr>
          <a:lstStyle/>
          <a:p>
            <a:pPr algn="l">
              <a:spcAft>
                <a:spcPts val="1200"/>
              </a:spcAft>
            </a:pPr>
            <a:r>
              <a:rPr sz="1700" b="1" i="0">
                <a:solidFill>
                  <a:srgbClr val="C45A11"/>
                </a:solidFill>
                <a:latin typeface="Cambria" panose="02040503050406030204"/>
              </a:rPr>
              <a:t>Next phase</a:t>
            </a:r>
            <a:endParaRPr sz="1700" b="1" i="0">
              <a:solidFill>
                <a:srgbClr val="C45A11"/>
              </a:solidFill>
              <a:latin typeface="Cambria" panose="02040503050406030204"/>
            </a:endParaRPr>
          </a:p>
          <a:p>
            <a:pPr>
              <a:spcAft>
                <a:spcPts val="800"/>
              </a:spcAft>
            </a:pPr>
            <a:r>
              <a:rPr sz="1400" b="0" i="0">
                <a:solidFill>
                  <a:srgbClr val="2B2B2B"/>
                </a:solidFill>
                <a:latin typeface="Calibri" panose="020F0502020204030204"/>
              </a:rPr>
              <a:t>•  Walking under the full dynamic simulation</a:t>
            </a:r>
            <a:endParaRPr sz="1400" b="0" i="0">
              <a:solidFill>
                <a:srgbClr val="2B2B2B"/>
              </a:solidFill>
              <a:latin typeface="Calibri" panose="020F0502020204030204"/>
            </a:endParaRPr>
          </a:p>
          <a:p>
            <a:pPr>
              <a:spcAft>
                <a:spcPts val="800"/>
              </a:spcAft>
            </a:pPr>
            <a:r>
              <a:rPr sz="1400" b="0" i="0">
                <a:solidFill>
                  <a:srgbClr val="2B2B2B"/>
                </a:solidFill>
                <a:latin typeface="Calibri" panose="020F0502020204030204"/>
              </a:rPr>
              <a:t>•  Tuning the joint controllers</a:t>
            </a:r>
            <a:endParaRPr sz="1400" b="0" i="0">
              <a:solidFill>
                <a:srgbClr val="2B2B2B"/>
              </a:solidFill>
              <a:latin typeface="Calibri" panose="020F0502020204030204"/>
            </a:endParaRPr>
          </a:p>
          <a:p>
            <a:pPr>
              <a:spcAft>
                <a:spcPts val="800"/>
              </a:spcAft>
            </a:pPr>
            <a:r>
              <a:rPr sz="1400" b="0" i="0">
                <a:solidFill>
                  <a:srgbClr val="2B2B2B"/>
                </a:solidFill>
                <a:latin typeface="Calibri" panose="020F0502020204030204"/>
              </a:rPr>
              <a:t>•  Foot contact sensors to measure slip directly</a:t>
            </a:r>
            <a:endParaRPr sz="1400" b="0" i="0">
              <a:solidFill>
                <a:srgbClr val="2B2B2B"/>
              </a:solidFill>
              <a:latin typeface="Calibri" panose="020F0502020204030204"/>
            </a:endParaRPr>
          </a:p>
          <a:p>
            <a:pPr>
              <a:spcAft>
                <a:spcPts val="800"/>
              </a:spcAft>
            </a:pPr>
            <a:r>
              <a:rPr sz="1400" b="0" i="0">
                <a:solidFill>
                  <a:srgbClr val="2B2B2B"/>
                </a:solidFill>
                <a:latin typeface="Calibri" panose="020F0502020204030204"/>
              </a:rPr>
              <a:t>•  Writing the servo driver</a:t>
            </a:r>
            <a:endParaRPr sz="1400" b="0" i="0">
              <a:solidFill>
                <a:srgbClr val="2B2B2B"/>
              </a:solidFill>
              <a:latin typeface="Calibri" panose="020F0502020204030204"/>
            </a:endParaRPr>
          </a:p>
          <a:p>
            <a:pPr>
              <a:spcAft>
                <a:spcPts val="800"/>
              </a:spcAft>
            </a:pPr>
            <a:r>
              <a:rPr sz="1400" b="0" i="0">
                <a:solidFill>
                  <a:srgbClr val="2B2B2B"/>
                </a:solidFill>
                <a:latin typeface="Calibri" panose="020F0502020204030204"/>
              </a:rPr>
              <a:t>•  Assembling the physical robot</a:t>
            </a:r>
            <a:endParaRPr sz="1400" b="0" i="0">
              <a:solidFill>
                <a:srgbClr val="2B2B2B"/>
              </a:solidFill>
              <a:latin typeface="Calibri" panose="020F0502020204030204"/>
            </a:endParaRPr>
          </a:p>
          <a:p>
            <a:pPr>
              <a:spcAft>
                <a:spcPts val="800"/>
              </a:spcAft>
            </a:pPr>
            <a:r>
              <a:rPr sz="1400" b="0" i="0">
                <a:solidFill>
                  <a:srgbClr val="2B2B2B"/>
                </a:solidFill>
                <a:latin typeface="Calibri" panose="020F0502020204030204"/>
              </a:rPr>
              <a:t>•  Mapping and navigation</a:t>
            </a:r>
            <a:endParaRPr sz="1400" b="0" i="0">
              <a:solidFill>
                <a:srgbClr val="2B2B2B"/>
              </a:solidFill>
              <a:latin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3383D"/>
        </a:solidFill>
        <a:effectLst/>
      </p:bgPr>
    </p:bg>
    <p:spTree>
      <p:nvGrpSpPr>
        <p:cNvPr id="1" name=""/>
        <p:cNvGrpSpPr/>
        <p:nvPr/>
      </p:nvGrpSpPr>
      <p:grpSpPr/>
      <p:sp>
        <p:nvSpPr>
          <p:cNvPr id="2" name="TextBox 1"/>
          <p:cNvSpPr txBox="1"/>
          <p:nvPr/>
        </p:nvSpPr>
        <p:spPr>
          <a:xfrm>
            <a:off x="914400" y="2743200"/>
            <a:ext cx="10332720" cy="914400"/>
          </a:xfrm>
          <a:prstGeom prst="rect">
            <a:avLst/>
          </a:prstGeom>
          <a:noFill/>
        </p:spPr>
        <p:txBody>
          <a:bodyPr wrap="square" lIns="0" tIns="0" rIns="0" bIns="0" anchor="t">
            <a:spAutoFit/>
          </a:bodyPr>
          <a:lstStyle/>
          <a:p>
            <a:pPr algn="l">
              <a:spcAft>
                <a:spcPts val="0"/>
              </a:spcAft>
            </a:pPr>
            <a:r>
              <a:rPr sz="4000" b="1" i="0">
                <a:solidFill>
                  <a:srgbClr val="FFFFFF"/>
                </a:solidFill>
                <a:latin typeface="Cambria" panose="02040503050406030204"/>
              </a:rPr>
              <a:t>Thank you</a:t>
            </a:r>
            <a:endParaRPr sz="4000" b="1" i="0">
              <a:solidFill>
                <a:srgbClr val="FFFFFF"/>
              </a:solidFill>
              <a:latin typeface="Cambria" panose="02040503050406030204"/>
            </a:endParaRPr>
          </a:p>
        </p:txBody>
      </p:sp>
      <p:sp>
        <p:nvSpPr>
          <p:cNvPr id="3" name="TextBox 2"/>
          <p:cNvSpPr txBox="1"/>
          <p:nvPr/>
        </p:nvSpPr>
        <p:spPr>
          <a:xfrm>
            <a:off x="914400" y="3749039"/>
            <a:ext cx="10332720" cy="548640"/>
          </a:xfrm>
          <a:prstGeom prst="rect">
            <a:avLst/>
          </a:prstGeom>
          <a:noFill/>
        </p:spPr>
        <p:txBody>
          <a:bodyPr wrap="square" lIns="0" tIns="0" rIns="0" bIns="0" anchor="t">
            <a:spAutoFit/>
          </a:bodyPr>
          <a:lstStyle/>
          <a:p>
            <a:pPr algn="l">
              <a:spcAft>
                <a:spcPts val="0"/>
              </a:spcAft>
            </a:pPr>
            <a:r>
              <a:rPr sz="1900" b="0" i="0">
                <a:solidFill>
                  <a:srgbClr val="E89A4F"/>
                </a:solidFill>
                <a:latin typeface="Calibri" panose="020F0502020204030204"/>
              </a:rPr>
              <a:t>Questions</a:t>
            </a:r>
            <a:endParaRPr sz="1900" b="0" i="0">
              <a:solidFill>
                <a:srgbClr val="E89A4F"/>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7289</Words>
  <Application>WPS Presentation</Application>
  <PresentationFormat>On-screen Show (4:3)</PresentationFormat>
  <Paragraphs>303</Paragraphs>
  <Slides>21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Arial</vt:lpstr>
      <vt:lpstr>SimSun</vt:lpstr>
      <vt:lpstr>Wingdings</vt:lpstr>
      <vt:lpstr>Arial</vt:lpstr>
      <vt:lpstr>Cambria</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Tangirala Rushikesh</cp:lastModifiedBy>
  <cp:revision>3</cp:revision>
  <dcterms:created xsi:type="dcterms:W3CDTF">2013-01-27T09:14:00Z</dcterms:created>
  <dcterms:modified xsi:type="dcterms:W3CDTF">2026-08-29T06:51:12Z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6600483A0BB245BB81D2EEFC3024E407_12</vt:lpwstr>
  </property>
  <property fmtid="{D5CDD505-2E9C-101B-9397-08002B2CF9AE}" pid="3" name="KSOProductBuildVer">
    <vt:lpwstr>2057-12.2.0.23206</vt:lpwstr>
  </property>
</Properties>
</file>